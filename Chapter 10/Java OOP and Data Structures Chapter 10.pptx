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18" r:id="rId2"/>
    <p:sldId id="292" r:id="rId3"/>
    <p:sldId id="387" r:id="rId4"/>
    <p:sldId id="258" r:id="rId5"/>
    <p:sldId id="369" r:id="rId6"/>
    <p:sldId id="413" r:id="rId7"/>
    <p:sldId id="414" r:id="rId8"/>
    <p:sldId id="396" r:id="rId9"/>
    <p:sldId id="415" r:id="rId10"/>
    <p:sldId id="416" r:id="rId11"/>
    <p:sldId id="417" r:id="rId12"/>
    <p:sldId id="418" r:id="rId13"/>
    <p:sldId id="419" r:id="rId14"/>
    <p:sldId id="426" r:id="rId15"/>
    <p:sldId id="427" r:id="rId16"/>
    <p:sldId id="420" r:id="rId17"/>
    <p:sldId id="421" r:id="rId18"/>
    <p:sldId id="423" r:id="rId19"/>
    <p:sldId id="424" r:id="rId20"/>
    <p:sldId id="425" r:id="rId21"/>
    <p:sldId id="3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6" autoAdjust="0"/>
    <p:restoredTop sz="94552" autoAdjust="0"/>
  </p:normalViewPr>
  <p:slideViewPr>
    <p:cSldViewPr snapToGrid="0">
      <p:cViewPr varScale="1">
        <p:scale>
          <a:sx n="67" d="100"/>
          <a:sy n="67" d="100"/>
        </p:scale>
        <p:origin x="39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CED8-506F-49AF-BE73-3D1A33480DE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4981-F5B7-436B-9962-151FBDD8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2642B-877C-E7C7-3675-E381E528B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224790"/>
            <a:ext cx="4975860" cy="6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5D94A-2E11-1A07-F482-34C78E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9BEE-D294-2EA5-D0F5-60C09B090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Java OOP and Data Structures with Introduction to Secure Coding</a:t>
            </a:r>
            <a:br>
              <a:rPr lang="en-US" sz="3100" dirty="0">
                <a:solidFill>
                  <a:schemeClr val="tx2"/>
                </a:solidFill>
              </a:rPr>
            </a:br>
            <a:r>
              <a:rPr lang="en-US" sz="3100" dirty="0">
                <a:solidFill>
                  <a:schemeClr val="tx2"/>
                </a:solidFill>
              </a:rPr>
              <a:t>Dr. Ziping Liu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16C7C-AFDA-B667-C485-59B533AE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4" b="5714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50E9AA5-3AB6-7CA8-2E88-05185371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10 Nested Types: Inner and Anonymous Classes</a:t>
            </a:r>
          </a:p>
        </p:txBody>
      </p:sp>
    </p:spTree>
    <p:extLst>
      <p:ext uri="{BB962C8B-B14F-4D97-AF65-F5344CB8AC3E}">
        <p14:creationId xmlns:p14="http://schemas.microsoft.com/office/powerpoint/2010/main" val="39760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C191F-D105-8A4A-578D-5B3F197F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A6B14A-92E1-15D5-0859-4CF0D14C7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C526B-38F2-0A10-9DE0-F5C4856C4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https://he.kendallhunt.com/product/java-oop-and-data-structures-introduction-secure-coding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13444-0372-8378-2CD4-5DA819DC3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4" b="5714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5715C489-B5E2-5428-43B1-349FE9574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059834-0800-EFC9-8D5D-F7CA9BF31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B83BF-2BE4-4621-3FBA-37CD860D2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A2168C-5D43-2BCD-63EF-A324DC2C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B878EF-70FC-3351-24CA-EAB8E5C82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3052117-AA4F-821C-428C-6BA9B0EB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10 Nested Types: Inner and Anonymous Classes</a:t>
            </a:r>
          </a:p>
        </p:txBody>
      </p:sp>
    </p:spTree>
    <p:extLst>
      <p:ext uri="{BB962C8B-B14F-4D97-AF65-F5344CB8AC3E}">
        <p14:creationId xmlns:p14="http://schemas.microsoft.com/office/powerpoint/2010/main" val="15895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57" y="5891173"/>
            <a:ext cx="10579443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54027"/>
              </p:ext>
            </p:extLst>
          </p:nvPr>
        </p:nvGraphicFramePr>
        <p:xfrm>
          <a:off x="838200" y="1825625"/>
          <a:ext cx="10515600" cy="3609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838200" y="1622855"/>
            <a:ext cx="104269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Defining and using nested classes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Defining and using local classes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Defining and using anonymous classes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Creating and applying lambda expressions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Leveraging the observer design pattern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F1F3-FBC1-EA99-D072-BAE6AC08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67AC-E16E-B398-6F3D-E57A5E17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10.1 Nested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03D6-0F71-131F-8148-FFF9AC7A0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7947" y="1689977"/>
            <a:ext cx="2546269" cy="402653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Aggregation, inheritance, and realization are “linear” relationships between two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C033C-58CF-4D11-E9CE-11BA26E73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has-a relationship between Person and Outfit classes&#10;is-a relationship between Animal and Pet/Wildlife classes&#10;is-a relationship between Cloneable/Comparable interface and House class">
            <a:extLst>
              <a:ext uri="{FF2B5EF4-FFF2-40B4-BE49-F238E27FC236}">
                <a16:creationId xmlns:a16="http://schemas.microsoft.com/office/drawing/2014/main" id="{9DDB83FF-8B43-BF96-818B-04DC911B7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89" y="1513015"/>
            <a:ext cx="5530969" cy="438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7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38E7-18BB-2EB4-462C-68FFD866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ACAA-65C9-3A3E-0C73-249BE55A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10.1 Nested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C020-FEDA-32D3-7180-A7FC8A50D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0107" y="1903337"/>
            <a:ext cx="3087813" cy="276010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nested classes follow a nested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3E077-2195-7AF5-9C7C-6D4F2F3E6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Picture 6" descr="relationship between outerclass and nested class">
            <a:extLst>
              <a:ext uri="{FF2B5EF4-FFF2-40B4-BE49-F238E27FC236}">
                <a16:creationId xmlns:a16="http://schemas.microsoft.com/office/drawing/2014/main" id="{38BDA2B3-4F8A-EE68-C7E9-ACA2F1CF2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816" y="1689977"/>
            <a:ext cx="4950009" cy="344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74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9321A-9144-F347-81FD-717E5DE5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28E4-5ECA-AF67-203E-58640C33D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10.1 Nested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637596-FABA-AD7A-34D2-20FED41B7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Syntax to define a nested class">
            <a:extLst>
              <a:ext uri="{FF2B5EF4-FFF2-40B4-BE49-F238E27FC236}">
                <a16:creationId xmlns:a16="http://schemas.microsoft.com/office/drawing/2014/main" id="{C8A07368-1AA9-1C0F-5306-0D16736B0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1825833"/>
            <a:ext cx="6619240" cy="259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3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2F2C2-B325-3276-526E-E9278F46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0E60-6180-7A22-58BF-B5F9E811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10.1 Nested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B0C7-F0AE-E769-C285-A4642BDA7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is a Nested Class?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full name of the nested class is </a:t>
            </a:r>
            <a:r>
              <a:rPr lang="en-US" dirty="0" err="1"/>
              <a:t>OuterClass.NestedClass</a:t>
            </a:r>
            <a:r>
              <a:rPr lang="en-US" dirty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two major types: non-static or static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Non-static nested classes are referred to as “inner classes.”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must be associated with (i.e. created by using) an instance of the outer class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can access all the outer class’s fields and methods, even if they are private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The outer class can also access all the inner class’s fields and methods, including private ones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cannot define any static members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static nested classes: the static keyword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can only access static members of the outer class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belong to the entire outer class type (rather than one instance of the outer class)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may define static members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1D7AF1-3777-05AE-C31A-A151F010A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94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6286-5E84-2657-F9CF-F3486606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5297-B2D6-92B3-12E2-6271AADB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10.1 Nested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9E89A-128B-8FED-9EA6-863C31BFC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What is a Nested Class?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B22BB2-8025-1439-115E-673A0F9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What is a nested class: one class defined inside another">
            <a:extLst>
              <a:ext uri="{FF2B5EF4-FFF2-40B4-BE49-F238E27FC236}">
                <a16:creationId xmlns:a16="http://schemas.microsoft.com/office/drawing/2014/main" id="{75B61085-A637-82B5-9DA5-E660FF771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55" y="2344863"/>
            <a:ext cx="7779901" cy="228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34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D24B-D2BD-1E8E-5FB1-C046DAED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B31A-DE03-A31F-6A47-C012C9FB6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10.1 Nested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6558A-5075-E034-884E-7BCEEE501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What is a Nested Class?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5447D-4178-D038-F914-3C1071232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Picture 6" descr="Inner class vs static nested class">
            <a:extLst>
              <a:ext uri="{FF2B5EF4-FFF2-40B4-BE49-F238E27FC236}">
                <a16:creationId xmlns:a16="http://schemas.microsoft.com/office/drawing/2014/main" id="{A262A7C9-07CA-AA10-25DA-63484DE45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62" y="2344863"/>
            <a:ext cx="7962554" cy="331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3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3715F-3BD6-9D01-7A52-CCBDB25C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D0C6-524A-7493-934F-D0CE9CB5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10.2 Local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F0E84-75AE-7D6A-6469-CF4DB2912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define classes within another block, creating a local class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59091-AAD9-548F-93CD-E9DB4297F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Picture 7" descr="local class definition">
            <a:extLst>
              <a:ext uri="{FF2B5EF4-FFF2-40B4-BE49-F238E27FC236}">
                <a16:creationId xmlns:a16="http://schemas.microsoft.com/office/drawing/2014/main" id="{F4A6E6E1-E1B6-A801-72FE-EF46F44B0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2" y="2421072"/>
            <a:ext cx="5496469" cy="175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4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2B323-E6BF-FD89-87DA-22D040C7A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7824-3BA9-5B55-C40B-05510849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10.2 Local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4E51F-0B40-39DF-BA97-57E820EF0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is a Local Class?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special type of (non-static) inner class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belong to an instance of the outer class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cannot define any static members, except static constants (i.e. static final &lt;type&gt;)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 to create a local class within a static method/block, and that local class—nested within a static block—would only be access static members of the outer class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Doesn’t allow the entire local class to be static, such as static class </a:t>
            </a:r>
            <a:r>
              <a:rPr lang="en-US" dirty="0" err="1"/>
              <a:t>LocalClass</a:t>
            </a:r>
            <a:r>
              <a:rPr lang="en-US" dirty="0"/>
              <a:t> { . . . }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define a private static class instead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21AE18-5541-0E0B-6980-82A992A9D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30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D04FA-7949-7207-7868-F9506D8B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05C8-30AE-4EA9-5282-9B92351F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10.2 Local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1292A-06FC-F9A5-4FF5-1D2B60519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What is a Local Class?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“Local interfaces” are not allowed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local class is only valid within the scope of its enclosing block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86B36-CF37-16DB-BAFE-AF16BAC3F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local class is defined inside a block">
            <a:extLst>
              <a:ext uri="{FF2B5EF4-FFF2-40B4-BE49-F238E27FC236}">
                <a16:creationId xmlns:a16="http://schemas.microsoft.com/office/drawing/2014/main" id="{5A551F7D-C320-9365-397A-CEAF00F2A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403" y="3085611"/>
            <a:ext cx="6812397" cy="267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84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F311A-FB21-3482-29D9-84D8F9B44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" y="0"/>
            <a:ext cx="1217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77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A50F-7C7F-FF66-19CF-8FBCE1DC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4917E-AECC-A73A-59FE-7733EDD3A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3" y="0"/>
            <a:ext cx="1217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7C6E1-68D9-E4E0-84CA-A0CAA8EB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6215-5C39-AAA2-A2FB-0362CCB5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10.3 Anonymous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FFBDD-6B0A-5919-78E5-3B3FD6A45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unnamed local classes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A178A-30AA-689A-B605-C3A6B9440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Picture 6" descr="anonymous class definition: a class without a name">
            <a:extLst>
              <a:ext uri="{FF2B5EF4-FFF2-40B4-BE49-F238E27FC236}">
                <a16:creationId xmlns:a16="http://schemas.microsoft.com/office/drawing/2014/main" id="{D522931C-08AE-5331-3881-6399BA072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67" y="2373520"/>
            <a:ext cx="7386609" cy="202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67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E6AEF-8015-6DB4-EDD2-BE8B239F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FDFD-871E-3DFA-243E-8DBB44FD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10.3 Anonymous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98965-91E0-F2C9-7AE3-1179D93DD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What is an Anonymous Class?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anonymous class is defined and instantiated at the same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Unlike a local class, which is declared according to the normal class headers and rules, an anonymous class is part of an expression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3C576-8300-AD04-DE7C-D7AA986E2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Anonymous class defined without a name and instantiated inside a block">
            <a:extLst>
              <a:ext uri="{FF2B5EF4-FFF2-40B4-BE49-F238E27FC236}">
                <a16:creationId xmlns:a16="http://schemas.microsoft.com/office/drawing/2014/main" id="{09015C4B-0FA3-A93F-58B7-448015735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445" y="3429000"/>
            <a:ext cx="7778455" cy="18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31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6DDB-2708-8E1E-2855-95BE6C98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A923-60DF-2AA6-4685-914C490B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10.4 Lambda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6E7B4-5131-25D7-B6CD-89B1AC66B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5895110" cy="39517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interface with a single abstract method (SAM)—but potentially numerous default methods—is called a functional interface</a:t>
            </a:r>
          </a:p>
          <a:p>
            <a:pPr lvl="1"/>
            <a:r>
              <a:rPr lang="en-US" dirty="0"/>
              <a:t>We can create anonymous classes from a functional interface. Java provides an even more concise option: lambda expressions.</a:t>
            </a:r>
          </a:p>
          <a:p>
            <a:pPr lvl="1"/>
            <a:r>
              <a:rPr lang="en-US" dirty="0"/>
              <a:t>A lambda expression looks like a method definition, but it serves to create an instance of certain type.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192C5-A805-7D99-02D1-5383C0962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Syntax for a lambda expression: parameter list followed by arrow followed by code block">
            <a:extLst>
              <a:ext uri="{FF2B5EF4-FFF2-40B4-BE49-F238E27FC236}">
                <a16:creationId xmlns:a16="http://schemas.microsoft.com/office/drawing/2014/main" id="{B9EDA8FC-247F-032F-077C-DB8E3723E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62" y="1825626"/>
            <a:ext cx="4968703" cy="23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4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177C-9534-2C75-EBC1-17380254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FA61-8820-C6B0-718B-F72A7DE2F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10.4 Lambda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EBC52-5A5D-AD62-A66D-D39B090CB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087494"/>
          </a:xfrm>
        </p:spPr>
        <p:txBody>
          <a:bodyPr>
            <a:normAutofit/>
          </a:bodyPr>
          <a:lstStyle/>
          <a:p>
            <a:r>
              <a:rPr lang="en-US" dirty="0"/>
              <a:t>What is a Lambda Expression?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composed of three main parts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match the parameter or list of parameters in parentheses from the single abstract method of the functional interface. If the SAM takes in a single parameter, we can omit the parentheses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a right-pointing arrow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code block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A3160-A533-09CB-C7E7-6B45179C3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Picture 6" descr="lambda expression implements and instantiates an object from a functional interface">
            <a:extLst>
              <a:ext uri="{FF2B5EF4-FFF2-40B4-BE49-F238E27FC236}">
                <a16:creationId xmlns:a16="http://schemas.microsoft.com/office/drawing/2014/main" id="{300C6150-F270-D1D7-E3D1-1AAD660D9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331" y="4164736"/>
            <a:ext cx="7791042" cy="174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37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3F98-05CB-1AA8-A1D7-78AB3A17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9742-9CDC-EBA2-026B-6031241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nested relationships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DCA23-4101-C75E-57A3-EFE9E0BD3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9" name="Picture 8" descr="nested relationships summary for class, nested class, inner class, static nested class, local class, anonymous class and lambda expression">
            <a:extLst>
              <a:ext uri="{FF2B5EF4-FFF2-40B4-BE49-F238E27FC236}">
                <a16:creationId xmlns:a16="http://schemas.microsoft.com/office/drawing/2014/main" id="{B9756385-626B-4982-55F6-73258E9B1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045" y="1640598"/>
            <a:ext cx="6305526" cy="438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156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2B14-7FBD-72EA-E245-B5B83900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0D3-8972-8285-245F-AB5E9CE4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National Park is 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21490-DC67-4239-C0A3-CA69DF741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E7F74E-D8B9-181F-53C1-C7A491D7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/>
              <a:t>Answer: </a:t>
            </a:r>
            <a:r>
              <a:rPr lang="en-US"/>
              <a:t>Grand Teton National </a:t>
            </a:r>
            <a:r>
              <a:rPr lang="en-US" dirty="0"/>
              <a:t>P</a:t>
            </a:r>
            <a:r>
              <a:rPr lang="en-US"/>
              <a:t>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2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3202</TotalTime>
  <Words>585</Words>
  <Application>Microsoft Office PowerPoint</Application>
  <PresentationFormat>Widescreen</PresentationFormat>
  <Paragraphs>66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Java OOP and Data Structures with Introduction to Secure Coding Dr. Ziping Liu  </vt:lpstr>
      <vt:lpstr>https://he.kendallhunt.com/product/java-oop-and-data-structures-introduction-secure-coding  </vt:lpstr>
      <vt:lpstr>Chapter Outlines</vt:lpstr>
      <vt:lpstr>10.1 Nested Classes</vt:lpstr>
      <vt:lpstr>10.1 Nested Classes</vt:lpstr>
      <vt:lpstr>10.1 Nested Classes</vt:lpstr>
      <vt:lpstr>10.1 Nested Classes</vt:lpstr>
      <vt:lpstr>10.1 Nested Classes</vt:lpstr>
      <vt:lpstr>10.1 Nested Classes</vt:lpstr>
      <vt:lpstr>10.2 Local Classes</vt:lpstr>
      <vt:lpstr>10.2 Local Classes</vt:lpstr>
      <vt:lpstr>10.2 Local Classes</vt:lpstr>
      <vt:lpstr>PowerPoint Presentation</vt:lpstr>
      <vt:lpstr>PowerPoint Presentation</vt:lpstr>
      <vt:lpstr>10.3 Anonymous Classes</vt:lpstr>
      <vt:lpstr>10.3 Anonymous Classes</vt:lpstr>
      <vt:lpstr>10.4 Lambda Expressions</vt:lpstr>
      <vt:lpstr>10.4 Lambda Expressions</vt:lpstr>
      <vt:lpstr>Summary of nested relationships</vt:lpstr>
      <vt:lpstr>Which National Park is 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362</cp:revision>
  <dcterms:created xsi:type="dcterms:W3CDTF">2025-01-08T14:48:28Z</dcterms:created>
  <dcterms:modified xsi:type="dcterms:W3CDTF">2026-09-06T20:39:47Z</dcterms:modified>
</cp:coreProperties>
</file>