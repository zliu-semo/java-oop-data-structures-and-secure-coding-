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18" r:id="rId2"/>
    <p:sldId id="292" r:id="rId3"/>
    <p:sldId id="387" r:id="rId4"/>
    <p:sldId id="258" r:id="rId5"/>
    <p:sldId id="369" r:id="rId6"/>
    <p:sldId id="366" r:id="rId7"/>
    <p:sldId id="389" r:id="rId8"/>
    <p:sldId id="390" r:id="rId9"/>
    <p:sldId id="391" r:id="rId10"/>
    <p:sldId id="392" r:id="rId11"/>
    <p:sldId id="393" r:id="rId12"/>
    <p:sldId id="394" r:id="rId13"/>
    <p:sldId id="400" r:id="rId14"/>
    <p:sldId id="401" r:id="rId15"/>
    <p:sldId id="395" r:id="rId16"/>
    <p:sldId id="396" r:id="rId17"/>
    <p:sldId id="397" r:id="rId18"/>
    <p:sldId id="398" r:id="rId19"/>
    <p:sldId id="399" r:id="rId20"/>
    <p:sldId id="3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6" autoAdjust="0"/>
    <p:restoredTop sz="94552" autoAdjust="0"/>
  </p:normalViewPr>
  <p:slideViewPr>
    <p:cSldViewPr snapToGrid="0">
      <p:cViewPr varScale="1">
        <p:scale>
          <a:sx n="67" d="100"/>
          <a:sy n="67" d="100"/>
        </p:scale>
        <p:origin x="39"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42642B-877C-E7C7-3675-E381E528B9A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42145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5741" b="5741"/>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13 Queue </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C191F-D105-8A4A-578D-5B3F197F35A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A6B14A-92E1-15D5-0859-4CF0D14C7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C526B-38F2-0A10-9DE0-F5C4856C400F}"/>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CE13444-0372-8378-2CD4-5DA819DC30D2}"/>
              </a:ext>
            </a:extLst>
          </p:cNvPr>
          <p:cNvPicPr>
            <a:picLocks noChangeAspect="1"/>
          </p:cNvPicPr>
          <p:nvPr/>
        </p:nvPicPr>
        <p:blipFill>
          <a:blip r:embed="rId2">
            <a:extLst>
              <a:ext uri="{28A0092B-C50C-407E-A947-70E740481C1C}">
                <a14:useLocalDpi xmlns:a14="http://schemas.microsoft.com/office/drawing/2010/main" val="0"/>
              </a:ext>
            </a:extLst>
          </a:blip>
          <a:srcRect t="5741" b="5741"/>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5715C489-B5E2-5428-43B1-349FE95747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97059834-0800-EFC9-8D5D-F7CA9BF31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F9AB83BF-2BE4-4621-3FBA-37CD860D2E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A2168C-5D43-2BCD-63EF-A324DC2C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B878EF-70FC-3351-24CA-EAB8E5C82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13052117-AA4F-821C-428C-6BA9B0EB9AA1}"/>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13 Queue </a:t>
            </a:r>
          </a:p>
        </p:txBody>
      </p:sp>
    </p:spTree>
    <p:extLst>
      <p:ext uri="{BB962C8B-B14F-4D97-AF65-F5344CB8AC3E}">
        <p14:creationId xmlns:p14="http://schemas.microsoft.com/office/powerpoint/2010/main" val="15895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3046988"/>
          </a:xfrm>
          <a:prstGeom prst="rect">
            <a:avLst/>
          </a:prstGeom>
          <a:noFill/>
        </p:spPr>
        <p:txBody>
          <a:bodyPr wrap="square" rtlCol="0">
            <a:spAutoFit/>
          </a:bodyPr>
          <a:lstStyle/>
          <a:p>
            <a:pPr marL="285750" lvl="0" indent="-285750">
              <a:buFont typeface="Aptos" panose="020B0004020202020204" pitchFamily="34" charset="0"/>
              <a:buChar char="–"/>
            </a:pPr>
            <a:r>
              <a:rPr lang="en-US" sz="2400" dirty="0"/>
              <a:t>What is a queue?</a:t>
            </a:r>
          </a:p>
          <a:p>
            <a:pPr marL="285750" lvl="0" indent="-285750">
              <a:buFont typeface="Aptos" panose="020B0004020202020204" pitchFamily="34" charset="0"/>
              <a:buChar char="–"/>
            </a:pPr>
            <a:r>
              <a:rPr lang="en-US" sz="2400" dirty="0"/>
              <a:t>Implementing a capacity-bounded queue </a:t>
            </a:r>
          </a:p>
          <a:p>
            <a:pPr marL="800100" lvl="1" indent="-342900">
              <a:buFont typeface="Courier New" panose="02070309020205020404" pitchFamily="49" charset="0"/>
              <a:buChar char="o"/>
            </a:pPr>
            <a:r>
              <a:rPr lang="en-US" sz="2400" dirty="0"/>
              <a:t>using a linear array </a:t>
            </a:r>
          </a:p>
          <a:p>
            <a:pPr marL="800100" lvl="1" indent="-342900">
              <a:buFont typeface="Courier New" panose="02070309020205020404" pitchFamily="49" charset="0"/>
              <a:buChar char="o"/>
            </a:pPr>
            <a:r>
              <a:rPr lang="en-US" sz="2400" dirty="0"/>
              <a:t>using a circular array</a:t>
            </a:r>
          </a:p>
          <a:p>
            <a:pPr marL="285750" lvl="0" indent="-285750">
              <a:buFont typeface="Aptos" panose="020B0004020202020204" pitchFamily="34" charset="0"/>
              <a:buChar char="–"/>
            </a:pPr>
            <a:r>
              <a:rPr lang="en-US" sz="2400" dirty="0"/>
              <a:t>Working with queues in Java Collections</a:t>
            </a:r>
          </a:p>
          <a:p>
            <a:pPr marL="285750" lvl="0" indent="-285750">
              <a:buFont typeface="Aptos" panose="020B0004020202020204" pitchFamily="34" charset="0"/>
              <a:buChar char="–"/>
            </a:pPr>
            <a:r>
              <a:rPr lang="en-US" sz="2400" dirty="0"/>
              <a:t>A simulation of lines in check-out lanes (available on the supplemental website)</a:t>
            </a:r>
          </a:p>
          <a:p>
            <a:pPr marL="800100" lvl="1" indent="-342900">
              <a:buFont typeface="Courier New" panose="02070309020205020404" pitchFamily="49" charset="0"/>
              <a:buChar char="o"/>
            </a:pPr>
            <a:endParaRPr lang="en-US" sz="2400" dirty="0"/>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EF1F3-FBC1-EA99-D072-BAE6AC086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67AC-E16E-B398-6F3D-E57A5E1790E2}"/>
              </a:ext>
            </a:extLst>
          </p:cNvPr>
          <p:cNvSpPr>
            <a:spLocks noGrp="1"/>
          </p:cNvSpPr>
          <p:nvPr>
            <p:ph type="title"/>
          </p:nvPr>
        </p:nvSpPr>
        <p:spPr/>
        <p:txBody>
          <a:bodyPr/>
          <a:lstStyle/>
          <a:p>
            <a:r>
              <a:rPr lang="en-US" dirty="0"/>
              <a:t>13.1 What is a Queue?</a:t>
            </a:r>
          </a:p>
        </p:txBody>
      </p:sp>
      <p:sp>
        <p:nvSpPr>
          <p:cNvPr id="3" name="Content Placeholder 2">
            <a:extLst>
              <a:ext uri="{FF2B5EF4-FFF2-40B4-BE49-F238E27FC236}">
                <a16:creationId xmlns:a16="http://schemas.microsoft.com/office/drawing/2014/main" id="{6A4503D6-0F71-131F-8148-FFF9AC7A070D}"/>
              </a:ext>
            </a:extLst>
          </p:cNvPr>
          <p:cNvSpPr>
            <a:spLocks noGrp="1"/>
          </p:cNvSpPr>
          <p:nvPr>
            <p:ph idx="1"/>
          </p:nvPr>
        </p:nvSpPr>
        <p:spPr>
          <a:xfrm>
            <a:off x="838199" y="1825626"/>
            <a:ext cx="6929488" cy="4103834"/>
          </a:xfrm>
          <a:ln>
            <a:solidFill>
              <a:schemeClr val="accent1"/>
            </a:solidFill>
          </a:ln>
        </p:spPr>
        <p:txBody>
          <a:bodyPr>
            <a:normAutofit fontScale="85000" lnSpcReduction="10000"/>
          </a:bodyPr>
          <a:lstStyle/>
          <a:p>
            <a:r>
              <a:rPr lang="en-US" dirty="0"/>
              <a:t>an Abstract Data Type (ADT) that represents an ordered collection of data items </a:t>
            </a:r>
          </a:p>
          <a:p>
            <a:r>
              <a:rPr lang="en-US" dirty="0"/>
              <a:t>are accessible at both ends, the front (or “head”) and back (or “tail”). </a:t>
            </a:r>
          </a:p>
          <a:p>
            <a:r>
              <a:rPr lang="en-US" dirty="0"/>
              <a:t>maintain </a:t>
            </a:r>
            <a:r>
              <a:rPr lang="en-US" b="1" dirty="0"/>
              <a:t>FIFO</a:t>
            </a:r>
            <a:r>
              <a:rPr lang="en-US" dirty="0"/>
              <a:t> (“first in, first out”) ordering, adds items at back and removes items at front </a:t>
            </a:r>
          </a:p>
          <a:p>
            <a:pPr lvl="1">
              <a:buFont typeface="Courier New" panose="02070309020205020404" pitchFamily="49" charset="0"/>
              <a:buChar char="o"/>
            </a:pPr>
            <a:r>
              <a:rPr lang="en-US" dirty="0"/>
              <a:t>enqueue—adds an item at the back of the collection, and </a:t>
            </a:r>
          </a:p>
          <a:p>
            <a:pPr lvl="1">
              <a:buFont typeface="Courier New" panose="02070309020205020404" pitchFamily="49" charset="0"/>
              <a:buChar char="o"/>
            </a:pPr>
            <a:r>
              <a:rPr lang="en-US" dirty="0"/>
              <a:t>dequeue—removes the frontmost item from the collection if the queue is not empty</a:t>
            </a:r>
          </a:p>
          <a:p>
            <a:r>
              <a:rPr lang="en-US" dirty="0"/>
              <a:t>Applications: customer service lines, computer I/O buffers, printing tasks, CPU scheduling, </a:t>
            </a:r>
            <a:r>
              <a:rPr lang="en-US" dirty="0" err="1"/>
              <a:t>etc</a:t>
            </a:r>
            <a:endParaRPr lang="en-US" dirty="0"/>
          </a:p>
        </p:txBody>
      </p:sp>
      <p:pic>
        <p:nvPicPr>
          <p:cNvPr id="4" name="Picture 3">
            <a:extLst>
              <a:ext uri="{FF2B5EF4-FFF2-40B4-BE49-F238E27FC236}">
                <a16:creationId xmlns:a16="http://schemas.microsoft.com/office/drawing/2014/main" id="{895C033C-58CF-4D11-E9CE-11BA26E73A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Queue Abstract Data Type demonstrated with head, tail, enqueue() and Dequeue()">
            <a:extLst>
              <a:ext uri="{FF2B5EF4-FFF2-40B4-BE49-F238E27FC236}">
                <a16:creationId xmlns:a16="http://schemas.microsoft.com/office/drawing/2014/main" id="{60EB31C1-CAA9-10D5-9EF3-AD3540BA2BAB}"/>
              </a:ext>
            </a:extLst>
          </p:cNvPr>
          <p:cNvPicPr>
            <a:picLocks noChangeAspect="1"/>
          </p:cNvPicPr>
          <p:nvPr/>
        </p:nvPicPr>
        <p:blipFill>
          <a:blip r:embed="rId3"/>
          <a:stretch>
            <a:fillRect/>
          </a:stretch>
        </p:blipFill>
        <p:spPr>
          <a:xfrm>
            <a:off x="7840391" y="3033074"/>
            <a:ext cx="3547136" cy="1261610"/>
          </a:xfrm>
          <a:prstGeom prst="rect">
            <a:avLst/>
          </a:prstGeom>
        </p:spPr>
      </p:pic>
    </p:spTree>
    <p:extLst>
      <p:ext uri="{BB962C8B-B14F-4D97-AF65-F5344CB8AC3E}">
        <p14:creationId xmlns:p14="http://schemas.microsoft.com/office/powerpoint/2010/main" val="101297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72B14-7FBD-72EA-E245-B5B839001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CE0D3-8972-8285-245F-AB5E9CE42298}"/>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00921490-DC67-4239-C0A3-CA69DF741A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05E7F74E-D8B9-181F-53C1-C7A491D7817D}"/>
              </a:ext>
            </a:extLst>
          </p:cNvPr>
          <p:cNvSpPr>
            <a:spLocks noGrp="1"/>
          </p:cNvSpPr>
          <p:nvPr>
            <p:ph idx="1"/>
          </p:nvPr>
        </p:nvSpPr>
        <p:spPr>
          <a:xfrm>
            <a:off x="871927" y="1599565"/>
            <a:ext cx="10515600" cy="4351338"/>
          </a:xfrm>
        </p:spPr>
        <p:txBody>
          <a:bodyPr/>
          <a:lstStyle/>
          <a:p>
            <a:endParaRPr lang="en-US" dirty="0"/>
          </a:p>
        </p:txBody>
      </p:sp>
      <p:pic>
        <p:nvPicPr>
          <p:cNvPr id="5" name="Picture 4" descr="UML diagram for Queue class implemented using circular array concept, has head, tail and arr[] as its instance variables">
            <a:extLst>
              <a:ext uri="{FF2B5EF4-FFF2-40B4-BE49-F238E27FC236}">
                <a16:creationId xmlns:a16="http://schemas.microsoft.com/office/drawing/2014/main" id="{9F898C47-693C-7ACB-0035-B603F421E2B5}"/>
              </a:ext>
            </a:extLst>
          </p:cNvPr>
          <p:cNvPicPr>
            <a:picLocks noChangeAspect="1"/>
          </p:cNvPicPr>
          <p:nvPr/>
        </p:nvPicPr>
        <p:blipFill>
          <a:blip r:embed="rId3"/>
          <a:stretch>
            <a:fillRect/>
          </a:stretch>
        </p:blipFill>
        <p:spPr>
          <a:xfrm>
            <a:off x="3604494" y="1690687"/>
            <a:ext cx="4421569" cy="3993675"/>
          </a:xfrm>
          <a:prstGeom prst="rect">
            <a:avLst/>
          </a:prstGeom>
        </p:spPr>
      </p:pic>
    </p:spTree>
    <p:extLst>
      <p:ext uri="{BB962C8B-B14F-4D97-AF65-F5344CB8AC3E}">
        <p14:creationId xmlns:p14="http://schemas.microsoft.com/office/powerpoint/2010/main" val="2459528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FE142-8B80-1D30-E545-C2F2B7C97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81C41-2FB8-232A-23D1-B37B2D6E8F6C}"/>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71ADC8DB-41F3-7842-25CD-FC13F3652D5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E72EEE34-CD7D-57B5-2238-8FF47014C0BA}"/>
              </a:ext>
            </a:extLst>
          </p:cNvPr>
          <p:cNvSpPr>
            <a:spLocks noGrp="1"/>
          </p:cNvSpPr>
          <p:nvPr>
            <p:ph idx="1"/>
          </p:nvPr>
        </p:nvSpPr>
        <p:spPr>
          <a:xfrm>
            <a:off x="871927" y="1599565"/>
            <a:ext cx="10515600" cy="4351338"/>
          </a:xfrm>
        </p:spPr>
        <p:txBody>
          <a:bodyPr/>
          <a:lstStyle/>
          <a:p>
            <a:r>
              <a:rPr lang="en-US" dirty="0"/>
              <a:t>Linear Array Queue Implementation </a:t>
            </a:r>
          </a:p>
          <a:p>
            <a:pPr lvl="1">
              <a:buFont typeface="Courier New" panose="02070309020205020404" pitchFamily="49" charset="0"/>
              <a:buChar char="o"/>
            </a:pPr>
            <a:r>
              <a:rPr lang="en-US" dirty="0"/>
              <a:t>seven integer numbers: 29, 51, 308, 65, 155, 78, and 81</a:t>
            </a:r>
          </a:p>
          <a:p>
            <a:endParaRPr lang="en-US" dirty="0"/>
          </a:p>
          <a:p>
            <a:endParaRPr lang="en-US" dirty="0"/>
          </a:p>
          <a:p>
            <a:endParaRPr lang="en-US" dirty="0"/>
          </a:p>
          <a:p>
            <a:endParaRPr lang="en-US" dirty="0"/>
          </a:p>
          <a:p>
            <a:endParaRPr lang="en-US" dirty="0"/>
          </a:p>
        </p:txBody>
      </p:sp>
      <p:pic>
        <p:nvPicPr>
          <p:cNvPr id="6" name="Picture 5" descr="Queue with linear array implementation: initialization, both head and tail index initiated as zero.  ">
            <a:extLst>
              <a:ext uri="{FF2B5EF4-FFF2-40B4-BE49-F238E27FC236}">
                <a16:creationId xmlns:a16="http://schemas.microsoft.com/office/drawing/2014/main" id="{95EDDAA8-2A60-C021-8D62-8EFC7D7BEE11}"/>
              </a:ext>
            </a:extLst>
          </p:cNvPr>
          <p:cNvPicPr>
            <a:picLocks noChangeAspect="1"/>
          </p:cNvPicPr>
          <p:nvPr/>
        </p:nvPicPr>
        <p:blipFill>
          <a:blip r:embed="rId3"/>
          <a:stretch>
            <a:fillRect/>
          </a:stretch>
        </p:blipFill>
        <p:spPr>
          <a:xfrm>
            <a:off x="3113179" y="2644487"/>
            <a:ext cx="5268060" cy="1714739"/>
          </a:xfrm>
          <a:prstGeom prst="rect">
            <a:avLst/>
          </a:prstGeom>
        </p:spPr>
      </p:pic>
    </p:spTree>
    <p:extLst>
      <p:ext uri="{BB962C8B-B14F-4D97-AF65-F5344CB8AC3E}">
        <p14:creationId xmlns:p14="http://schemas.microsoft.com/office/powerpoint/2010/main" val="3711663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F934A-BA62-065F-C5FA-C362778C8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C6A1D-E328-171F-E67C-73928D186158}"/>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5DA312F5-DBBB-0871-0FD4-18F4B906E16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7FFEA164-27D6-03BD-818B-FD9463CEBB8D}"/>
              </a:ext>
            </a:extLst>
          </p:cNvPr>
          <p:cNvSpPr>
            <a:spLocks noGrp="1"/>
          </p:cNvSpPr>
          <p:nvPr>
            <p:ph idx="1"/>
          </p:nvPr>
        </p:nvSpPr>
        <p:spPr>
          <a:xfrm>
            <a:off x="871927" y="1599565"/>
            <a:ext cx="10515600" cy="4351338"/>
          </a:xfrm>
        </p:spPr>
        <p:txBody>
          <a:bodyPr/>
          <a:lstStyle/>
          <a:p>
            <a:r>
              <a:rPr lang="en-US" dirty="0"/>
              <a:t>Linear Array Queue Implementation </a:t>
            </a:r>
          </a:p>
          <a:p>
            <a:pPr lvl="1">
              <a:buFont typeface="Courier New" panose="02070309020205020404" pitchFamily="49" charset="0"/>
              <a:buChar char="o"/>
            </a:pPr>
            <a:r>
              <a:rPr lang="en-US" dirty="0" err="1"/>
              <a:t>idxTail</a:t>
            </a:r>
            <a:r>
              <a:rPr lang="en-US" dirty="0"/>
              <a:t> does NOT point to the index of the last element, but rather, the index of the next available empty slot after the last element</a:t>
            </a:r>
          </a:p>
          <a:p>
            <a:endParaRPr lang="en-US" dirty="0"/>
          </a:p>
          <a:p>
            <a:endParaRPr lang="en-US" dirty="0"/>
          </a:p>
        </p:txBody>
      </p:sp>
      <p:pic>
        <p:nvPicPr>
          <p:cNvPr id="5" name="Picture 4" descr="Queue with linear array implementation: added with the first integer 29, tail index advanced to 1.   ">
            <a:extLst>
              <a:ext uri="{FF2B5EF4-FFF2-40B4-BE49-F238E27FC236}">
                <a16:creationId xmlns:a16="http://schemas.microsoft.com/office/drawing/2014/main" id="{04086D6C-7CAA-AD03-A4A5-D58E4FF10762}"/>
              </a:ext>
            </a:extLst>
          </p:cNvPr>
          <p:cNvPicPr>
            <a:picLocks noChangeAspect="1"/>
          </p:cNvPicPr>
          <p:nvPr/>
        </p:nvPicPr>
        <p:blipFill>
          <a:blip r:embed="rId3"/>
          <a:stretch>
            <a:fillRect/>
          </a:stretch>
        </p:blipFill>
        <p:spPr>
          <a:xfrm>
            <a:off x="1272739" y="3179425"/>
            <a:ext cx="4266430" cy="1325563"/>
          </a:xfrm>
          <a:prstGeom prst="rect">
            <a:avLst/>
          </a:prstGeom>
        </p:spPr>
      </p:pic>
      <p:pic>
        <p:nvPicPr>
          <p:cNvPr id="9" name="Picture 8" descr="Queue with linear array implementation: after added 29, 51, 308, 65, and 155, tail index advanced to 5, which is out of array bound.   ">
            <a:extLst>
              <a:ext uri="{FF2B5EF4-FFF2-40B4-BE49-F238E27FC236}">
                <a16:creationId xmlns:a16="http://schemas.microsoft.com/office/drawing/2014/main" id="{76A74644-D7FC-C4FE-ECCF-8993BBD57604}"/>
              </a:ext>
            </a:extLst>
          </p:cNvPr>
          <p:cNvPicPr>
            <a:picLocks noChangeAspect="1"/>
          </p:cNvPicPr>
          <p:nvPr/>
        </p:nvPicPr>
        <p:blipFill>
          <a:blip r:embed="rId4"/>
          <a:stretch>
            <a:fillRect/>
          </a:stretch>
        </p:blipFill>
        <p:spPr>
          <a:xfrm>
            <a:off x="6129727" y="3179425"/>
            <a:ext cx="4091959" cy="1486065"/>
          </a:xfrm>
          <a:prstGeom prst="rect">
            <a:avLst/>
          </a:prstGeom>
        </p:spPr>
      </p:pic>
    </p:spTree>
    <p:extLst>
      <p:ext uri="{BB962C8B-B14F-4D97-AF65-F5344CB8AC3E}">
        <p14:creationId xmlns:p14="http://schemas.microsoft.com/office/powerpoint/2010/main" val="3373806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5A88D-AB4C-CB5D-403F-F26D7AE3C0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012EB-74C5-C3CA-7753-B2119268CF5C}"/>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BA5FCE30-B38E-CF16-DB17-578D1867C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396E1227-CC49-58E7-7689-90C8441C4E87}"/>
              </a:ext>
            </a:extLst>
          </p:cNvPr>
          <p:cNvSpPr>
            <a:spLocks noGrp="1"/>
          </p:cNvSpPr>
          <p:nvPr>
            <p:ph idx="1"/>
          </p:nvPr>
        </p:nvSpPr>
        <p:spPr>
          <a:xfrm>
            <a:off x="871927" y="1599565"/>
            <a:ext cx="10515600" cy="4351338"/>
          </a:xfrm>
        </p:spPr>
        <p:txBody>
          <a:bodyPr/>
          <a:lstStyle/>
          <a:p>
            <a:r>
              <a:rPr lang="en-US" dirty="0"/>
              <a:t>Linear Array Queue Implementation </a:t>
            </a:r>
          </a:p>
          <a:p>
            <a:pPr lvl="1">
              <a:buFont typeface="Courier New" panose="02070309020205020404" pitchFamily="49" charset="0"/>
              <a:buChar char="o"/>
            </a:pPr>
            <a:r>
              <a:rPr lang="en-US" dirty="0"/>
              <a:t>dequeue 29</a:t>
            </a:r>
          </a:p>
          <a:p>
            <a:endParaRPr lang="en-US" dirty="0"/>
          </a:p>
          <a:p>
            <a:endParaRPr lang="en-US" dirty="0"/>
          </a:p>
          <a:p>
            <a:endParaRPr lang="en-US" dirty="0"/>
          </a:p>
          <a:p>
            <a:endParaRPr lang="en-US" dirty="0"/>
          </a:p>
          <a:p>
            <a:endParaRPr lang="en-US" dirty="0"/>
          </a:p>
        </p:txBody>
      </p:sp>
      <p:pic>
        <p:nvPicPr>
          <p:cNvPr id="9" name="Picture 8" descr="Queue with linear array implementation: after added 29, 51, 308, 65, and 155, tail index advanced to 5, which is out of array bound. But if head element is removed, and all remaining items are shifted left one slot, tail index can be in bound as 4. ">
            <a:extLst>
              <a:ext uri="{FF2B5EF4-FFF2-40B4-BE49-F238E27FC236}">
                <a16:creationId xmlns:a16="http://schemas.microsoft.com/office/drawing/2014/main" id="{8C5FC960-2B55-E659-3406-45E771361E6F}"/>
              </a:ext>
            </a:extLst>
          </p:cNvPr>
          <p:cNvPicPr>
            <a:picLocks noChangeAspect="1"/>
          </p:cNvPicPr>
          <p:nvPr/>
        </p:nvPicPr>
        <p:blipFill>
          <a:blip r:embed="rId3"/>
          <a:stretch>
            <a:fillRect/>
          </a:stretch>
        </p:blipFill>
        <p:spPr>
          <a:xfrm>
            <a:off x="3409775" y="2456291"/>
            <a:ext cx="4423900" cy="3270526"/>
          </a:xfrm>
          <a:prstGeom prst="rect">
            <a:avLst/>
          </a:prstGeom>
        </p:spPr>
      </p:pic>
    </p:spTree>
    <p:extLst>
      <p:ext uri="{BB962C8B-B14F-4D97-AF65-F5344CB8AC3E}">
        <p14:creationId xmlns:p14="http://schemas.microsoft.com/office/powerpoint/2010/main" val="1704839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DC5D-37F6-B8EB-ED13-A3D3AA851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A7253-6528-C30F-94D1-F8342FA0E83E}"/>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1B3300EB-C363-E9C4-008E-B95830936C7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20565297-71C5-5BB2-1F22-F762E83D4D6B}"/>
              </a:ext>
            </a:extLst>
          </p:cNvPr>
          <p:cNvSpPr>
            <a:spLocks noGrp="1"/>
          </p:cNvSpPr>
          <p:nvPr>
            <p:ph idx="1"/>
          </p:nvPr>
        </p:nvSpPr>
        <p:spPr>
          <a:xfrm>
            <a:off x="871927" y="1599565"/>
            <a:ext cx="10515600" cy="4351338"/>
          </a:xfrm>
        </p:spPr>
        <p:txBody>
          <a:bodyPr/>
          <a:lstStyle/>
          <a:p>
            <a:r>
              <a:rPr lang="en-US" dirty="0"/>
              <a:t>Linear Array Queue Implementation </a:t>
            </a:r>
          </a:p>
          <a:p>
            <a:pPr lvl="1">
              <a:buFont typeface="Courier New" panose="02070309020205020404" pitchFamily="49" charset="0"/>
              <a:buChar char="o"/>
            </a:pPr>
            <a:r>
              <a:rPr lang="en-US" dirty="0"/>
              <a:t>enqueue 78, Queue becomes full once more</a:t>
            </a:r>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r>
              <a:rPr lang="en-US" dirty="0"/>
              <a:t>dequeue 51, all remaining elements need leftward shifting</a:t>
            </a:r>
          </a:p>
          <a:p>
            <a:pPr lvl="1">
              <a:buFont typeface="Courier New" panose="02070309020205020404" pitchFamily="49" charset="0"/>
              <a:buChar char="o"/>
            </a:pPr>
            <a:r>
              <a:rPr lang="en-US" dirty="0"/>
              <a:t>deque 308, all remaining elements need leftward shifting</a:t>
            </a:r>
          </a:p>
          <a:p>
            <a:endParaRPr lang="en-US" dirty="0"/>
          </a:p>
          <a:p>
            <a:endParaRPr lang="en-US" dirty="0"/>
          </a:p>
          <a:p>
            <a:endParaRPr lang="en-US" dirty="0"/>
          </a:p>
          <a:p>
            <a:endParaRPr lang="en-US" dirty="0"/>
          </a:p>
        </p:txBody>
      </p:sp>
      <p:pic>
        <p:nvPicPr>
          <p:cNvPr id="5" name="Picture 4" descr="Queue with linear array implementation: 51, 308, 65,155. if 78 is added, tail index is out of array bound again. if remove 51, all elements need left shifting again. ">
            <a:extLst>
              <a:ext uri="{FF2B5EF4-FFF2-40B4-BE49-F238E27FC236}">
                <a16:creationId xmlns:a16="http://schemas.microsoft.com/office/drawing/2014/main" id="{5923BA43-45B4-0AAA-C5B0-CAD7E389A6A0}"/>
              </a:ext>
            </a:extLst>
          </p:cNvPr>
          <p:cNvPicPr>
            <a:picLocks noChangeAspect="1"/>
          </p:cNvPicPr>
          <p:nvPr/>
        </p:nvPicPr>
        <p:blipFill>
          <a:blip r:embed="rId3"/>
          <a:stretch>
            <a:fillRect/>
          </a:stretch>
        </p:blipFill>
        <p:spPr>
          <a:xfrm>
            <a:off x="2802632" y="2671449"/>
            <a:ext cx="5277587" cy="1667108"/>
          </a:xfrm>
          <a:prstGeom prst="rect">
            <a:avLst/>
          </a:prstGeom>
        </p:spPr>
      </p:pic>
    </p:spTree>
    <p:extLst>
      <p:ext uri="{BB962C8B-B14F-4D97-AF65-F5344CB8AC3E}">
        <p14:creationId xmlns:p14="http://schemas.microsoft.com/office/powerpoint/2010/main" val="89444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D2898-57EA-3103-5C4C-64E2A60D4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05850-CBCA-7B0F-6DB9-4192C42F1274}"/>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AF1D96B1-5E61-39FC-566A-B9B0B7D64F9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FAD6A12D-1056-EA75-7A71-8BD9414899A6}"/>
              </a:ext>
            </a:extLst>
          </p:cNvPr>
          <p:cNvSpPr>
            <a:spLocks noGrp="1"/>
          </p:cNvSpPr>
          <p:nvPr>
            <p:ph idx="1"/>
          </p:nvPr>
        </p:nvSpPr>
        <p:spPr>
          <a:xfrm>
            <a:off x="871927" y="1599565"/>
            <a:ext cx="10515600" cy="4351338"/>
          </a:xfrm>
        </p:spPr>
        <p:txBody>
          <a:bodyPr/>
          <a:lstStyle/>
          <a:p>
            <a:r>
              <a:rPr lang="en-US" dirty="0"/>
              <a:t>Linear Array Queue Implementation </a:t>
            </a:r>
          </a:p>
          <a:p>
            <a:pPr lvl="1">
              <a:buFont typeface="Courier New" panose="02070309020205020404" pitchFamily="49" charset="0"/>
              <a:buChar char="o"/>
            </a:pPr>
            <a:r>
              <a:rPr lang="en-US" dirty="0"/>
              <a:t>An alternative would be to update </a:t>
            </a:r>
            <a:r>
              <a:rPr lang="en-US" dirty="0" err="1"/>
              <a:t>idxHead</a:t>
            </a:r>
            <a:r>
              <a:rPr lang="en-US" dirty="0"/>
              <a:t> when dequeuing elements instead of keeping it at zero. </a:t>
            </a:r>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endParaRPr lang="en-US" dirty="0"/>
          </a:p>
          <a:p>
            <a:endParaRPr lang="en-US" dirty="0"/>
          </a:p>
          <a:p>
            <a:endParaRPr lang="en-US" dirty="0"/>
          </a:p>
          <a:p>
            <a:endParaRPr lang="en-US" dirty="0"/>
          </a:p>
        </p:txBody>
      </p:sp>
      <p:pic>
        <p:nvPicPr>
          <p:cNvPr id="6" name="Picture 5" descr="To avoid shifting, advance head index by one when removing">
            <a:extLst>
              <a:ext uri="{FF2B5EF4-FFF2-40B4-BE49-F238E27FC236}">
                <a16:creationId xmlns:a16="http://schemas.microsoft.com/office/drawing/2014/main" id="{DBD11648-A0E3-75E0-B807-CFDFE21A868A}"/>
              </a:ext>
            </a:extLst>
          </p:cNvPr>
          <p:cNvPicPr>
            <a:picLocks noChangeAspect="1"/>
          </p:cNvPicPr>
          <p:nvPr/>
        </p:nvPicPr>
        <p:blipFill>
          <a:blip r:embed="rId3"/>
          <a:stretch>
            <a:fillRect/>
          </a:stretch>
        </p:blipFill>
        <p:spPr>
          <a:xfrm>
            <a:off x="2381656" y="3050407"/>
            <a:ext cx="5449060" cy="2095792"/>
          </a:xfrm>
          <a:prstGeom prst="rect">
            <a:avLst/>
          </a:prstGeom>
        </p:spPr>
      </p:pic>
    </p:spTree>
    <p:extLst>
      <p:ext uri="{BB962C8B-B14F-4D97-AF65-F5344CB8AC3E}">
        <p14:creationId xmlns:p14="http://schemas.microsoft.com/office/powerpoint/2010/main" val="3360478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B29CA-2EDA-B4C4-5B02-DE304A751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F6994-521A-153E-D154-CBB8461CD64A}"/>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E5829496-1592-028E-C3EC-B2C093D6C91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2A1C2353-CB04-DD5B-A9E9-994FCE3E99FD}"/>
              </a:ext>
            </a:extLst>
          </p:cNvPr>
          <p:cNvSpPr>
            <a:spLocks noGrp="1"/>
          </p:cNvSpPr>
          <p:nvPr>
            <p:ph idx="1"/>
          </p:nvPr>
        </p:nvSpPr>
        <p:spPr>
          <a:xfrm>
            <a:off x="871927" y="1599565"/>
            <a:ext cx="10515600" cy="4351338"/>
          </a:xfrm>
        </p:spPr>
        <p:txBody>
          <a:bodyPr>
            <a:normAutofit lnSpcReduction="10000"/>
          </a:bodyPr>
          <a:lstStyle/>
          <a:p>
            <a:r>
              <a:rPr lang="en-US" dirty="0"/>
              <a:t>Linear Array Queue Implementation </a:t>
            </a:r>
          </a:p>
          <a:p>
            <a:pPr lvl="1">
              <a:buFont typeface="Courier New" panose="02070309020205020404" pitchFamily="49" charset="0"/>
              <a:buChar char="o"/>
            </a:pPr>
            <a:r>
              <a:rPr lang="en-US" dirty="0"/>
              <a:t>Enqueue 81: need to first shift all queue elements to the left by a number of spaces equal to the value of </a:t>
            </a:r>
            <a:r>
              <a:rPr lang="en-US" dirty="0" err="1"/>
              <a:t>idxHead</a:t>
            </a:r>
            <a:r>
              <a:rPr lang="en-US" dirty="0"/>
              <a:t> </a:t>
            </a:r>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r>
              <a:rPr lang="en-US" dirty="0"/>
              <a:t>cannot avoid repeated leftward shift operations. Thus, the simple linear array is not the most efficient data structure to use when implementing the queue ADT</a:t>
            </a:r>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endParaRPr lang="en-US" dirty="0"/>
          </a:p>
          <a:p>
            <a:endParaRPr lang="en-US" dirty="0"/>
          </a:p>
          <a:p>
            <a:endParaRPr lang="en-US" dirty="0"/>
          </a:p>
          <a:p>
            <a:endParaRPr lang="en-US" dirty="0"/>
          </a:p>
        </p:txBody>
      </p:sp>
      <p:pic>
        <p:nvPicPr>
          <p:cNvPr id="5" name="Picture 4" descr="when adding new item, need to shift all elements again">
            <a:extLst>
              <a:ext uri="{FF2B5EF4-FFF2-40B4-BE49-F238E27FC236}">
                <a16:creationId xmlns:a16="http://schemas.microsoft.com/office/drawing/2014/main" id="{05D8654D-B932-264D-09A3-7511CDA50E84}"/>
              </a:ext>
            </a:extLst>
          </p:cNvPr>
          <p:cNvPicPr>
            <a:picLocks noChangeAspect="1"/>
          </p:cNvPicPr>
          <p:nvPr/>
        </p:nvPicPr>
        <p:blipFill>
          <a:blip r:embed="rId3"/>
          <a:stretch>
            <a:fillRect/>
          </a:stretch>
        </p:blipFill>
        <p:spPr>
          <a:xfrm>
            <a:off x="2746944" y="2686733"/>
            <a:ext cx="5658640" cy="1867161"/>
          </a:xfrm>
          <a:prstGeom prst="rect">
            <a:avLst/>
          </a:prstGeom>
        </p:spPr>
      </p:pic>
    </p:spTree>
    <p:extLst>
      <p:ext uri="{BB962C8B-B14F-4D97-AF65-F5344CB8AC3E}">
        <p14:creationId xmlns:p14="http://schemas.microsoft.com/office/powerpoint/2010/main" val="174885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B350246A-DE21-5D24-8AD0-115C921B337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25014"/>
          <a:stretch>
            <a:fillRect/>
          </a:stretch>
        </p:blipFill>
        <p:spPr>
          <a:xfrm>
            <a:off x="20" y="1282"/>
            <a:ext cx="12191980" cy="6856718"/>
          </a:xfrm>
          <a:prstGeom prst="rect">
            <a:avLst/>
          </a:prstGeom>
        </p:spPr>
      </p:pic>
    </p:spTree>
    <p:extLst>
      <p:ext uri="{BB962C8B-B14F-4D97-AF65-F5344CB8AC3E}">
        <p14:creationId xmlns:p14="http://schemas.microsoft.com/office/powerpoint/2010/main" val="734176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7D7F68-0780-B0B9-49D5-3865EFAEB1F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3D8BED9C-AAF6-9D34-0031-DA6001D1C0F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14016" b="10998"/>
          <a:stretch>
            <a:fillRect/>
          </a:stretch>
        </p:blipFill>
        <p:spPr>
          <a:xfrm>
            <a:off x="20" y="1282"/>
            <a:ext cx="12191980" cy="6856718"/>
          </a:xfrm>
          <a:prstGeom prst="rect">
            <a:avLst/>
          </a:prstGeom>
        </p:spPr>
      </p:pic>
    </p:spTree>
    <p:extLst>
      <p:ext uri="{BB962C8B-B14F-4D97-AF65-F5344CB8AC3E}">
        <p14:creationId xmlns:p14="http://schemas.microsoft.com/office/powerpoint/2010/main" val="2988227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08DA1-B6F1-1932-814F-972F0443E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5F06-76FA-5034-0515-4D0655886ACC}"/>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9DB5E358-8542-7599-370A-2EA62EAA3B9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735774D0-754E-52DD-3437-89EE543706A3}"/>
              </a:ext>
            </a:extLst>
          </p:cNvPr>
          <p:cNvSpPr>
            <a:spLocks noGrp="1"/>
          </p:cNvSpPr>
          <p:nvPr>
            <p:ph idx="1"/>
          </p:nvPr>
        </p:nvSpPr>
        <p:spPr>
          <a:xfrm>
            <a:off x="871927" y="1599565"/>
            <a:ext cx="6867816" cy="4188914"/>
          </a:xfrm>
          <a:ln>
            <a:solidFill>
              <a:schemeClr val="accent1"/>
            </a:solidFill>
          </a:ln>
        </p:spPr>
        <p:txBody>
          <a:bodyPr/>
          <a:lstStyle/>
          <a:p>
            <a:r>
              <a:rPr lang="en-US" dirty="0"/>
              <a:t>Circular Array Queue Implementation  </a:t>
            </a:r>
          </a:p>
          <a:p>
            <a:pPr lvl="1">
              <a:buFont typeface="Courier New" panose="02070309020205020404" pitchFamily="49" charset="0"/>
              <a:buChar char="o"/>
            </a:pPr>
            <a:r>
              <a:rPr lang="en-US" dirty="0"/>
              <a:t>A circular array is a ring that connects end-to-end, so that the “first” element can start anywhere on the ring and all ensuing elements follow going around the ring. </a:t>
            </a:r>
          </a:p>
          <a:p>
            <a:pPr lvl="1">
              <a:buFont typeface="Courier New" panose="02070309020205020404" pitchFamily="49" charset="0"/>
              <a:buChar char="o"/>
            </a:pPr>
            <a:r>
              <a:rPr lang="en-US" dirty="0"/>
              <a:t>Circular arrays allow us to avoid the shifting operations</a:t>
            </a:r>
          </a:p>
          <a:p>
            <a:pPr lvl="1">
              <a:buFont typeface="Courier New" panose="02070309020205020404" pitchFamily="49" charset="0"/>
              <a:buChar char="o"/>
            </a:pPr>
            <a:r>
              <a:rPr lang="en-US" dirty="0"/>
              <a:t>The size of the circular array needs to be exactly one larger than the capacity of the queue</a:t>
            </a:r>
          </a:p>
          <a:p>
            <a:endParaRPr lang="en-US" dirty="0"/>
          </a:p>
          <a:p>
            <a:endParaRPr lang="en-US" dirty="0"/>
          </a:p>
          <a:p>
            <a:endParaRPr lang="en-US" dirty="0"/>
          </a:p>
          <a:p>
            <a:endParaRPr lang="en-US" dirty="0"/>
          </a:p>
        </p:txBody>
      </p:sp>
      <p:pic>
        <p:nvPicPr>
          <p:cNvPr id="5" name="Picture 4" descr="Circular array concept with both head and tail index initiated at zero">
            <a:extLst>
              <a:ext uri="{FF2B5EF4-FFF2-40B4-BE49-F238E27FC236}">
                <a16:creationId xmlns:a16="http://schemas.microsoft.com/office/drawing/2014/main" id="{97A07775-78AC-760A-BDEB-AF5E22410A1F}"/>
              </a:ext>
            </a:extLst>
          </p:cNvPr>
          <p:cNvPicPr>
            <a:picLocks noChangeAspect="1"/>
          </p:cNvPicPr>
          <p:nvPr/>
        </p:nvPicPr>
        <p:blipFill>
          <a:blip r:embed="rId3"/>
          <a:stretch>
            <a:fillRect/>
          </a:stretch>
        </p:blipFill>
        <p:spPr>
          <a:xfrm>
            <a:off x="7979690" y="1690688"/>
            <a:ext cx="3134162" cy="3248478"/>
          </a:xfrm>
          <a:prstGeom prst="rect">
            <a:avLst/>
          </a:prstGeom>
        </p:spPr>
      </p:pic>
    </p:spTree>
    <p:extLst>
      <p:ext uri="{BB962C8B-B14F-4D97-AF65-F5344CB8AC3E}">
        <p14:creationId xmlns:p14="http://schemas.microsoft.com/office/powerpoint/2010/main" val="2758618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7D450-FE1F-CA2F-DFCA-92ACC1315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29550-5094-6198-8565-27B996BFE242}"/>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9FDBE947-9DF7-D6CB-FF64-82D98FC20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C2783FDF-3490-B37A-DF16-417C53E9760D}"/>
              </a:ext>
            </a:extLst>
          </p:cNvPr>
          <p:cNvSpPr>
            <a:spLocks noGrp="1"/>
          </p:cNvSpPr>
          <p:nvPr>
            <p:ph idx="1"/>
          </p:nvPr>
        </p:nvSpPr>
        <p:spPr>
          <a:xfrm>
            <a:off x="871927" y="1599565"/>
            <a:ext cx="7422988" cy="4001136"/>
          </a:xfrm>
          <a:ln>
            <a:solidFill>
              <a:schemeClr val="accent1"/>
            </a:solidFill>
          </a:ln>
        </p:spPr>
        <p:txBody>
          <a:bodyPr/>
          <a:lstStyle/>
          <a:p>
            <a:r>
              <a:rPr lang="en-US" dirty="0"/>
              <a:t>Circular Array Queue Implementation  </a:t>
            </a:r>
          </a:p>
          <a:p>
            <a:pPr lvl="1">
              <a:buFont typeface="Courier New" panose="02070309020205020404" pitchFamily="49" charset="0"/>
              <a:buChar char="o"/>
            </a:pPr>
            <a:r>
              <a:rPr lang="en-US" dirty="0"/>
              <a:t>enqueue till full: the queue is full because the next increment of </a:t>
            </a:r>
            <a:r>
              <a:rPr lang="en-US" dirty="0" err="1"/>
              <a:t>idxTail</a:t>
            </a:r>
            <a:r>
              <a:rPr lang="en-US" dirty="0"/>
              <a:t> would be equal to </a:t>
            </a:r>
            <a:r>
              <a:rPr lang="en-US" dirty="0" err="1"/>
              <a:t>idxHead</a:t>
            </a:r>
            <a:r>
              <a:rPr lang="en-US" dirty="0"/>
              <a:t>.</a:t>
            </a:r>
          </a:p>
          <a:p>
            <a:pPr lvl="1">
              <a:buFont typeface="Courier New" panose="02070309020205020404" pitchFamily="49" charset="0"/>
              <a:buChar char="o"/>
            </a:pPr>
            <a:r>
              <a:rPr lang="en-US" dirty="0"/>
              <a:t>each time we enqueue an item to a non-full queue, set </a:t>
            </a:r>
            <a:r>
              <a:rPr lang="en-US" dirty="0" err="1"/>
              <a:t>arr</a:t>
            </a:r>
            <a:r>
              <a:rPr lang="en-US" dirty="0"/>
              <a:t>[</a:t>
            </a:r>
            <a:r>
              <a:rPr lang="en-US" dirty="0" err="1"/>
              <a:t>idxTail</a:t>
            </a:r>
            <a:r>
              <a:rPr lang="en-US" dirty="0"/>
              <a:t>] = item and then update the tail index </a:t>
            </a:r>
            <a:r>
              <a:rPr lang="en-US" dirty="0" err="1"/>
              <a:t>idxTail</a:t>
            </a:r>
            <a:r>
              <a:rPr lang="en-US" dirty="0"/>
              <a:t> := (</a:t>
            </a:r>
            <a:r>
              <a:rPr lang="en-US" dirty="0" err="1"/>
              <a:t>idxTail</a:t>
            </a:r>
            <a:r>
              <a:rPr lang="en-US" dirty="0"/>
              <a:t> + 1) % length, where length is the size of the circular array</a:t>
            </a:r>
          </a:p>
          <a:p>
            <a:endParaRPr lang="en-US" dirty="0"/>
          </a:p>
          <a:p>
            <a:endParaRPr lang="en-US" dirty="0"/>
          </a:p>
          <a:p>
            <a:endParaRPr lang="en-US" dirty="0"/>
          </a:p>
        </p:txBody>
      </p:sp>
      <p:pic>
        <p:nvPicPr>
          <p:cNvPr id="9" name="Picture 8" descr="When adding a new item, tail index incremented by one">
            <a:extLst>
              <a:ext uri="{FF2B5EF4-FFF2-40B4-BE49-F238E27FC236}">
                <a16:creationId xmlns:a16="http://schemas.microsoft.com/office/drawing/2014/main" id="{F3DB6A1D-CEA3-3FEB-3C99-0B03BAFBBF58}"/>
              </a:ext>
            </a:extLst>
          </p:cNvPr>
          <p:cNvPicPr>
            <a:picLocks noChangeAspect="1"/>
          </p:cNvPicPr>
          <p:nvPr/>
        </p:nvPicPr>
        <p:blipFill>
          <a:blip r:embed="rId3"/>
          <a:stretch>
            <a:fillRect/>
          </a:stretch>
        </p:blipFill>
        <p:spPr>
          <a:xfrm>
            <a:off x="9042722" y="1585863"/>
            <a:ext cx="1792002" cy="1977381"/>
          </a:xfrm>
          <a:prstGeom prst="rect">
            <a:avLst/>
          </a:prstGeom>
        </p:spPr>
      </p:pic>
      <p:pic>
        <p:nvPicPr>
          <p:cNvPr id="11" name="Picture 10" descr="adding four new items, tail index is at 5">
            <a:extLst>
              <a:ext uri="{FF2B5EF4-FFF2-40B4-BE49-F238E27FC236}">
                <a16:creationId xmlns:a16="http://schemas.microsoft.com/office/drawing/2014/main" id="{F5753AB1-F296-8E50-6D87-685E9B71700D}"/>
              </a:ext>
            </a:extLst>
          </p:cNvPr>
          <p:cNvPicPr>
            <a:picLocks noChangeAspect="1"/>
          </p:cNvPicPr>
          <p:nvPr/>
        </p:nvPicPr>
        <p:blipFill>
          <a:blip r:embed="rId4"/>
          <a:stretch>
            <a:fillRect/>
          </a:stretch>
        </p:blipFill>
        <p:spPr>
          <a:xfrm>
            <a:off x="8729313" y="3563244"/>
            <a:ext cx="2043262" cy="2037457"/>
          </a:xfrm>
          <a:prstGeom prst="rect">
            <a:avLst/>
          </a:prstGeom>
        </p:spPr>
      </p:pic>
    </p:spTree>
    <p:extLst>
      <p:ext uri="{BB962C8B-B14F-4D97-AF65-F5344CB8AC3E}">
        <p14:creationId xmlns:p14="http://schemas.microsoft.com/office/powerpoint/2010/main" val="4078819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6FA5-69BC-27A2-E637-FD13D47D7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C2A86-7FEF-688B-A8FA-CDFE1F4B3964}"/>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58F44130-99AB-9AB7-84C4-B183E0F831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6C1CDCF6-D796-64D2-A4D2-9223B7BD69EB}"/>
              </a:ext>
            </a:extLst>
          </p:cNvPr>
          <p:cNvSpPr>
            <a:spLocks noGrp="1"/>
          </p:cNvSpPr>
          <p:nvPr>
            <p:ph idx="1"/>
          </p:nvPr>
        </p:nvSpPr>
        <p:spPr>
          <a:xfrm>
            <a:off x="871926" y="1599564"/>
            <a:ext cx="10481873" cy="4221571"/>
          </a:xfrm>
          <a:ln>
            <a:noFill/>
          </a:ln>
        </p:spPr>
        <p:txBody>
          <a:bodyPr/>
          <a:lstStyle/>
          <a:p>
            <a:r>
              <a:rPr lang="en-US" dirty="0"/>
              <a:t>Circular Array Queue Implementation  </a:t>
            </a:r>
          </a:p>
          <a:p>
            <a:pPr lvl="1">
              <a:buFont typeface="Courier New" panose="02070309020205020404" pitchFamily="49" charset="0"/>
              <a:buChar char="o"/>
            </a:pPr>
            <a:r>
              <a:rPr lang="en-US" dirty="0"/>
              <a:t>Dequeue: from a non-empty capacity-bounded queue, first return the element </a:t>
            </a:r>
            <a:r>
              <a:rPr lang="en-US" dirty="0" err="1"/>
              <a:t>arr</a:t>
            </a:r>
            <a:r>
              <a:rPr lang="en-US" dirty="0"/>
              <a:t>[</a:t>
            </a:r>
            <a:r>
              <a:rPr lang="en-US" dirty="0" err="1"/>
              <a:t>idxHead</a:t>
            </a:r>
            <a:r>
              <a:rPr lang="en-US" dirty="0"/>
              <a:t>]; then update </a:t>
            </a:r>
            <a:r>
              <a:rPr lang="en-US" dirty="0" err="1"/>
              <a:t>idxHead</a:t>
            </a:r>
            <a:r>
              <a:rPr lang="en-US" dirty="0"/>
              <a:t> := (</a:t>
            </a:r>
            <a:r>
              <a:rPr lang="en-US" dirty="0" err="1"/>
              <a:t>idxHead</a:t>
            </a:r>
            <a:r>
              <a:rPr lang="en-US" dirty="0"/>
              <a:t> + 1) % length</a:t>
            </a:r>
          </a:p>
          <a:p>
            <a:endParaRPr lang="en-US" dirty="0"/>
          </a:p>
          <a:p>
            <a:endParaRPr lang="en-US" dirty="0"/>
          </a:p>
          <a:p>
            <a:endParaRPr lang="en-US" dirty="0"/>
          </a:p>
        </p:txBody>
      </p:sp>
      <p:pic>
        <p:nvPicPr>
          <p:cNvPr id="5" name="Picture 4" descr="when removing an item, head index incremented by one">
            <a:extLst>
              <a:ext uri="{FF2B5EF4-FFF2-40B4-BE49-F238E27FC236}">
                <a16:creationId xmlns:a16="http://schemas.microsoft.com/office/drawing/2014/main" id="{62D0A956-2182-D2D7-D8FC-15E6E4717A69}"/>
              </a:ext>
            </a:extLst>
          </p:cNvPr>
          <p:cNvPicPr>
            <a:picLocks noChangeAspect="1"/>
          </p:cNvPicPr>
          <p:nvPr/>
        </p:nvPicPr>
        <p:blipFill>
          <a:blip r:embed="rId3"/>
          <a:stretch>
            <a:fillRect/>
          </a:stretch>
        </p:blipFill>
        <p:spPr>
          <a:xfrm>
            <a:off x="4313230" y="3036480"/>
            <a:ext cx="2773370" cy="2552762"/>
          </a:xfrm>
          <a:prstGeom prst="rect">
            <a:avLst/>
          </a:prstGeom>
        </p:spPr>
      </p:pic>
    </p:spTree>
    <p:extLst>
      <p:ext uri="{BB962C8B-B14F-4D97-AF65-F5344CB8AC3E}">
        <p14:creationId xmlns:p14="http://schemas.microsoft.com/office/powerpoint/2010/main" val="4198780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37384-D522-2167-4AEA-9F76BBCFB3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B6853-1910-D83C-74A9-D162A141487E}"/>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06BBC3C8-5AF2-521F-BDF8-5E795077AE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A13DA88B-C4A0-3BC0-E456-4363887741E5}"/>
              </a:ext>
            </a:extLst>
          </p:cNvPr>
          <p:cNvSpPr>
            <a:spLocks noGrp="1"/>
          </p:cNvSpPr>
          <p:nvPr>
            <p:ph idx="1"/>
          </p:nvPr>
        </p:nvSpPr>
        <p:spPr>
          <a:xfrm>
            <a:off x="871926" y="1599564"/>
            <a:ext cx="10481873" cy="4221571"/>
          </a:xfrm>
          <a:ln>
            <a:noFill/>
          </a:ln>
        </p:spPr>
        <p:txBody>
          <a:bodyPr/>
          <a:lstStyle/>
          <a:p>
            <a:r>
              <a:rPr lang="en-US" dirty="0"/>
              <a:t>The Queue in Java Collections</a:t>
            </a:r>
          </a:p>
          <a:p>
            <a:endParaRPr lang="en-US" dirty="0"/>
          </a:p>
          <a:p>
            <a:endParaRPr lang="en-US" dirty="0"/>
          </a:p>
          <a:p>
            <a:endParaRPr lang="en-US" dirty="0"/>
          </a:p>
        </p:txBody>
      </p:sp>
      <p:pic>
        <p:nvPicPr>
          <p:cNvPr id="6" name="Picture 5" descr="Queue interface in Java Collections">
            <a:extLst>
              <a:ext uri="{FF2B5EF4-FFF2-40B4-BE49-F238E27FC236}">
                <a16:creationId xmlns:a16="http://schemas.microsoft.com/office/drawing/2014/main" id="{8508F84C-C36F-40CE-5259-8765878ED904}"/>
              </a:ext>
            </a:extLst>
          </p:cNvPr>
          <p:cNvPicPr>
            <a:picLocks noChangeAspect="1"/>
          </p:cNvPicPr>
          <p:nvPr/>
        </p:nvPicPr>
        <p:blipFill>
          <a:blip r:embed="rId3"/>
          <a:stretch>
            <a:fillRect/>
          </a:stretch>
        </p:blipFill>
        <p:spPr>
          <a:xfrm>
            <a:off x="1278157" y="1966204"/>
            <a:ext cx="5516172" cy="3854931"/>
          </a:xfrm>
          <a:prstGeom prst="rect">
            <a:avLst/>
          </a:prstGeom>
        </p:spPr>
      </p:pic>
      <p:pic>
        <p:nvPicPr>
          <p:cNvPr id="9" name="Picture 8" descr="Enqueue, Dequeue and Peek methods with exception-throwing vs default ones">
            <a:extLst>
              <a:ext uri="{FF2B5EF4-FFF2-40B4-BE49-F238E27FC236}">
                <a16:creationId xmlns:a16="http://schemas.microsoft.com/office/drawing/2014/main" id="{B739BAA2-6519-FB9B-4F26-2D20194BFCDA}"/>
              </a:ext>
            </a:extLst>
          </p:cNvPr>
          <p:cNvPicPr>
            <a:picLocks noChangeAspect="1"/>
          </p:cNvPicPr>
          <p:nvPr/>
        </p:nvPicPr>
        <p:blipFill>
          <a:blip r:embed="rId4"/>
          <a:stretch>
            <a:fillRect/>
          </a:stretch>
        </p:blipFill>
        <p:spPr>
          <a:xfrm>
            <a:off x="6794329" y="3151476"/>
            <a:ext cx="4189360" cy="1208870"/>
          </a:xfrm>
          <a:prstGeom prst="rect">
            <a:avLst/>
          </a:prstGeom>
        </p:spPr>
      </p:pic>
    </p:spTree>
    <p:extLst>
      <p:ext uri="{BB962C8B-B14F-4D97-AF65-F5344CB8AC3E}">
        <p14:creationId xmlns:p14="http://schemas.microsoft.com/office/powerpoint/2010/main" val="1097524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28E4F-C624-C46E-D909-23E92826A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842EF-BC80-9705-7BE8-64C3E0FD3A08}"/>
              </a:ext>
            </a:extLst>
          </p:cNvPr>
          <p:cNvSpPr>
            <a:spLocks noGrp="1"/>
          </p:cNvSpPr>
          <p:nvPr>
            <p:ph type="title"/>
          </p:nvPr>
        </p:nvSpPr>
        <p:spPr/>
        <p:txBody>
          <a:bodyPr/>
          <a:lstStyle/>
          <a:p>
            <a:r>
              <a:rPr lang="en-US" dirty="0"/>
              <a:t>13.2 Implementing a Capacity-Bounded Queue </a:t>
            </a:r>
          </a:p>
        </p:txBody>
      </p:sp>
      <p:pic>
        <p:nvPicPr>
          <p:cNvPr id="4" name="Picture 3">
            <a:extLst>
              <a:ext uri="{FF2B5EF4-FFF2-40B4-BE49-F238E27FC236}">
                <a16:creationId xmlns:a16="http://schemas.microsoft.com/office/drawing/2014/main" id="{1F38799E-5CF8-0B0B-925A-DF65910E471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FD05C91E-4BD4-445D-1302-CADDAC8B542A}"/>
              </a:ext>
            </a:extLst>
          </p:cNvPr>
          <p:cNvSpPr>
            <a:spLocks noGrp="1"/>
          </p:cNvSpPr>
          <p:nvPr>
            <p:ph idx="1"/>
          </p:nvPr>
        </p:nvSpPr>
        <p:spPr>
          <a:xfrm>
            <a:off x="871926" y="1599564"/>
            <a:ext cx="10481873" cy="4221571"/>
          </a:xfrm>
          <a:ln>
            <a:noFill/>
          </a:ln>
        </p:spPr>
        <p:txBody>
          <a:bodyPr/>
          <a:lstStyle/>
          <a:p>
            <a:r>
              <a:rPr lang="en-US" dirty="0"/>
              <a:t>The Queue in Java Collections</a:t>
            </a:r>
          </a:p>
          <a:p>
            <a:pPr lvl="1">
              <a:buFont typeface="Courier New" panose="02070309020205020404" pitchFamily="49" charset="0"/>
              <a:buChar char="o"/>
            </a:pPr>
            <a:r>
              <a:rPr lang="en-US" dirty="0"/>
              <a:t>instantiate an instance of Queue: use any subclass that implements the Queue&lt;E&gt; interface</a:t>
            </a:r>
          </a:p>
          <a:p>
            <a:endParaRPr lang="en-US" dirty="0"/>
          </a:p>
          <a:p>
            <a:endParaRPr lang="en-US" dirty="0"/>
          </a:p>
          <a:p>
            <a:endParaRPr lang="en-US" dirty="0"/>
          </a:p>
        </p:txBody>
      </p:sp>
    </p:spTree>
    <p:extLst>
      <p:ext uri="{BB962C8B-B14F-4D97-AF65-F5344CB8AC3E}">
        <p14:creationId xmlns:p14="http://schemas.microsoft.com/office/powerpoint/2010/main" val="2562336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66E8B-3491-5512-16C3-9FE9CA4B7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3529E-9857-0E47-F3A4-85489DCCA3E0}"/>
              </a:ext>
            </a:extLst>
          </p:cNvPr>
          <p:cNvSpPr>
            <a:spLocks noGrp="1"/>
          </p:cNvSpPr>
          <p:nvPr>
            <p:ph type="title"/>
          </p:nvPr>
        </p:nvSpPr>
        <p:spPr/>
        <p:txBody>
          <a:bodyPr/>
          <a:lstStyle/>
          <a:p>
            <a:r>
              <a:rPr lang="en-US" dirty="0"/>
              <a:t>Which National Park is it?</a:t>
            </a:r>
          </a:p>
        </p:txBody>
      </p:sp>
      <p:pic>
        <p:nvPicPr>
          <p:cNvPr id="4" name="Picture 3">
            <a:extLst>
              <a:ext uri="{FF2B5EF4-FFF2-40B4-BE49-F238E27FC236}">
                <a16:creationId xmlns:a16="http://schemas.microsoft.com/office/drawing/2014/main" id="{469643F6-C546-DB03-D681-3DCCFB2148C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F5F79817-D153-0420-10B9-6CE175DADFA4}"/>
              </a:ext>
            </a:extLst>
          </p:cNvPr>
          <p:cNvSpPr>
            <a:spLocks noGrp="1"/>
          </p:cNvSpPr>
          <p:nvPr>
            <p:ph idx="1"/>
          </p:nvPr>
        </p:nvSpPr>
        <p:spPr>
          <a:xfrm>
            <a:off x="871927" y="1599565"/>
            <a:ext cx="10515600" cy="4351338"/>
          </a:xfrm>
        </p:spPr>
        <p:txBody>
          <a:bodyPr/>
          <a:lstStyle/>
          <a:p>
            <a:r>
              <a:rPr lang="en-US" dirty="0"/>
              <a:t>Answer</a:t>
            </a:r>
            <a:r>
              <a:rPr lang="en-US"/>
              <a:t>: Indiana Dunes National Park</a:t>
            </a:r>
            <a:endParaRPr lang="en-US" dirty="0"/>
          </a:p>
        </p:txBody>
      </p:sp>
    </p:spTree>
    <p:extLst>
      <p:ext uri="{BB962C8B-B14F-4D97-AF65-F5344CB8AC3E}">
        <p14:creationId xmlns:p14="http://schemas.microsoft.com/office/powerpoint/2010/main" val="17240205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3342</TotalTime>
  <Words>610</Words>
  <Application>Microsoft Office PowerPoint</Application>
  <PresentationFormat>Widescreen</PresentationFormat>
  <Paragraphs>101</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Courier New</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13.1 What is a Queue?</vt:lpstr>
      <vt:lpstr>13.2 Implementing a Capacity-Bounded Queue </vt:lpstr>
      <vt:lpstr>13.2 Implementing a Capacity-Bounded Queue </vt:lpstr>
      <vt:lpstr>13.2 Implementing a Capacity-Bounded Queue </vt:lpstr>
      <vt:lpstr>13.2 Implementing a Capacity-Bounded Queue </vt:lpstr>
      <vt:lpstr>13.2 Implementing a Capacity-Bounded Queue </vt:lpstr>
      <vt:lpstr>13.2 Implementing a Capacity-Bounded Queue </vt:lpstr>
      <vt:lpstr>13.2 Implementing a Capacity-Bounded Queue </vt:lpstr>
      <vt:lpstr>PowerPoint Presentation</vt:lpstr>
      <vt:lpstr>PowerPoint Presentation</vt:lpstr>
      <vt:lpstr>13.2 Implementing a Capacity-Bounded Queue </vt:lpstr>
      <vt:lpstr>13.2 Implementing a Capacity-Bounded Queue </vt:lpstr>
      <vt:lpstr>13.2 Implementing a Capacity-Bounded Queue </vt:lpstr>
      <vt:lpstr>13.2 Implementing a Capacity-Bounded Queue </vt:lpstr>
      <vt:lpstr>13.2 Implementing a Capacity-Bounded Queue </vt:lpstr>
      <vt:lpstr>Which National Park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385</cp:revision>
  <dcterms:created xsi:type="dcterms:W3CDTF">2025-01-08T14:48:28Z</dcterms:created>
  <dcterms:modified xsi:type="dcterms:W3CDTF">2026-09-07T02:09:21Z</dcterms:modified>
</cp:coreProperties>
</file>