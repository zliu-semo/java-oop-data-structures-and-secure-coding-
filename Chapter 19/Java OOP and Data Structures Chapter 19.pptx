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18" r:id="rId2"/>
    <p:sldId id="292" r:id="rId3"/>
    <p:sldId id="387" r:id="rId4"/>
    <p:sldId id="258" r:id="rId5"/>
    <p:sldId id="369" r:id="rId6"/>
    <p:sldId id="388" r:id="rId7"/>
    <p:sldId id="410" r:id="rId8"/>
    <p:sldId id="389" r:id="rId9"/>
    <p:sldId id="390" r:id="rId10"/>
    <p:sldId id="391" r:id="rId11"/>
    <p:sldId id="392" r:id="rId12"/>
    <p:sldId id="393" r:id="rId13"/>
    <p:sldId id="394" r:id="rId14"/>
    <p:sldId id="395" r:id="rId15"/>
    <p:sldId id="396" r:id="rId16"/>
    <p:sldId id="397" r:id="rId17"/>
    <p:sldId id="411" r:id="rId18"/>
    <p:sldId id="408" r:id="rId19"/>
    <p:sldId id="409" r:id="rId20"/>
    <p:sldId id="366" r:id="rId21"/>
    <p:sldId id="399" r:id="rId22"/>
    <p:sldId id="400" r:id="rId23"/>
    <p:sldId id="401" r:id="rId24"/>
    <p:sldId id="398" r:id="rId25"/>
    <p:sldId id="403" r:id="rId26"/>
    <p:sldId id="404" r:id="rId27"/>
    <p:sldId id="405" r:id="rId28"/>
    <p:sldId id="406" r:id="rId29"/>
    <p:sldId id="407" r:id="rId30"/>
    <p:sldId id="40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56" autoAdjust="0"/>
    <p:restoredTop sz="94552" autoAdjust="0"/>
  </p:normalViewPr>
  <p:slideViewPr>
    <p:cSldViewPr snapToGrid="0">
      <p:cViewPr varScale="1">
        <p:scale>
          <a:sx n="67" d="100"/>
          <a:sy n="67" d="100"/>
        </p:scale>
        <p:origin x="39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DBE90D-6443-45D5-AB73-6A7D0CBCCF85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21F2D-1907-45F1-9B93-BB1762A94325}" type="pres">
      <dgm:prSet presAssocID="{2FDBE90D-6443-45D5-AB73-6A7D0CBCCF85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0ED6465E-DA6A-4410-A68E-A5C5BDC5C01F}" type="presOf" srcId="{2FDBE90D-6443-45D5-AB73-6A7D0CBCCF85}" destId="{E0D21F2D-1907-45F1-9B93-BB1762A94325}" srcOrd="0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FFCED8-506F-49AF-BE73-3D1A33480DE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394981-F5B7-436B-9962-151FBDD8A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2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394981-F5B7-436B-9962-151FBDD8AD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38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599E3-8D9F-3F5B-0308-7F5329DEA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90651-91C2-BA19-35EC-A04BA9FD1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DD5A-2112-6235-85DC-B1B299E8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A9076-7565-CDA6-EDBA-EC296154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AC44E-B761-B97D-C746-ECAB6BB9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529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E6AC-BA0C-3CB0-A332-C14B281CD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7869-5FC6-53F4-7BC6-5136E550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B6CE0-9019-D821-C2F3-C78CF2C5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96E9F-D2BE-3C4A-D26A-F7C5A5D11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8CC43-53EB-84ED-63B3-9A3403CE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31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8D887-4D96-118D-73A2-1C895A67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B085A-425F-FD3C-BC71-9A29495F9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29D-6798-F07C-D487-6101B49A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F25C4-C66D-4341-42FF-9C7C602A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8A81-8750-B962-F8C6-6DA1403A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0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D042-266E-A796-1A36-96B70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36A0C-4A74-A126-7A99-F06853058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CC16C-9EAC-FE9F-396B-0241F7962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D6F5-EFBE-6874-ED24-0A51C268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1EDD0-9CCB-FAD1-C4F2-4E43F03F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613EA-8DBD-A257-A690-042711A7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ACE6-F826-5B66-2371-F2D502554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56492-1758-D69A-3E6F-15261B003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D8565-447E-7044-9CE0-673F60DC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3E43F8-3C42-54CA-4E92-F6A3940F2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97A32-71E6-549D-B127-599697995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8A95A3-01EC-6EF0-5031-5E525E62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74BE6-33F4-D96C-2405-87AEFEDC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B891F-BE7B-C13D-681A-2C793B09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9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5743-E60C-78E3-4219-5712DC70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6DF502-5BB8-D822-01D7-20936C3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5FAD0-C9E9-80E2-6DFA-0BC166AE6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DCEC0-8357-5413-2403-9992319E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8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9867B-72CF-0811-E65E-1F1A0A92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48B39-123B-5C1E-0B64-6FC3E285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3C226-40C4-ED8E-9C41-87B4E082F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2E48C-0492-969D-5358-C6C95D65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7FBA1-E0E8-57D0-829D-823FB90F4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7BB11-40DB-E7BF-59DE-E5088FC55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9E303-25F7-D260-0C1E-1C5D9A968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058F-FFC4-BC2B-7574-A9DB1D7F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0D607-D6DB-9EBE-6590-0B6F3CFD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8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B2A1-BC34-EA9A-859D-059A7A66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26546-3C25-49A1-3B36-715D1745D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F8061-0760-C9C3-320B-EAD574AF2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327B0-28E5-1E67-61B0-C32CC09E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E62B-ABB9-605C-5E4E-9BF3E4FF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D59CD-E644-8A47-6C41-35307D32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5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1B45-B749-84F1-7E0D-232A8B6C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25F5B-9932-7B22-3C88-08AD57BC2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61-E805-FB33-5A16-E0CFA371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018F-11E0-CA53-A68B-C731CC509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7CFC-CA41-1297-94D3-F89EC65D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B2452-1456-A52C-F8D5-3234E07ED5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70949-F825-32B2-260B-674118F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E993F-73E9-E7AE-2ED3-3D288F24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8669A-962F-4ACD-AB1E-07597AA7AD5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6DBD-D9C7-84D2-27D0-26FD25683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78735-00EC-3CA0-1B73-68A025E39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6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BA9FD8-0BA2-A466-EEFA-529DB251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1EC5-F665-6631-6BF9-22FB9539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F9369-7ED6-38A0-734A-DD110F926D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8669A-962F-4ACD-AB1E-07597AA7AD56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8940-D37A-E1F1-4E91-FF221089D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86E2C-CD23-0AB2-1973-F43BEF1BE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5ECDF-75F7-4588-A97A-7139A514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ook cover with book title: Java OOP and Data Structures with Introduction of Secure Coding">
            <a:extLst>
              <a:ext uri="{FF2B5EF4-FFF2-40B4-BE49-F238E27FC236}">
                <a16:creationId xmlns:a16="http://schemas.microsoft.com/office/drawing/2014/main" id="{9B42642B-877C-E7C7-3675-E381E528B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070" y="224790"/>
            <a:ext cx="4975860" cy="640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5D94A-2E11-1A07-F482-34C78E7E9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39BEE-D294-2EA5-D0F5-60C09B090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Java OOP and Data Structures with Introduction to Secure Coding</a:t>
            </a:r>
            <a:br>
              <a:rPr lang="en-US" sz="3100" dirty="0">
                <a:solidFill>
                  <a:schemeClr val="tx2"/>
                </a:solidFill>
              </a:rPr>
            </a:br>
            <a:r>
              <a:rPr lang="en-US" sz="3100" dirty="0">
                <a:solidFill>
                  <a:schemeClr val="tx2"/>
                </a:solidFill>
              </a:rPr>
              <a:t>Dr. Ziping Liu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 descr="Chapter 19 Collections">
            <a:extLst>
              <a:ext uri="{FF2B5EF4-FFF2-40B4-BE49-F238E27FC236}">
                <a16:creationId xmlns:a16="http://schemas.microsoft.com/office/drawing/2014/main" id="{68016C7C-AFDA-B667-C485-59B533AEF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5" b="5495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550E9AA5-3AB6-7CA8-2E88-05185371D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19 Collections</a:t>
            </a:r>
          </a:p>
        </p:txBody>
      </p:sp>
    </p:spTree>
    <p:extLst>
      <p:ext uri="{BB962C8B-B14F-4D97-AF65-F5344CB8AC3E}">
        <p14:creationId xmlns:p14="http://schemas.microsoft.com/office/powerpoint/2010/main" val="397603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C191F-D105-8A4A-578D-5B3F197F3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3A6B14A-92E1-15D5-0859-4CF0D14C7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C526B-38F2-0A10-9DE0-F5C4856C4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100" dirty="0">
                <a:solidFill>
                  <a:schemeClr val="tx2"/>
                </a:solidFill>
              </a:rPr>
              <a:t>https://he.kendallhunt.com/product/java-oop-and-data-structures-introduction-secure-coding</a:t>
            </a:r>
            <a:br>
              <a:rPr lang="en-US" sz="1600" dirty="0">
                <a:solidFill>
                  <a:schemeClr val="tx2"/>
                </a:solidFill>
              </a:rPr>
            </a:br>
            <a:br>
              <a:rPr lang="en-US" sz="1600" dirty="0">
                <a:solidFill>
                  <a:schemeClr val="tx2"/>
                </a:solidFill>
              </a:rPr>
            </a:br>
            <a:endParaRPr lang="en-US" sz="1600" dirty="0">
              <a:solidFill>
                <a:schemeClr val="tx2"/>
              </a:solidFill>
            </a:endParaRPr>
          </a:p>
        </p:txBody>
      </p:sp>
      <p:pic>
        <p:nvPicPr>
          <p:cNvPr id="5" name="Picture 4" descr="Chapter 19 Collections">
            <a:extLst>
              <a:ext uri="{FF2B5EF4-FFF2-40B4-BE49-F238E27FC236}">
                <a16:creationId xmlns:a16="http://schemas.microsoft.com/office/drawing/2014/main" id="{6CE13444-0372-8378-2CD4-5DA819DC3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5" b="5495"/>
          <a:stretch/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5715C489-B5E2-5428-43B1-349FE9574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059834-0800-EFC9-8D5D-F7CA9BF31C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9AB83BF-2BE4-4621-3FBA-37CD860D2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A2168C-5D43-2BCD-63EF-A324DC2C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4B878EF-70FC-3351-24CA-EAB8E5C82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3052117-AA4F-821C-428C-6BA9B0EB9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Chapter 19 Collections</a:t>
            </a:r>
          </a:p>
        </p:txBody>
      </p:sp>
    </p:spTree>
    <p:extLst>
      <p:ext uri="{BB962C8B-B14F-4D97-AF65-F5344CB8AC3E}">
        <p14:creationId xmlns:p14="http://schemas.microsoft.com/office/powerpoint/2010/main" val="15895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BF0A-0571-3AE4-329B-7FDD247C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84F35-20A0-78B6-C0D7-3446E8B5E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357" y="5891173"/>
            <a:ext cx="10579443" cy="571580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A9A291D-AFBA-B921-9197-A2EF55DD2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454027"/>
              </p:ext>
            </p:extLst>
          </p:nvPr>
        </p:nvGraphicFramePr>
        <p:xfrm>
          <a:off x="838200" y="1825625"/>
          <a:ext cx="10515600" cy="3609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558A932-A150-AAEB-AF28-D9156CC23D7C}"/>
              </a:ext>
            </a:extLst>
          </p:cNvPr>
          <p:cNvSpPr txBox="1"/>
          <p:nvPr/>
        </p:nvSpPr>
        <p:spPr>
          <a:xfrm>
            <a:off x="838200" y="1622855"/>
            <a:ext cx="104269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What is Java Collections framework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Java Collections interface hierarchy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Implementations of Java Collections interfaces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List implementations usage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Queue implementations usage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Set implementations usage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Map implementations usage</a:t>
            </a:r>
          </a:p>
          <a:p>
            <a:pPr marL="285750" lvl="0" indent="-285750">
              <a:buFont typeface="Aptos" panose="020B0004020202020204" pitchFamily="34" charset="0"/>
              <a:buChar char="–"/>
            </a:pPr>
            <a:r>
              <a:rPr lang="en-US" sz="2400" dirty="0"/>
              <a:t>Algorithms in the framework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7311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EF1F3-FBC1-EA99-D072-BAE6AC086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67AC-E16E-B398-6F3D-E57A5E17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19.1 What Is Java Collections Framework?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503D6-0F71-131F-8148-FFF9AC7A0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6536378" cy="4026534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a system for representing and manipulating collections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Interfaces: Define a set of operations common to a specific category of data structures, such as the List interface.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Classes: Represent concrete implementations of specific interfaces, such as the LinkedList class.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Algorithms: Provide general methods for performing common operations, such as the sort method.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5C033C-58CF-4D11-E9CE-11BA26E73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6" name="Picture 5" descr="Collections framework components have interfaces, classes and algorithms">
            <a:extLst>
              <a:ext uri="{FF2B5EF4-FFF2-40B4-BE49-F238E27FC236}">
                <a16:creationId xmlns:a16="http://schemas.microsoft.com/office/drawing/2014/main" id="{8E326AB3-9A01-2BBC-29DB-91872D5AF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817" y="2304325"/>
            <a:ext cx="3747083" cy="267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70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C5DE0-48B0-A7FA-9D08-51A6796E6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6A132-8D4C-49FD-CE31-EEA8CCDCA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19.2 Java Collections Interface Hierarchy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36FDF2-1771-5E7F-2C75-E111B803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5" name="Content Placeholder 4" descr="Java collections interface Hierarchy: Two top-level interfaces: &#10;java.util.Collection &#10;java.util.Map (key-value pair)&#10;">
            <a:extLst>
              <a:ext uri="{FF2B5EF4-FFF2-40B4-BE49-F238E27FC236}">
                <a16:creationId xmlns:a16="http://schemas.microsoft.com/office/drawing/2014/main" id="{2E900716-D4F3-C90A-069C-4F6179F23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1841" y="1533991"/>
            <a:ext cx="5877559" cy="4207226"/>
          </a:xfrm>
          <a:prstGeom prst="rect">
            <a:avLst/>
          </a:prstGeom>
        </p:spPr>
      </p:pic>
      <p:sp>
        <p:nvSpPr>
          <p:cNvPr id="8" name="TextBox 7" descr="&#10;">
            <a:extLst>
              <a:ext uri="{FF2B5EF4-FFF2-40B4-BE49-F238E27FC236}">
                <a16:creationId xmlns:a16="http://schemas.microsoft.com/office/drawing/2014/main" id="{8CD12C3A-73EA-32AC-83F8-016EB55F6987}"/>
              </a:ext>
            </a:extLst>
          </p:cNvPr>
          <p:cNvSpPr txBox="1"/>
          <p:nvPr/>
        </p:nvSpPr>
        <p:spPr>
          <a:xfrm>
            <a:off x="7388946" y="2141356"/>
            <a:ext cx="30273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top-level interfaces: </a:t>
            </a:r>
          </a:p>
          <a:p>
            <a:r>
              <a:rPr lang="en-US" dirty="0" err="1"/>
              <a:t>java.util.Collection</a:t>
            </a:r>
            <a:r>
              <a:rPr lang="en-US" dirty="0"/>
              <a:t> </a:t>
            </a:r>
          </a:p>
          <a:p>
            <a:r>
              <a:rPr lang="en-US" dirty="0" err="1"/>
              <a:t>java.util.Map</a:t>
            </a:r>
            <a:r>
              <a:rPr lang="en-US" dirty="0"/>
              <a:t> (key-value pair)</a:t>
            </a:r>
          </a:p>
        </p:txBody>
      </p:sp>
    </p:spTree>
    <p:extLst>
      <p:ext uri="{BB962C8B-B14F-4D97-AF65-F5344CB8AC3E}">
        <p14:creationId xmlns:p14="http://schemas.microsoft.com/office/powerpoint/2010/main" val="3572633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C6278-FF74-427A-C006-00395857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336E0-AFD7-29CE-B2FF-83CB513C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19.2 Java Collections Interface Hierarchy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DB9B3-29E3-54A0-8AD3-62060B158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5" name="Content Placeholder 4" descr="Java Collections Interface Hierarchy:&#10;Collection: &#10;List: &#10;Queue: &#10;Deque: &#10;Set: &#10;SortedSet and NavigableSet: &#10;Map:&#10;SortedMap and NavigableMap&#10;">
            <a:extLst>
              <a:ext uri="{FF2B5EF4-FFF2-40B4-BE49-F238E27FC236}">
                <a16:creationId xmlns:a16="http://schemas.microsoft.com/office/drawing/2014/main" id="{1A7FF4A2-75BD-2876-25BD-7764D94AA3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1841" y="1533991"/>
            <a:ext cx="5513699" cy="39467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FACDCD-99D5-F9B5-FB21-6A234019EE87}"/>
              </a:ext>
            </a:extLst>
          </p:cNvPr>
          <p:cNvSpPr txBox="1"/>
          <p:nvPr/>
        </p:nvSpPr>
        <p:spPr>
          <a:xfrm>
            <a:off x="6180632" y="1533991"/>
            <a:ext cx="497504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Collection: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List: </a:t>
            </a:r>
            <a:r>
              <a:rPr lang="en-US" b="1" dirty="0"/>
              <a:t>ordered</a:t>
            </a:r>
            <a:r>
              <a:rPr lang="en-US" dirty="0"/>
              <a:t> collection and allows duplicates.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Queue: collection with First In, First Out (</a:t>
            </a:r>
            <a:r>
              <a:rPr lang="en-US" b="1" dirty="0"/>
              <a:t>FIFO</a:t>
            </a:r>
            <a:r>
              <a:rPr lang="en-US" dirty="0"/>
              <a:t>) behavior.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Deque: adding and removing elements at both ends (a double-ended queue).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Set: collection that does </a:t>
            </a:r>
            <a:r>
              <a:rPr lang="en-US" b="1" dirty="0"/>
              <a:t>not allow duplicates</a:t>
            </a:r>
            <a:r>
              <a:rPr lang="en-US" dirty="0"/>
              <a:t>.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 err="1"/>
              <a:t>SortedSet</a:t>
            </a:r>
            <a:r>
              <a:rPr lang="en-US" dirty="0"/>
              <a:t> and </a:t>
            </a:r>
            <a:r>
              <a:rPr lang="en-US" dirty="0" err="1"/>
              <a:t>NavigableSet</a:t>
            </a:r>
            <a:r>
              <a:rPr lang="en-US" dirty="0"/>
              <a:t>: providing additional ordering and navigation methods.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9BA8C-337C-80AC-0D1D-035A131CC99E}"/>
              </a:ext>
            </a:extLst>
          </p:cNvPr>
          <p:cNvSpPr txBox="1"/>
          <p:nvPr/>
        </p:nvSpPr>
        <p:spPr>
          <a:xfrm>
            <a:off x="6265540" y="4969393"/>
            <a:ext cx="5187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Map: </a:t>
            </a:r>
            <a:r>
              <a:rPr lang="en-US" dirty="0" err="1"/>
              <a:t>SortedSet</a:t>
            </a:r>
            <a:r>
              <a:rPr lang="en-US" dirty="0"/>
              <a:t> and </a:t>
            </a:r>
            <a:r>
              <a:rPr lang="en-US" dirty="0" err="1"/>
              <a:t>NavigableSet</a:t>
            </a:r>
            <a:r>
              <a:rPr lang="en-US" dirty="0"/>
              <a:t> providing additional ordering and navigation methods.</a:t>
            </a:r>
          </a:p>
        </p:txBody>
      </p:sp>
    </p:spTree>
    <p:extLst>
      <p:ext uri="{BB962C8B-B14F-4D97-AF65-F5344CB8AC3E}">
        <p14:creationId xmlns:p14="http://schemas.microsoft.com/office/powerpoint/2010/main" val="4103204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1428F-B2CF-C9E6-4742-10055FA2E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C38EB-C7CF-2B6A-C8CD-971AE043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19.2 Java Collections Interface Hierarchy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D67AC1-136A-B71C-45F7-2373EEC1C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8" name="Content Placeholder 7" descr="Collection interface methods: Add, Remove, Search and Traverse">
            <a:extLst>
              <a:ext uri="{FF2B5EF4-FFF2-40B4-BE49-F238E27FC236}">
                <a16:creationId xmlns:a16="http://schemas.microsoft.com/office/drawing/2014/main" id="{8EB94F9A-ED94-A068-54A4-0789050CE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59738" y="1527022"/>
            <a:ext cx="7516027" cy="44230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988BFD-DEF7-A0DE-388C-B461DE9B273D}"/>
              </a:ext>
            </a:extLst>
          </p:cNvPr>
          <p:cNvSpPr txBox="1"/>
          <p:nvPr/>
        </p:nvSpPr>
        <p:spPr>
          <a:xfrm>
            <a:off x="8575765" y="2239328"/>
            <a:ext cx="13571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traverse</a:t>
            </a:r>
          </a:p>
        </p:txBody>
      </p:sp>
    </p:spTree>
    <p:extLst>
      <p:ext uri="{BB962C8B-B14F-4D97-AF65-F5344CB8AC3E}">
        <p14:creationId xmlns:p14="http://schemas.microsoft.com/office/powerpoint/2010/main" val="150039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E9338-800F-6542-B405-5EE8F9A0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FBA5-5ACB-BB69-86F1-8F0BB701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19.2 Java Collections Interface Hierarchy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6A7D2-88A7-BAAE-77F9-D8E0A91AE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7" name="Content Placeholder 6" descr="List Interface Methods: Add, AddAll, contains, constainsAll, get, remove, sort, listiterator, etc">
            <a:extLst>
              <a:ext uri="{FF2B5EF4-FFF2-40B4-BE49-F238E27FC236}">
                <a16:creationId xmlns:a16="http://schemas.microsoft.com/office/drawing/2014/main" id="{B0F3CBDE-EBD5-3709-18F7-DDE9DF3F0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1804" y="1451948"/>
            <a:ext cx="5232236" cy="4351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847C47-979C-DAF5-A9B6-BDACF8E66939}"/>
              </a:ext>
            </a:extLst>
          </p:cNvPr>
          <p:cNvSpPr txBox="1"/>
          <p:nvPr/>
        </p:nvSpPr>
        <p:spPr>
          <a:xfrm>
            <a:off x="6544491" y="1756002"/>
            <a:ext cx="509626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Operations:</a:t>
            </a:r>
          </a:p>
          <a:p>
            <a:r>
              <a:rPr lang="en-US" dirty="0"/>
              <a:t>Besides operations from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 operations using indexing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bidirectional traversal using the </a:t>
            </a:r>
            <a:r>
              <a:rPr lang="en-US" dirty="0" err="1"/>
              <a:t>listIterator</a:t>
            </a:r>
            <a:r>
              <a:rPr lang="en-US" dirty="0"/>
              <a:t>()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allows traversal starting from a specified index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 sorting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169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FCD4A-1319-8FC8-E2F4-F30AAF84C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A8EB-ED62-1FDC-1842-EFF6490AE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19.2 Java Collections Interface Hierarchy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417CAF-E982-6FEF-005B-93AE99B4C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8" name="Content Placeholder 7" descr="Queue interface: add, offer, remove, poll, element, peek">
            <a:extLst>
              <a:ext uri="{FF2B5EF4-FFF2-40B4-BE49-F238E27FC236}">
                <a16:creationId xmlns:a16="http://schemas.microsoft.com/office/drawing/2014/main" id="{A6F7B46D-0902-17AA-3489-E340D752B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80119" y="1976421"/>
            <a:ext cx="8346464" cy="327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92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E5869-BEFE-8E7B-33A0-0A1775458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7ED50-3245-BC7D-E835-CC5990B9E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19.2 Java Collections Interface Hierarchy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7072FC-EFFB-274C-7C6A-2DEFCD413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7" name="Content Placeholder 6" descr="Deque Interface:&#10;Add, addFirst, addLast, element, getFirst, getLast, offer, offerFirst, offerLast, peek, pll, remove, etc">
            <a:extLst>
              <a:ext uri="{FF2B5EF4-FFF2-40B4-BE49-F238E27FC236}">
                <a16:creationId xmlns:a16="http://schemas.microsoft.com/office/drawing/2014/main" id="{18178AC9-FC89-C247-AA9D-BFA5A34D9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02871" y="1482417"/>
            <a:ext cx="5390251" cy="454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89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8CDA6-16B9-5C09-B323-DF6A2C120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BE456-A27D-5466-F1C0-45A15947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19.2 Java Collections Interface Hierarchy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B6A68-5164-7F05-8040-04291FC99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8" name="Content Placeholder 7" descr="Set interface: add, clear, contains, iterator, remove, size, etc">
            <a:extLst>
              <a:ext uri="{FF2B5EF4-FFF2-40B4-BE49-F238E27FC236}">
                <a16:creationId xmlns:a16="http://schemas.microsoft.com/office/drawing/2014/main" id="{4460D401-0D5E-4084-A011-9BF166A8B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7466463" cy="42792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85A962-F9F4-F21C-E024-827EC2CE11B8}"/>
              </a:ext>
            </a:extLst>
          </p:cNvPr>
          <p:cNvSpPr txBox="1"/>
          <p:nvPr/>
        </p:nvSpPr>
        <p:spPr>
          <a:xfrm>
            <a:off x="8364372" y="1827745"/>
            <a:ext cx="27926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Operations: adding, removing, and searching for individual elements, as well as forward traversal, but its add operation does not specify where an element will be inserted.</a:t>
            </a:r>
          </a:p>
        </p:txBody>
      </p:sp>
    </p:spTree>
    <p:extLst>
      <p:ext uri="{BB962C8B-B14F-4D97-AF65-F5344CB8AC3E}">
        <p14:creationId xmlns:p14="http://schemas.microsoft.com/office/powerpoint/2010/main" val="2526049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10961-7A8B-05ED-51EC-65FB1D012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E049E-0064-775D-FEF8-1B7EEF532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19.2 Java Collections Interface Hierarchy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2AD6E8-DB76-43BA-A955-3D1F5E202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7" name="Content Placeholder 6" descr="SortedSet interface: comparator, first , headSet, last, subSet, tailSet">
            <a:extLst>
              <a:ext uri="{FF2B5EF4-FFF2-40B4-BE49-F238E27FC236}">
                <a16:creationId xmlns:a16="http://schemas.microsoft.com/office/drawing/2014/main" id="{82348076-C657-19C6-36A1-E595B4E1C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790533"/>
            <a:ext cx="8136606" cy="30253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4CAAB6-2611-659E-2291-AF11F961EB0B}"/>
              </a:ext>
            </a:extLst>
          </p:cNvPr>
          <p:cNvSpPr txBox="1"/>
          <p:nvPr/>
        </p:nvSpPr>
        <p:spPr>
          <a:xfrm>
            <a:off x="871927" y="4828082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sorts elements in ascending order using their natural ordering or a comparator specified during creation.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addition to operations from the Set interface, also provides methods to retrieve the first and last elements as well as a subset of elements within specified ranges.</a:t>
            </a:r>
          </a:p>
        </p:txBody>
      </p:sp>
    </p:spTree>
    <p:extLst>
      <p:ext uri="{BB962C8B-B14F-4D97-AF65-F5344CB8AC3E}">
        <p14:creationId xmlns:p14="http://schemas.microsoft.com/office/powerpoint/2010/main" val="3177417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4CF7E-2BF8-B767-E762-8B8FC223F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8790-86D3-6766-13E6-90B106758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19.2 Java Collections Interface Hierarchy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443A62-81FE-25DD-439B-FB398F50A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8" name="Content Placeholder 7" descr="NavigableSet: ceiling, floor, headSet, higher, lower, pollFirst, pollLast, subSet, tailSet, etc">
            <a:extLst>
              <a:ext uri="{FF2B5EF4-FFF2-40B4-BE49-F238E27FC236}">
                <a16:creationId xmlns:a16="http://schemas.microsoft.com/office/drawing/2014/main" id="{9DA7645D-E827-6A69-DA22-E1BBF989F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4473" y="1578373"/>
            <a:ext cx="6020936" cy="4351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A17385-9DF1-8CEE-2CAB-317B6E6E380B}"/>
              </a:ext>
            </a:extLst>
          </p:cNvPr>
          <p:cNvSpPr txBox="1"/>
          <p:nvPr/>
        </p:nvSpPr>
        <p:spPr>
          <a:xfrm>
            <a:off x="6631107" y="1578373"/>
            <a:ext cx="45668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Operations: in addition to operations from the </a:t>
            </a:r>
            <a:r>
              <a:rPr lang="en-US" dirty="0" err="1"/>
              <a:t>SortedSet</a:t>
            </a:r>
            <a:r>
              <a:rPr lang="en-US" dirty="0"/>
              <a:t> interface, also provide operations:</a:t>
            </a:r>
          </a:p>
          <a:p>
            <a:r>
              <a:rPr lang="en-US" dirty="0"/>
              <a:t>▸ searching and reporting the closest matches to a specified element </a:t>
            </a:r>
          </a:p>
          <a:p>
            <a:r>
              <a:rPr lang="en-US" dirty="0"/>
              <a:t>▸ removal of the lowest and highest elements </a:t>
            </a:r>
          </a:p>
          <a:p>
            <a:r>
              <a:rPr lang="en-US" dirty="0"/>
              <a:t>▸ traversing in descending order or obtaining a descending view of the set</a:t>
            </a:r>
          </a:p>
        </p:txBody>
      </p:sp>
    </p:spTree>
    <p:extLst>
      <p:ext uri="{BB962C8B-B14F-4D97-AF65-F5344CB8AC3E}">
        <p14:creationId xmlns:p14="http://schemas.microsoft.com/office/powerpoint/2010/main" val="3601647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CAA1-6AFC-9722-F8D0-7C869D1D7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F747-FB61-8C65-EA1B-C9FCADAED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19.2 Java Collections Interface Hierarchy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D59276-E90A-609E-2AFF-A7792BC60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7" name="Content Placeholder 6" descr="Map: computer, containsKey, containsValue, entrySet, get, ketSet, merge, put, remove, replace, etc">
            <a:extLst>
              <a:ext uri="{FF2B5EF4-FFF2-40B4-BE49-F238E27FC236}">
                <a16:creationId xmlns:a16="http://schemas.microsoft.com/office/drawing/2014/main" id="{F9D48758-4752-5AA5-461F-3DCD179EE3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4473" y="1456074"/>
            <a:ext cx="4957671" cy="4351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CF727D-0B69-708E-0060-A8FB2F02EE28}"/>
              </a:ext>
            </a:extLst>
          </p:cNvPr>
          <p:cNvSpPr txBox="1"/>
          <p:nvPr/>
        </p:nvSpPr>
        <p:spPr>
          <a:xfrm>
            <a:off x="5860008" y="1533058"/>
            <a:ext cx="52219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key must be unique and is typically immutable.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for adding, removing, searching, retrieving, and updating elements</a:t>
            </a:r>
          </a:p>
        </p:txBody>
      </p:sp>
    </p:spTree>
    <p:extLst>
      <p:ext uri="{BB962C8B-B14F-4D97-AF65-F5344CB8AC3E}">
        <p14:creationId xmlns:p14="http://schemas.microsoft.com/office/powerpoint/2010/main" val="2870528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87997-852C-9F8C-8390-A22C3182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DF64E-F65A-01B1-D1D5-0A67E3025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19.2 Java Collections Interface Hierarchy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1BEC94-1A5D-0E6C-A658-15A0CD3F2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BEA1E3-75FC-A997-BD57-1D1032CEEE3D}"/>
              </a:ext>
            </a:extLst>
          </p:cNvPr>
          <p:cNvSpPr txBox="1"/>
          <p:nvPr/>
        </p:nvSpPr>
        <p:spPr>
          <a:xfrm>
            <a:off x="1624653" y="4928353"/>
            <a:ext cx="80789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SortedMap</a:t>
            </a:r>
            <a:r>
              <a:rPr lang="en-US" dirty="0"/>
              <a:t> organizes keys in ascending order, using either their natural ordering or a comparator defined by the user.</a:t>
            </a:r>
          </a:p>
        </p:txBody>
      </p:sp>
      <p:pic>
        <p:nvPicPr>
          <p:cNvPr id="22" name="Content Placeholder 21" descr="SortedMap interface: comparator, entrySet, firstKey, headMap, ketSet, lastKey, subMap, tailMap, values">
            <a:extLst>
              <a:ext uri="{FF2B5EF4-FFF2-40B4-BE49-F238E27FC236}">
                <a16:creationId xmlns:a16="http://schemas.microsoft.com/office/drawing/2014/main" id="{0920171B-6535-4FFD-3945-5E7B46804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30388" y="1690688"/>
            <a:ext cx="6839905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543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A8C0A-D051-3C7F-0E4E-8CA35E3F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F64F6-99D7-42EC-0806-A39F610C5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19.2 Java Collections Interface Hierarchy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D74BD8-7846-6AFE-A052-EAFB08797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12" name="Content Placeholder 11" descr="NavigableMap: ceilingEntry, ceilingKey, firstEntry, floorEntry, headMap, higherKey, lastEntry, pollFirstEntry, pollLastEntry, subMap, etc">
            <a:extLst>
              <a:ext uri="{FF2B5EF4-FFF2-40B4-BE49-F238E27FC236}">
                <a16:creationId xmlns:a16="http://schemas.microsoft.com/office/drawing/2014/main" id="{A7B97D14-28FD-E4F1-A30B-0ED5DA0CC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1214" y="1575416"/>
            <a:ext cx="4770145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068883-6048-A2EE-E56E-C394E24979EF}"/>
              </a:ext>
            </a:extLst>
          </p:cNvPr>
          <p:cNvSpPr txBox="1"/>
          <p:nvPr/>
        </p:nvSpPr>
        <p:spPr>
          <a:xfrm>
            <a:off x="5874373" y="1690688"/>
            <a:ext cx="494901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Operations: in addition to operations from the </a:t>
            </a:r>
            <a:r>
              <a:rPr lang="en-US" dirty="0" err="1"/>
              <a:t>SortedMap</a:t>
            </a:r>
            <a:r>
              <a:rPr lang="en-US" dirty="0"/>
              <a:t> interface, also provide operations:</a:t>
            </a:r>
          </a:p>
          <a:p>
            <a:r>
              <a:rPr lang="en-US" dirty="0"/>
              <a:t>▸ searching and reporting the closest matches to a specified key </a:t>
            </a:r>
          </a:p>
          <a:p>
            <a:r>
              <a:rPr lang="en-US" dirty="0"/>
              <a:t>▸ removal of the lowest and highest elements </a:t>
            </a:r>
          </a:p>
          <a:p>
            <a:r>
              <a:rPr lang="en-US" dirty="0"/>
              <a:t>▸ traversing in descending order or obtaining a descending view of the map</a:t>
            </a:r>
          </a:p>
        </p:txBody>
      </p:sp>
    </p:spTree>
    <p:extLst>
      <p:ext uri="{BB962C8B-B14F-4D97-AF65-F5344CB8AC3E}">
        <p14:creationId xmlns:p14="http://schemas.microsoft.com/office/powerpoint/2010/main" val="914378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BE83D4-D99B-A6AF-7B71-14362E4CF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97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9E067-4A6B-BDFC-412A-025B222DD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2F3325-9691-3648-D891-82529A1C2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3" y="0"/>
            <a:ext cx="1217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310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72B14-7FBD-72EA-E245-B5B839001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E0D3-8972-8285-245F-AB5E9CE4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19.3 Implementations of Java Collections Interfaces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21490-DC67-4239-C0A3-CA69DF741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5" name="Content Placeholder 4" descr="Java Collections Interface Hierarchy:&#10;Collection: &#10;List: &#10;Queue: &#10;Deque: &#10;Set: &#10;SortedSet and NavigableSet: &#10;Map:&#10;SortedMap and NavigableMap">
            <a:extLst>
              <a:ext uri="{FF2B5EF4-FFF2-40B4-BE49-F238E27FC236}">
                <a16:creationId xmlns:a16="http://schemas.microsoft.com/office/drawing/2014/main" id="{3FBAC5B2-AEC4-5C95-160A-0D82FB241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05790" y="1584408"/>
            <a:ext cx="8229090" cy="433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28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D04C-8BBF-E20D-E29B-6E5080889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2D97E-8231-47A9-918E-884A0A44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19.3 Implementations of Java Collections Interfaces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FB06C6-2819-C795-379E-B6B5884E0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8" name="Content Placeholder 7" descr="ArrayArrayList: &#10;- implemented using array&#10;- random access is O(1)&#10;- uses contiguous blocks of memory on the heap&#10;- may experience performance issues when large blocks of contiguous memory need to be freed by the garbage collector&#10;- O(n) time for removing or adding elements at the front&#10;List vs LinkedList&#10;LinkedList: &#10;- implemented using linked nodes&#10;- random access is O(n)&#10;- uses non-contiguous memory&#10;- O(1) additions or removals at both ends&#10;">
            <a:extLst>
              <a:ext uri="{FF2B5EF4-FFF2-40B4-BE49-F238E27FC236}">
                <a16:creationId xmlns:a16="http://schemas.microsoft.com/office/drawing/2014/main" id="{17EB0D89-46BF-5E3C-6547-9C5213D6B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16614" y="1690688"/>
            <a:ext cx="8561106" cy="382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81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33D3A-BE87-43FF-F05A-0C32922C2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5016C-F11C-8379-F932-413B1CF40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19.3 Implementations of Java Collections Interfaces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13075E-ECE8-8FCC-4276-284C9DD2D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7" name="Content Placeholder 6" descr="Core Concept: HashSet vs TreeSet vs LinkedHashSet&#10;Implemented Set interface: All.&#10;HashSet: &#10;- does not preserve any specific ordering&#10;- O(1) for adding, removing, and searching elements&#10;TreeSet: &#10;- arranges its elements in ascending order&#10;- O(log n) for adding, removing, and searching elements&#10;LinkedHashSet: &#10;- preserves the order of insertion&#10;- O(1) for adding, removing, and searching elements, but slightly slower than HashSet&#10;- No concern of initial capacity size&#10;">
            <a:extLst>
              <a:ext uri="{FF2B5EF4-FFF2-40B4-BE49-F238E27FC236}">
                <a16:creationId xmlns:a16="http://schemas.microsoft.com/office/drawing/2014/main" id="{37621F96-9835-2E24-C0E9-140F2E857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24620" y="2166761"/>
            <a:ext cx="7605938" cy="309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6E5DA-8F7E-7B75-AF78-40EBAC769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A38F-B2CE-7AA7-36D3-C777F424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19.3 Implementations of Java Collections Interfaces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7CF50-498B-134C-EF7B-D99477F5B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pic>
        <p:nvPicPr>
          <p:cNvPr id="8" name="Content Placeholder 7" descr="Core Concept: HashMap vs TreeMap vs LinkedHashMap&#10;Implemented Set interface: All.&#10;HashMap: &#10;- does not preserve any specific ordering&#10;- O(1) for adding, removing, and searching elements&#10;TreeMap: &#10;- arranges its elements in ascending order&#10;- O(log n) for adding, removing, and searching elements&#10;LinkedHashMap: &#10;- preserves the order of insertion&#10;- O(1) for adding, removing, and searching elements, but slightly slower than HashMap&#10;- No concern of initial capacity size&#10;- has the advantage to override the insertion order by using a policy based on least recently accessed to most recently accessed entries&#10;">
            <a:extLst>
              <a:ext uri="{FF2B5EF4-FFF2-40B4-BE49-F238E27FC236}">
                <a16:creationId xmlns:a16="http://schemas.microsoft.com/office/drawing/2014/main" id="{A3184628-2BC1-FDF2-328B-281916BAB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19481" y="2206256"/>
            <a:ext cx="7427800" cy="324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10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E80F-3859-E401-3E27-808DFFE57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9BD7-4050-24B7-88F1-7F277F01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19.4 List Implementation Usage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9E502F-F90E-267F-663E-F1F046D00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07A156-EE3F-3652-138F-469B56388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27" y="1599565"/>
            <a:ext cx="10515600" cy="4351338"/>
          </a:xfrm>
        </p:spPr>
        <p:txBody>
          <a:bodyPr/>
          <a:lstStyle/>
          <a:p>
            <a:r>
              <a:rPr lang="en-US" dirty="0" err="1"/>
              <a:t>JavaCollectionList</a:t>
            </a:r>
            <a:r>
              <a:rPr lang="en-US" dirty="0"/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2294231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FFAD3-D6AD-7F32-7769-7EC183F93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651E4-B118-5F13-C15C-AC1871793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19.5 Deque Implementation Usage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981649-1BE7-CCAE-8FFB-4DFDAFC05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852E86-BBB4-4BF7-AA18-699F2C45A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27" y="1599565"/>
            <a:ext cx="10515600" cy="4351338"/>
          </a:xfrm>
        </p:spPr>
        <p:txBody>
          <a:bodyPr/>
          <a:lstStyle/>
          <a:p>
            <a:r>
              <a:rPr lang="en-US" dirty="0" err="1"/>
              <a:t>JavaCollectionDeque</a:t>
            </a:r>
            <a:r>
              <a:rPr lang="en-US" dirty="0"/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2705230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0EE0D-4271-40CF-AD55-D5CF64BC6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4D99D-CA32-3466-5643-9D019487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19.6 Set Implementations Usage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833FC5-0182-85D1-E1B6-868A8BFD0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E46E20-A14D-DD74-621D-16C8C21FC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27" y="1599565"/>
            <a:ext cx="10515600" cy="4351338"/>
          </a:xfrm>
        </p:spPr>
        <p:txBody>
          <a:bodyPr/>
          <a:lstStyle/>
          <a:p>
            <a:r>
              <a:rPr lang="en-US" dirty="0" err="1"/>
              <a:t>JavaCollectionSet</a:t>
            </a:r>
            <a:r>
              <a:rPr lang="en-US" dirty="0"/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91115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B25C7-8759-D8B3-0C19-DB87AFC9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C271-5364-8B2B-5E1F-3956892F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19.7 Map Implementations Usage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34336F-BB53-097E-BD0D-D04173450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EFE508-B859-853F-F9FA-678E5D84E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27" y="1599565"/>
            <a:ext cx="10515600" cy="4351338"/>
          </a:xfrm>
        </p:spPr>
        <p:txBody>
          <a:bodyPr/>
          <a:lstStyle/>
          <a:p>
            <a:r>
              <a:rPr lang="en-US" dirty="0" err="1"/>
              <a:t>JavaCollectionMap</a:t>
            </a:r>
            <a:r>
              <a:rPr lang="en-US" dirty="0"/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799063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2FA7E-12A7-DE6D-432E-99E9A5F3D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FD339-265B-2C3E-579D-2E708B817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19.8 </a:t>
            </a:r>
            <a:r>
              <a:rPr lang="en-US" dirty="0" err="1"/>
              <a:t>PriorityQueue</a:t>
            </a:r>
            <a:r>
              <a:rPr lang="en-US" dirty="0"/>
              <a:t> Usage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162AF5-7BAB-511C-1D5A-69195A2DB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5FA5C1-276E-9D36-5B6B-9C37B93D3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27" y="1599565"/>
            <a:ext cx="10515600" cy="4351338"/>
          </a:xfrm>
        </p:spPr>
        <p:txBody>
          <a:bodyPr/>
          <a:lstStyle/>
          <a:p>
            <a:r>
              <a:rPr lang="en-US" dirty="0" err="1"/>
              <a:t>JavaCollectionPriorityQueue</a:t>
            </a:r>
            <a:r>
              <a:rPr lang="en-US" dirty="0"/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4020790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BB04B-7850-152B-300E-415533CF4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DB190-E0F6-70D8-7D83-AB9528A4F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19.9 Algorithms in the Framework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1AB07-F777-2ACE-FC7A-27EC95F46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2BD926-9D24-F609-5370-5B1ED4958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27" y="1599565"/>
            <a:ext cx="10515600" cy="4351338"/>
          </a:xfrm>
        </p:spPr>
        <p:txBody>
          <a:bodyPr/>
          <a:lstStyle/>
          <a:p>
            <a:r>
              <a:rPr lang="en-US" dirty="0" err="1"/>
              <a:t>JavaCollectionApp</a:t>
            </a:r>
            <a:r>
              <a:rPr lang="en-US" dirty="0"/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7961823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7A0C1-96CB-9685-FFAC-A1E6408F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A8034-70B2-F94D-6449-D514E123E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National Park is it?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C348B7-E159-19EC-3385-C122B8DE6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73" y="6028411"/>
            <a:ext cx="10583054" cy="56697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735773-D704-E7DC-EA8D-977BD5E92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27" y="1599565"/>
            <a:ext cx="10515600" cy="4351338"/>
          </a:xfrm>
        </p:spPr>
        <p:txBody>
          <a:bodyPr/>
          <a:lstStyle/>
          <a:p>
            <a:r>
              <a:rPr lang="en-US" dirty="0"/>
              <a:t>Answer: Rocky Mountain National Park</a:t>
            </a:r>
          </a:p>
        </p:txBody>
      </p:sp>
    </p:spTree>
    <p:extLst>
      <p:ext uri="{BB962C8B-B14F-4D97-AF65-F5344CB8AC3E}">
        <p14:creationId xmlns:p14="http://schemas.microsoft.com/office/powerpoint/2010/main" val="3654548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3763</TotalTime>
  <Words>603</Words>
  <Application>Microsoft Office PowerPoint</Application>
  <PresentationFormat>Widescreen</PresentationFormat>
  <Paragraphs>84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Courier New</vt:lpstr>
      <vt:lpstr>Wingdings</vt:lpstr>
      <vt:lpstr>Office Theme</vt:lpstr>
      <vt:lpstr>PowerPoint Presentation</vt:lpstr>
      <vt:lpstr>Java OOP and Data Structures with Introduction to Secure Coding Dr. Ziping Liu  </vt:lpstr>
      <vt:lpstr>https://he.kendallhunt.com/product/java-oop-and-data-structures-introduction-secure-coding  </vt:lpstr>
      <vt:lpstr>Chapter Outlines</vt:lpstr>
      <vt:lpstr>19.1 What Is Java Collections Framework?</vt:lpstr>
      <vt:lpstr>19.2 Java Collections Interface Hierarchy</vt:lpstr>
      <vt:lpstr>19.2 Java Collections Interface Hierarchy</vt:lpstr>
      <vt:lpstr>19.2 Java Collections Interface Hierarchy</vt:lpstr>
      <vt:lpstr>19.2 Java Collections Interface Hierarchy</vt:lpstr>
      <vt:lpstr>19.2 Java Collections Interface Hierarchy</vt:lpstr>
      <vt:lpstr>19.2 Java Collections Interface Hierarchy</vt:lpstr>
      <vt:lpstr>19.2 Java Collections Interface Hierarchy</vt:lpstr>
      <vt:lpstr>19.2 Java Collections Interface Hierarchy</vt:lpstr>
      <vt:lpstr>19.2 Java Collections Interface Hierarchy</vt:lpstr>
      <vt:lpstr>19.2 Java Collections Interface Hierarchy</vt:lpstr>
      <vt:lpstr>19.2 Java Collections Interface Hierarchy</vt:lpstr>
      <vt:lpstr>19.2 Java Collections Interface Hierarchy</vt:lpstr>
      <vt:lpstr>PowerPoint Presentation</vt:lpstr>
      <vt:lpstr>PowerPoint Presentation</vt:lpstr>
      <vt:lpstr>19.3 Implementations of Java Collections Interfaces</vt:lpstr>
      <vt:lpstr>19.3 Implementations of Java Collections Interfaces</vt:lpstr>
      <vt:lpstr>19.3 Implementations of Java Collections Interfaces</vt:lpstr>
      <vt:lpstr>19.3 Implementations of Java Collections Interfaces</vt:lpstr>
      <vt:lpstr>19.4 List Implementation Usage</vt:lpstr>
      <vt:lpstr>19.5 Deque Implementation Usage</vt:lpstr>
      <vt:lpstr>19.6 Set Implementations Usage</vt:lpstr>
      <vt:lpstr>19.7 Map Implementations Usage</vt:lpstr>
      <vt:lpstr>19.8 PriorityQueue Usage</vt:lpstr>
      <vt:lpstr>19.9 Algorithms in the Framework</vt:lpstr>
      <vt:lpstr>Which National Park is it?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Ziping</dc:creator>
  <cp:lastModifiedBy>Liu, Ziping</cp:lastModifiedBy>
  <cp:revision>383</cp:revision>
  <dcterms:created xsi:type="dcterms:W3CDTF">2025-01-08T14:48:28Z</dcterms:created>
  <dcterms:modified xsi:type="dcterms:W3CDTF">2026-09-15T16:02:40Z</dcterms:modified>
</cp:coreProperties>
</file>