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318" r:id="rId2"/>
    <p:sldId id="292" r:id="rId3"/>
    <p:sldId id="387" r:id="rId4"/>
    <p:sldId id="258" r:id="rId5"/>
    <p:sldId id="369" r:id="rId6"/>
    <p:sldId id="410" r:id="rId7"/>
    <p:sldId id="411" r:id="rId8"/>
    <p:sldId id="412" r:id="rId9"/>
    <p:sldId id="413" r:id="rId10"/>
    <p:sldId id="414" r:id="rId11"/>
    <p:sldId id="415" r:id="rId12"/>
    <p:sldId id="431" r:id="rId13"/>
    <p:sldId id="416" r:id="rId14"/>
    <p:sldId id="417" r:id="rId15"/>
    <p:sldId id="418" r:id="rId16"/>
    <p:sldId id="419" r:id="rId17"/>
    <p:sldId id="420" r:id="rId18"/>
    <p:sldId id="421" r:id="rId19"/>
    <p:sldId id="422" r:id="rId20"/>
    <p:sldId id="408" r:id="rId21"/>
    <p:sldId id="409" r:id="rId22"/>
    <p:sldId id="423" r:id="rId23"/>
    <p:sldId id="424" r:id="rId24"/>
    <p:sldId id="425" r:id="rId25"/>
    <p:sldId id="426" r:id="rId26"/>
    <p:sldId id="427" r:id="rId27"/>
    <p:sldId id="428" r:id="rId28"/>
    <p:sldId id="429" r:id="rId29"/>
    <p:sldId id="430" r:id="rId30"/>
    <p:sldId id="40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56" autoAdjust="0"/>
    <p:restoredTop sz="94552" autoAdjust="0"/>
  </p:normalViewPr>
  <p:slideViewPr>
    <p:cSldViewPr snapToGrid="0">
      <p:cViewPr varScale="1">
        <p:scale>
          <a:sx n="67" d="100"/>
          <a:sy n="67" d="100"/>
        </p:scale>
        <p:origin x="39"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BE90D-6443-45D5-AB73-6A7D0CBCCF85}"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E0D21F2D-1907-45F1-9B93-BB1762A94325}" type="pres">
      <dgm:prSet presAssocID="{2FDBE90D-6443-45D5-AB73-6A7D0CBCCF85}" presName="matrix" presStyleCnt="0">
        <dgm:presLayoutVars>
          <dgm:chMax val="1"/>
          <dgm:dir/>
          <dgm:resizeHandles val="exact"/>
        </dgm:presLayoutVars>
      </dgm:prSet>
      <dgm:spPr/>
    </dgm:pt>
  </dgm:ptLst>
  <dgm:cxnLst>
    <dgm:cxn modelId="{0ED6465E-DA6A-4410-A68E-A5C5BDC5C01F}" type="presOf" srcId="{2FDBE90D-6443-45D5-AB73-6A7D0CBCCF85}" destId="{E0D21F2D-1907-45F1-9B93-BB1762A94325}" srcOrd="0"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FCED8-506F-49AF-BE73-3D1A33480DE3}"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94981-F5B7-436B-9962-151FBDD8AD94}" type="slidenum">
              <a:rPr lang="en-US" smtClean="0"/>
              <a:t>‹#›</a:t>
            </a:fld>
            <a:endParaRPr lang="en-US"/>
          </a:p>
        </p:txBody>
      </p:sp>
    </p:spTree>
    <p:extLst>
      <p:ext uri="{BB962C8B-B14F-4D97-AF65-F5344CB8AC3E}">
        <p14:creationId xmlns:p14="http://schemas.microsoft.com/office/powerpoint/2010/main" val="172942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4</a:t>
            </a:fld>
            <a:endParaRPr lang="en-US"/>
          </a:p>
        </p:txBody>
      </p:sp>
    </p:spTree>
    <p:extLst>
      <p:ext uri="{BB962C8B-B14F-4D97-AF65-F5344CB8AC3E}">
        <p14:creationId xmlns:p14="http://schemas.microsoft.com/office/powerpoint/2010/main" val="3845838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99E3-8D9F-3F5B-0308-7F5329DEA5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A90651-91C2-BA19-35EC-A04BA9FD11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1DD5A-2112-6235-85DC-B1B299E85056}"/>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5CBA9076-7565-CDA6-EDBA-EC2961545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AC44E-B761-B97D-C746-ECAB6BB965D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30652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E6AC-BA0C-3CB0-A332-C14B281CD8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267869-5FC6-53F4-7BC6-5136E5507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B6CE0-9019-D821-C2F3-C78CF2C5C3FE}"/>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AEF96E9F-D2BE-3C4A-D26A-F7C5A5D11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8CC43-53EB-84ED-63B3-9A3403CEEF7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890431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D887-4D96-118D-73A2-1C895A67BD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B085A-425F-FD3C-BC71-9A29495F90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4329D-6798-F07C-D487-6101B49A24AE}"/>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1C3F25C4-C66D-4341-42FF-9C7C602AD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18A81-8750-B962-F8C6-6DA1403A7433}"/>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0800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D042-266E-A796-1A36-96B70B229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36A0C-4A74-A126-7A99-F06853058B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5CC16C-9EAC-FE9F-396B-0241F7962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39D6F5-EFBE-6874-ED24-0A51C2684C6B}"/>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6" name="Footer Placeholder 5">
            <a:extLst>
              <a:ext uri="{FF2B5EF4-FFF2-40B4-BE49-F238E27FC236}">
                <a16:creationId xmlns:a16="http://schemas.microsoft.com/office/drawing/2014/main" id="{3ED1EDD0-9CCB-FAD1-C4F2-4E43F03FD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613EA-8DBD-A257-A690-042711A7B68E}"/>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66483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ACE6-F826-5B66-2371-F2D502554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D56492-1758-D69A-3E6F-15261B003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BD8565-447E-7044-9CE0-673F60DC2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3E43F8-3C42-54CA-4E92-F6A3940F2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A97A32-71E6-549D-B127-599697995C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8A95A3-01EC-6EF0-5031-5E525E62D5C5}"/>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8" name="Footer Placeholder 7">
            <a:extLst>
              <a:ext uri="{FF2B5EF4-FFF2-40B4-BE49-F238E27FC236}">
                <a16:creationId xmlns:a16="http://schemas.microsoft.com/office/drawing/2014/main" id="{E6274BE6-33F4-D96C-2405-87AEFEDCC6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FB891F-BE7B-C13D-681A-2C793B09D169}"/>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7209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5743-E60C-78E3-4219-5712DC7044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6DF502-5BB8-D822-01D7-20936C34EFBD}"/>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4" name="Footer Placeholder 3">
            <a:extLst>
              <a:ext uri="{FF2B5EF4-FFF2-40B4-BE49-F238E27FC236}">
                <a16:creationId xmlns:a16="http://schemas.microsoft.com/office/drawing/2014/main" id="{8955FAD0-C9E9-80E2-6DFA-0BC166AE63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4DCEC0-8357-5413-2403-9992319E81C6}"/>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98038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9867B-72CF-0811-E65E-1F1A0A928E47}"/>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3" name="Footer Placeholder 2">
            <a:extLst>
              <a:ext uri="{FF2B5EF4-FFF2-40B4-BE49-F238E27FC236}">
                <a16:creationId xmlns:a16="http://schemas.microsoft.com/office/drawing/2014/main" id="{6B848B39-123B-5C1E-0B64-6FC3E2859D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A3C226-40C4-ED8E-9C41-87B4E082F180}"/>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127302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E48C-0492-969D-5358-C6C95D650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47FBA1-E0E8-57D0-829D-823FB90F4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7BB11-40DB-E7BF-59DE-E5088FC55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79E303-25F7-D260-0C1E-1C5D9A968060}"/>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6" name="Footer Placeholder 5">
            <a:extLst>
              <a:ext uri="{FF2B5EF4-FFF2-40B4-BE49-F238E27FC236}">
                <a16:creationId xmlns:a16="http://schemas.microsoft.com/office/drawing/2014/main" id="{9687058F-FFC4-BC2B-7574-A9DB1D7F5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A0D607-D6DB-9EBE-6590-0B6F3CFD7434}"/>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408245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B2A1-BC34-EA9A-859D-059A7A66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26546-3C25-49A1-3B36-715D1745D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F8061-0760-C9C3-320B-EAD574AF2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27B0-28E5-1E67-61B0-C32CC09E5C18}"/>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6" name="Footer Placeholder 5">
            <a:extLst>
              <a:ext uri="{FF2B5EF4-FFF2-40B4-BE49-F238E27FC236}">
                <a16:creationId xmlns:a16="http://schemas.microsoft.com/office/drawing/2014/main" id="{85B7E62B-ABB9-605C-5E4E-9BF3E4FF7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D59CD-E644-8A47-6C41-35307D327D2F}"/>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7565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1B45-B749-84F1-7E0D-232A8B6C57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325F5B-9932-7B22-3C88-08AD57BC2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74961-E805-FB33-5A16-E0CFA37168BE}"/>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CD59018F-11E0-CA53-A68B-C731CC509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87CFC-CA41-1297-94D3-F89EC65DA8CD}"/>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5938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B2452-1456-A52C-F8D5-3234E07ED5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D70949-F825-32B2-260B-674118F1E7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E993F-73E9-E7AE-2ED3-3D288F24A0BA}"/>
              </a:ext>
            </a:extLst>
          </p:cNvPr>
          <p:cNvSpPr>
            <a:spLocks noGrp="1"/>
          </p:cNvSpPr>
          <p:nvPr>
            <p:ph type="dt" sz="half" idx="10"/>
          </p:nvPr>
        </p:nvSpPr>
        <p:spPr/>
        <p:txBody>
          <a:body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30306DBD-D9C7-84D2-27D0-26FD2568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78735-00EC-3CA0-1B73-68A025E39AC1}"/>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30626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BA9FD8-0BA2-A466-EEFA-529DB25161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8B1EC5-F665-6631-6BF9-22FB9539D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F9369-7ED6-38A0-734A-DD110F926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E8669A-962F-4ACD-AB1E-07597AA7AD56}" type="datetimeFigureOut">
              <a:rPr lang="en-US" smtClean="0"/>
              <a:t>9/15/2026</a:t>
            </a:fld>
            <a:endParaRPr lang="en-US"/>
          </a:p>
        </p:txBody>
      </p:sp>
      <p:sp>
        <p:nvSpPr>
          <p:cNvPr id="5" name="Footer Placeholder 4">
            <a:extLst>
              <a:ext uri="{FF2B5EF4-FFF2-40B4-BE49-F238E27FC236}">
                <a16:creationId xmlns:a16="http://schemas.microsoft.com/office/drawing/2014/main" id="{88CB8940-D37A-E1F1-4E91-FF221089D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686E2C-CD23-0AB2-1973-F43BEF1BE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C5ECDF-75F7-4588-A97A-7139A51418D4}" type="slidenum">
              <a:rPr lang="en-US" smtClean="0"/>
              <a:t>‹#›</a:t>
            </a:fld>
            <a:endParaRPr lang="en-US"/>
          </a:p>
        </p:txBody>
      </p:sp>
    </p:spTree>
    <p:extLst>
      <p:ext uri="{BB962C8B-B14F-4D97-AF65-F5344CB8AC3E}">
        <p14:creationId xmlns:p14="http://schemas.microsoft.com/office/powerpoint/2010/main" val="309432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book cover with book title: Java OOP and Data Structures with Introduction of Secure Coding">
            <a:extLst>
              <a:ext uri="{FF2B5EF4-FFF2-40B4-BE49-F238E27FC236}">
                <a16:creationId xmlns:a16="http://schemas.microsoft.com/office/drawing/2014/main" id="{9B42642B-877C-E7C7-3675-E381E528B9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8070" y="224790"/>
            <a:ext cx="4975860" cy="6408420"/>
          </a:xfrm>
          <a:prstGeom prst="rect">
            <a:avLst/>
          </a:prstGeom>
        </p:spPr>
      </p:pic>
    </p:spTree>
    <p:extLst>
      <p:ext uri="{BB962C8B-B14F-4D97-AF65-F5344CB8AC3E}">
        <p14:creationId xmlns:p14="http://schemas.microsoft.com/office/powerpoint/2010/main" val="421453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45D94A-2E11-1A07-F482-34C78E7E9672}"/>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39BEE-D294-2EA5-D0F5-60C09B090F50}"/>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Java OOP and Data Structures with Introduction to Secure Coding</a:t>
            </a:r>
            <a:br>
              <a:rPr lang="en-US" sz="3100" dirty="0">
                <a:solidFill>
                  <a:schemeClr val="tx2"/>
                </a:solidFill>
              </a:rPr>
            </a:br>
            <a:r>
              <a:rPr lang="en-US" sz="3100" dirty="0">
                <a:solidFill>
                  <a:schemeClr val="tx2"/>
                </a:solidFill>
              </a:rPr>
              <a:t>Dr. Ziping Liu</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descr="Chapter 20 AVL Trees">
            <a:extLst>
              <a:ext uri="{FF2B5EF4-FFF2-40B4-BE49-F238E27FC236}">
                <a16:creationId xmlns:a16="http://schemas.microsoft.com/office/drawing/2014/main" id="{68016C7C-AFDA-B667-C485-59B533AEF141}"/>
              </a:ext>
            </a:extLst>
          </p:cNvPr>
          <p:cNvPicPr>
            <a:picLocks noChangeAspect="1"/>
          </p:cNvPicPr>
          <p:nvPr/>
        </p:nvPicPr>
        <p:blipFill>
          <a:blip r:embed="rId2">
            <a:extLst>
              <a:ext uri="{28A0092B-C50C-407E-A947-70E740481C1C}">
                <a14:useLocalDpi xmlns:a14="http://schemas.microsoft.com/office/drawing/2010/main" val="0"/>
              </a:ext>
            </a:extLst>
          </a:blip>
          <a:srcRect t="5788" b="5788"/>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550E9AA5-3AB6-7CA8-2E88-05185371D2C6}"/>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20 AVL Trees</a:t>
            </a:r>
          </a:p>
        </p:txBody>
      </p:sp>
    </p:spTree>
    <p:extLst>
      <p:ext uri="{BB962C8B-B14F-4D97-AF65-F5344CB8AC3E}">
        <p14:creationId xmlns:p14="http://schemas.microsoft.com/office/powerpoint/2010/main" val="397603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FC191F-D105-8A4A-578D-5B3F197F35A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3A6B14A-92E1-15D5-0859-4CF0D14C7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DC526B-38F2-0A10-9DE0-F5C4856C400F}"/>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https://he.kendallhunt.com/product/java-oop-and-data-structures-introduction-secure-coding</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descr="Chapter 20 AVL Trees">
            <a:extLst>
              <a:ext uri="{FF2B5EF4-FFF2-40B4-BE49-F238E27FC236}">
                <a16:creationId xmlns:a16="http://schemas.microsoft.com/office/drawing/2014/main" id="{6CE13444-0372-8378-2CD4-5DA819DC30D2}"/>
              </a:ext>
            </a:extLst>
          </p:cNvPr>
          <p:cNvPicPr>
            <a:picLocks noChangeAspect="1"/>
          </p:cNvPicPr>
          <p:nvPr/>
        </p:nvPicPr>
        <p:blipFill>
          <a:blip r:embed="rId2">
            <a:extLst>
              <a:ext uri="{28A0092B-C50C-407E-A947-70E740481C1C}">
                <a14:useLocalDpi xmlns:a14="http://schemas.microsoft.com/office/drawing/2010/main" val="0"/>
              </a:ext>
            </a:extLst>
          </a:blip>
          <a:srcRect t="5788" b="5788"/>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5715C489-B5E2-5428-43B1-349FE95747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97059834-0800-EFC9-8D5D-F7CA9BF31C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F9AB83BF-2BE4-4621-3FBA-37CD860D2E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DA2168C-5D43-2BCD-63EF-A324DC2CA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B878EF-70FC-3351-24CA-EAB8E5C82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13052117-AA4F-821C-428C-6BA9B0EB9AA1}"/>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20 AVL Trees</a:t>
            </a:r>
          </a:p>
        </p:txBody>
      </p:sp>
    </p:spTree>
    <p:extLst>
      <p:ext uri="{BB962C8B-B14F-4D97-AF65-F5344CB8AC3E}">
        <p14:creationId xmlns:p14="http://schemas.microsoft.com/office/powerpoint/2010/main" val="15895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9BF0A-0571-3AE4-329B-7FDD247C4A47}"/>
              </a:ext>
            </a:extLst>
          </p:cNvPr>
          <p:cNvSpPr>
            <a:spLocks noGrp="1"/>
          </p:cNvSpPr>
          <p:nvPr>
            <p:ph type="title"/>
          </p:nvPr>
        </p:nvSpPr>
        <p:spPr/>
        <p:txBody>
          <a:bodyPr/>
          <a:lstStyle/>
          <a:p>
            <a:r>
              <a:rPr lang="en-US" dirty="0"/>
              <a:t>Chapter Outlines</a:t>
            </a:r>
          </a:p>
        </p:txBody>
      </p:sp>
      <p:pic>
        <p:nvPicPr>
          <p:cNvPr id="5" name="Picture 4">
            <a:extLst>
              <a:ext uri="{FF2B5EF4-FFF2-40B4-BE49-F238E27FC236}">
                <a16:creationId xmlns:a16="http://schemas.microsoft.com/office/drawing/2014/main" id="{F6984F35-20A0-78B6-C0D7-3446E8B5E50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4357" y="5891173"/>
            <a:ext cx="10579443" cy="571580"/>
          </a:xfrm>
          <a:prstGeom prst="rect">
            <a:avLst/>
          </a:prstGeom>
        </p:spPr>
      </p:pic>
      <p:graphicFrame>
        <p:nvGraphicFramePr>
          <p:cNvPr id="9" name="Content Placeholder 8">
            <a:extLst>
              <a:ext uri="{FF2B5EF4-FFF2-40B4-BE49-F238E27FC236}">
                <a16:creationId xmlns:a16="http://schemas.microsoft.com/office/drawing/2014/main" id="{CA9A291D-AFBA-B921-9197-A2EF55DD2996}"/>
              </a:ext>
            </a:extLst>
          </p:cNvPr>
          <p:cNvGraphicFramePr>
            <a:graphicFrameLocks noGrp="1"/>
          </p:cNvGraphicFramePr>
          <p:nvPr>
            <p:ph idx="1"/>
            <p:extLst>
              <p:ext uri="{D42A27DB-BD31-4B8C-83A1-F6EECF244321}">
                <p14:modId xmlns:p14="http://schemas.microsoft.com/office/powerpoint/2010/main" val="1195454027"/>
              </p:ext>
            </p:extLst>
          </p:nvPr>
        </p:nvGraphicFramePr>
        <p:xfrm>
          <a:off x="838200" y="1825625"/>
          <a:ext cx="10515600" cy="36095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TextBox 11">
            <a:extLst>
              <a:ext uri="{FF2B5EF4-FFF2-40B4-BE49-F238E27FC236}">
                <a16:creationId xmlns:a16="http://schemas.microsoft.com/office/drawing/2014/main" id="{8558A932-A150-AAEB-AF28-D9156CC23D7C}"/>
              </a:ext>
            </a:extLst>
          </p:cNvPr>
          <p:cNvSpPr txBox="1"/>
          <p:nvPr/>
        </p:nvSpPr>
        <p:spPr>
          <a:xfrm>
            <a:off x="838200" y="1622855"/>
            <a:ext cx="10426908" cy="3046988"/>
          </a:xfrm>
          <a:prstGeom prst="rect">
            <a:avLst/>
          </a:prstGeom>
          <a:noFill/>
        </p:spPr>
        <p:txBody>
          <a:bodyPr wrap="square" rtlCol="0">
            <a:spAutoFit/>
          </a:bodyPr>
          <a:lstStyle/>
          <a:p>
            <a:pPr marL="285750" lvl="0" indent="-285750">
              <a:buFont typeface="Aptos" panose="020B0004020202020204" pitchFamily="34" charset="0"/>
              <a:buChar char="–"/>
            </a:pPr>
            <a:r>
              <a:rPr lang="en-US" sz="2400" dirty="0"/>
              <a:t>What is an AVL tree</a:t>
            </a:r>
          </a:p>
          <a:p>
            <a:pPr marL="285750" lvl="0" indent="-285750">
              <a:buFont typeface="Aptos" panose="020B0004020202020204" pitchFamily="34" charset="0"/>
              <a:buChar char="–"/>
            </a:pPr>
            <a:r>
              <a:rPr lang="en-US" sz="2400" dirty="0"/>
              <a:t>Techniques to balance a binary search tree</a:t>
            </a:r>
          </a:p>
          <a:p>
            <a:pPr marL="285750" lvl="0" indent="-285750">
              <a:buFont typeface="Aptos" panose="020B0004020202020204" pitchFamily="34" charset="0"/>
              <a:buChar char="–"/>
            </a:pPr>
            <a:r>
              <a:rPr lang="en-US" sz="2400" dirty="0"/>
              <a:t>Iterative implementation in insertion in an AVL tree</a:t>
            </a:r>
          </a:p>
          <a:p>
            <a:pPr marL="285750" lvl="0" indent="-285750">
              <a:buFont typeface="Aptos" panose="020B0004020202020204" pitchFamily="34" charset="0"/>
              <a:buChar char="–"/>
            </a:pPr>
            <a:r>
              <a:rPr lang="en-US" sz="2400" dirty="0"/>
              <a:t>Recursive implementation in insertion in an AVL tree</a:t>
            </a:r>
          </a:p>
          <a:p>
            <a:pPr marL="285750" lvl="0" indent="-285750">
              <a:buFont typeface="Aptos" panose="020B0004020202020204" pitchFamily="34" charset="0"/>
              <a:buChar char="–"/>
            </a:pPr>
            <a:r>
              <a:rPr lang="en-US" sz="2400" dirty="0"/>
              <a:t>Iterative implementation in deletion in an AVL tree</a:t>
            </a:r>
          </a:p>
          <a:p>
            <a:pPr marL="285750" lvl="0" indent="-285750">
              <a:buFont typeface="Aptos" panose="020B0004020202020204" pitchFamily="34" charset="0"/>
              <a:buChar char="–"/>
            </a:pPr>
            <a:r>
              <a:rPr lang="en-US" sz="2400" dirty="0"/>
              <a:t>Recursive implementation in deletion in an AVL tree</a:t>
            </a:r>
          </a:p>
          <a:p>
            <a:pPr marL="285750" lvl="0" indent="-285750">
              <a:buFont typeface="Aptos" panose="020B0004020202020204" pitchFamily="34" charset="0"/>
              <a:buChar char="–"/>
            </a:pPr>
            <a:r>
              <a:rPr lang="en-US" sz="2400" dirty="0"/>
              <a:t>Application driver for the AVL tree class</a:t>
            </a:r>
          </a:p>
          <a:p>
            <a:pPr marL="800100" lvl="1" indent="-342900">
              <a:buFont typeface="Courier New" panose="02070309020205020404" pitchFamily="49" charset="0"/>
              <a:buChar char="o"/>
            </a:pPr>
            <a:endParaRPr lang="en-US" sz="2400" dirty="0"/>
          </a:p>
        </p:txBody>
      </p:sp>
    </p:spTree>
    <p:extLst>
      <p:ext uri="{BB962C8B-B14F-4D97-AF65-F5344CB8AC3E}">
        <p14:creationId xmlns:p14="http://schemas.microsoft.com/office/powerpoint/2010/main" val="271731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EF1F3-FBC1-EA99-D072-BAE6AC086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E67AC-E16E-B398-6F3D-E57A5E1790E2}"/>
              </a:ext>
            </a:extLst>
          </p:cNvPr>
          <p:cNvSpPr>
            <a:spLocks noGrp="1"/>
          </p:cNvSpPr>
          <p:nvPr>
            <p:ph type="title"/>
          </p:nvPr>
        </p:nvSpPr>
        <p:spPr/>
        <p:txBody>
          <a:bodyPr/>
          <a:lstStyle/>
          <a:p>
            <a:r>
              <a:rPr lang="en-US" dirty="0"/>
              <a:t>20.1 What Is an AVL Tree?</a:t>
            </a:r>
          </a:p>
        </p:txBody>
      </p:sp>
      <p:sp>
        <p:nvSpPr>
          <p:cNvPr id="3" name="Content Placeholder 2">
            <a:extLst>
              <a:ext uri="{FF2B5EF4-FFF2-40B4-BE49-F238E27FC236}">
                <a16:creationId xmlns:a16="http://schemas.microsoft.com/office/drawing/2014/main" id="{6A4503D6-0F71-131F-8148-FFF9AC7A070D}"/>
              </a:ext>
            </a:extLst>
          </p:cNvPr>
          <p:cNvSpPr>
            <a:spLocks noGrp="1"/>
          </p:cNvSpPr>
          <p:nvPr>
            <p:ph idx="1"/>
          </p:nvPr>
        </p:nvSpPr>
        <p:spPr>
          <a:xfrm>
            <a:off x="838199" y="1825626"/>
            <a:ext cx="5013962" cy="4046854"/>
          </a:xfrm>
          <a:ln>
            <a:solidFill>
              <a:schemeClr val="accent1"/>
            </a:solidFill>
          </a:ln>
        </p:spPr>
        <p:txBody>
          <a:bodyPr>
            <a:normAutofit fontScale="92500" lnSpcReduction="10000"/>
          </a:bodyPr>
          <a:lstStyle/>
          <a:p>
            <a:r>
              <a:rPr lang="en-US" dirty="0"/>
              <a:t>a self-balancing binary search tree</a:t>
            </a:r>
          </a:p>
          <a:p>
            <a:r>
              <a:rPr lang="en-US" dirty="0"/>
              <a:t>its balance is maintained by ensuring that the height difference (balance factor) between a node’s left and right subtrees does not exceed one</a:t>
            </a:r>
          </a:p>
          <a:p>
            <a:r>
              <a:rPr lang="en-US" dirty="0"/>
              <a:t>node height: the number of edges along the longest path from the node to a leaf</a:t>
            </a:r>
          </a:p>
          <a:p>
            <a:r>
              <a:rPr lang="en-US" dirty="0"/>
              <a:t>tree height: root node height</a:t>
            </a:r>
          </a:p>
        </p:txBody>
      </p:sp>
      <p:pic>
        <p:nvPicPr>
          <p:cNvPr id="4" name="Picture 3">
            <a:extLst>
              <a:ext uri="{FF2B5EF4-FFF2-40B4-BE49-F238E27FC236}">
                <a16:creationId xmlns:a16="http://schemas.microsoft.com/office/drawing/2014/main" id="{895C033C-58CF-4D11-E9CE-11BA26E73AF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7" name="Picture 6" descr="An unbalanced binary search tree:&#10;G at root, &#10;F and J are left and right of G&#10;B is left of F&#10;I and P are left and right of J&#10;C is right of B">
            <a:extLst>
              <a:ext uri="{FF2B5EF4-FFF2-40B4-BE49-F238E27FC236}">
                <a16:creationId xmlns:a16="http://schemas.microsoft.com/office/drawing/2014/main" id="{0A24755E-79F8-E4A6-B3AC-69FB3D0253DC}"/>
              </a:ext>
            </a:extLst>
          </p:cNvPr>
          <p:cNvPicPr>
            <a:picLocks noChangeAspect="1"/>
          </p:cNvPicPr>
          <p:nvPr/>
        </p:nvPicPr>
        <p:blipFill>
          <a:blip r:embed="rId3"/>
          <a:stretch>
            <a:fillRect/>
          </a:stretch>
        </p:blipFill>
        <p:spPr>
          <a:xfrm>
            <a:off x="6096000" y="2019102"/>
            <a:ext cx="4826348" cy="3203137"/>
          </a:xfrm>
          <a:prstGeom prst="rect">
            <a:avLst/>
          </a:prstGeom>
        </p:spPr>
      </p:pic>
    </p:spTree>
    <p:extLst>
      <p:ext uri="{BB962C8B-B14F-4D97-AF65-F5344CB8AC3E}">
        <p14:creationId xmlns:p14="http://schemas.microsoft.com/office/powerpoint/2010/main" val="101297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94270-8E16-F73F-C04B-844735D62B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D0656-0608-F674-AC28-A46BAB53E35B}"/>
              </a:ext>
            </a:extLst>
          </p:cNvPr>
          <p:cNvSpPr>
            <a:spLocks noGrp="1"/>
          </p:cNvSpPr>
          <p:nvPr>
            <p:ph type="title"/>
          </p:nvPr>
        </p:nvSpPr>
        <p:spPr/>
        <p:txBody>
          <a:bodyPr/>
          <a:lstStyle/>
          <a:p>
            <a:r>
              <a:rPr lang="en-US" dirty="0"/>
              <a:t>20.1 What Is an AVL Tree?</a:t>
            </a:r>
          </a:p>
        </p:txBody>
      </p:sp>
      <p:sp>
        <p:nvSpPr>
          <p:cNvPr id="3" name="Content Placeholder 2">
            <a:extLst>
              <a:ext uri="{FF2B5EF4-FFF2-40B4-BE49-F238E27FC236}">
                <a16:creationId xmlns:a16="http://schemas.microsoft.com/office/drawing/2014/main" id="{A0B5EC80-B02C-8F74-555E-D8AAA2DDEAB8}"/>
              </a:ext>
            </a:extLst>
          </p:cNvPr>
          <p:cNvSpPr>
            <a:spLocks noGrp="1"/>
          </p:cNvSpPr>
          <p:nvPr>
            <p:ph idx="1"/>
          </p:nvPr>
        </p:nvSpPr>
        <p:spPr>
          <a:xfrm>
            <a:off x="838199" y="1825626"/>
            <a:ext cx="5013962" cy="4046854"/>
          </a:xfrm>
          <a:ln>
            <a:solidFill>
              <a:schemeClr val="accent1"/>
            </a:solidFill>
          </a:ln>
        </p:spPr>
        <p:txBody>
          <a:bodyPr>
            <a:normAutofit/>
          </a:bodyPr>
          <a:lstStyle/>
          <a:p>
            <a:r>
              <a:rPr lang="en-US" dirty="0"/>
              <a:t>To balance a binary search tree, each node must be balanced. This is typically achieved by calculating a node's balance factor, which is the height difference between its left subtree and right subtree. A balanced node will have a balance factor of -1, 0, or 1. </a:t>
            </a:r>
          </a:p>
        </p:txBody>
      </p:sp>
      <p:pic>
        <p:nvPicPr>
          <p:cNvPr id="4" name="Picture 3">
            <a:extLst>
              <a:ext uri="{FF2B5EF4-FFF2-40B4-BE49-F238E27FC236}">
                <a16:creationId xmlns:a16="http://schemas.microsoft.com/office/drawing/2014/main" id="{41E680E1-B510-46B3-28CF-82384E7DB7F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9" name="Picture 8" descr="A balanced binary search tree:&#10;G at root, &#10;C and J are left and right of G&#10;B and F are left and right of C&#10;I and P are left and right of J&#10;">
            <a:extLst>
              <a:ext uri="{FF2B5EF4-FFF2-40B4-BE49-F238E27FC236}">
                <a16:creationId xmlns:a16="http://schemas.microsoft.com/office/drawing/2014/main" id="{66256C6D-FB00-7D29-E1DC-BA38F174B864}"/>
              </a:ext>
            </a:extLst>
          </p:cNvPr>
          <p:cNvPicPr>
            <a:picLocks noChangeAspect="1"/>
          </p:cNvPicPr>
          <p:nvPr/>
        </p:nvPicPr>
        <p:blipFill>
          <a:blip r:embed="rId3"/>
          <a:stretch>
            <a:fillRect/>
          </a:stretch>
        </p:blipFill>
        <p:spPr>
          <a:xfrm>
            <a:off x="6339841" y="2238536"/>
            <a:ext cx="4708214" cy="2851624"/>
          </a:xfrm>
          <a:prstGeom prst="rect">
            <a:avLst/>
          </a:prstGeom>
        </p:spPr>
      </p:pic>
    </p:spTree>
    <p:extLst>
      <p:ext uri="{BB962C8B-B14F-4D97-AF65-F5344CB8AC3E}">
        <p14:creationId xmlns:p14="http://schemas.microsoft.com/office/powerpoint/2010/main" val="3858395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8BC87-1C41-332C-394E-D208239D8F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947A14-A79A-528B-2265-2669FCF55D24}"/>
              </a:ext>
            </a:extLst>
          </p:cNvPr>
          <p:cNvSpPr>
            <a:spLocks noGrp="1"/>
          </p:cNvSpPr>
          <p:nvPr>
            <p:ph type="title"/>
          </p:nvPr>
        </p:nvSpPr>
        <p:spPr/>
        <p:txBody>
          <a:bodyPr/>
          <a:lstStyle/>
          <a:p>
            <a:r>
              <a:rPr lang="en-US" dirty="0"/>
              <a:t>20.1 What Is an AVL Tree?</a:t>
            </a:r>
          </a:p>
        </p:txBody>
      </p:sp>
      <p:pic>
        <p:nvPicPr>
          <p:cNvPr id="4" name="Picture 3">
            <a:extLst>
              <a:ext uri="{FF2B5EF4-FFF2-40B4-BE49-F238E27FC236}">
                <a16:creationId xmlns:a16="http://schemas.microsoft.com/office/drawing/2014/main" id="{D964B4A4-F37B-4661-9C04-724C16A0861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8" name="Content Placeholder 7" descr="Core Concept: AVL tree &#10;Branches: at most two, belongs to binary tree&#10;Node balance: YES, the height difference (balance factor) between a node’s left and right subtrees does not exceed one.&#10;Ordered? YES&#10;Methods: &#10;► insert (to add a unique element)&#10;► delete (to remove an existing element)&#10;► traverse (to travel the complete tree inorder, preorder or postorder)&#10;► balance (to balance a node)&#10;">
            <a:extLst>
              <a:ext uri="{FF2B5EF4-FFF2-40B4-BE49-F238E27FC236}">
                <a16:creationId xmlns:a16="http://schemas.microsoft.com/office/drawing/2014/main" id="{B87AE9AB-2542-DAFC-BA63-CD4A5BD458FA}"/>
              </a:ext>
            </a:extLst>
          </p:cNvPr>
          <p:cNvPicPr>
            <a:picLocks noGrp="1" noChangeAspect="1"/>
          </p:cNvPicPr>
          <p:nvPr>
            <p:ph idx="1"/>
          </p:nvPr>
        </p:nvPicPr>
        <p:blipFill>
          <a:blip r:embed="rId3"/>
          <a:stretch>
            <a:fillRect/>
          </a:stretch>
        </p:blipFill>
        <p:spPr>
          <a:xfrm>
            <a:off x="1439674" y="1853880"/>
            <a:ext cx="9206299" cy="2931480"/>
          </a:xfrm>
          <a:prstGeom prst="rect">
            <a:avLst/>
          </a:prstGeom>
        </p:spPr>
      </p:pic>
    </p:spTree>
    <p:extLst>
      <p:ext uri="{BB962C8B-B14F-4D97-AF65-F5344CB8AC3E}">
        <p14:creationId xmlns:p14="http://schemas.microsoft.com/office/powerpoint/2010/main" val="93068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FCA92-DA16-FB0C-5C4E-9351CA535A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1FDD2-C843-D8EB-EC3D-8808818C8BE1}"/>
              </a:ext>
            </a:extLst>
          </p:cNvPr>
          <p:cNvSpPr>
            <a:spLocks noGrp="1"/>
          </p:cNvSpPr>
          <p:nvPr>
            <p:ph type="title"/>
          </p:nvPr>
        </p:nvSpPr>
        <p:spPr/>
        <p:txBody>
          <a:bodyPr/>
          <a:lstStyle/>
          <a:p>
            <a:r>
              <a:rPr lang="en-US" dirty="0"/>
              <a:t>20.1 What Is an AVL Tree?</a:t>
            </a:r>
          </a:p>
        </p:txBody>
      </p:sp>
      <p:pic>
        <p:nvPicPr>
          <p:cNvPr id="4" name="Picture 3">
            <a:extLst>
              <a:ext uri="{FF2B5EF4-FFF2-40B4-BE49-F238E27FC236}">
                <a16:creationId xmlns:a16="http://schemas.microsoft.com/office/drawing/2014/main" id="{CC8106B0-1D46-FDDE-45EA-A6C16F6F149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7" name="Content Placeholder 6" descr="BinNode UML diagram:&#10;data&#10;left and right&#10;height">
            <a:extLst>
              <a:ext uri="{FF2B5EF4-FFF2-40B4-BE49-F238E27FC236}">
                <a16:creationId xmlns:a16="http://schemas.microsoft.com/office/drawing/2014/main" id="{E1B5147C-ACD5-5757-EA17-BCD9753481FE}"/>
              </a:ext>
            </a:extLst>
          </p:cNvPr>
          <p:cNvPicPr>
            <a:picLocks noGrp="1" noChangeAspect="1"/>
          </p:cNvPicPr>
          <p:nvPr>
            <p:ph idx="1"/>
          </p:nvPr>
        </p:nvPicPr>
        <p:blipFill>
          <a:blip r:embed="rId3"/>
          <a:stretch>
            <a:fillRect/>
          </a:stretch>
        </p:blipFill>
        <p:spPr>
          <a:xfrm>
            <a:off x="2322740" y="2123893"/>
            <a:ext cx="6892380" cy="3080770"/>
          </a:xfrm>
          <a:prstGeom prst="rect">
            <a:avLst/>
          </a:prstGeom>
        </p:spPr>
      </p:pic>
    </p:spTree>
    <p:extLst>
      <p:ext uri="{BB962C8B-B14F-4D97-AF65-F5344CB8AC3E}">
        <p14:creationId xmlns:p14="http://schemas.microsoft.com/office/powerpoint/2010/main" val="3498060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32474-43A7-478D-4C84-C768E27362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0933C6-D5AE-2031-1B36-4B1F39810C07}"/>
              </a:ext>
            </a:extLst>
          </p:cNvPr>
          <p:cNvSpPr>
            <a:spLocks noGrp="1"/>
          </p:cNvSpPr>
          <p:nvPr>
            <p:ph type="title"/>
          </p:nvPr>
        </p:nvSpPr>
        <p:spPr/>
        <p:txBody>
          <a:bodyPr/>
          <a:lstStyle/>
          <a:p>
            <a:r>
              <a:rPr lang="en-US" dirty="0"/>
              <a:t>20.1 What Is an AVL Tree?</a:t>
            </a:r>
          </a:p>
        </p:txBody>
      </p:sp>
      <p:pic>
        <p:nvPicPr>
          <p:cNvPr id="4" name="Picture 3">
            <a:extLst>
              <a:ext uri="{FF2B5EF4-FFF2-40B4-BE49-F238E27FC236}">
                <a16:creationId xmlns:a16="http://schemas.microsoft.com/office/drawing/2014/main" id="{00E56380-8305-46E1-70B7-3AB86AC9384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8" name="Content Placeholder 7" descr="AVLTree UML diagram:&#10;root as instance variable&#10;instance methods: constructor, empty, height, rotateRight, roateLeft, balance, updatePathHeight, balancePath, Search, insert, delete, getPath, inOrder, PreOrder, PostOrder">
            <a:extLst>
              <a:ext uri="{FF2B5EF4-FFF2-40B4-BE49-F238E27FC236}">
                <a16:creationId xmlns:a16="http://schemas.microsoft.com/office/drawing/2014/main" id="{5EA7794D-98BB-DB1D-C68B-81B0FA07CEE7}"/>
              </a:ext>
            </a:extLst>
          </p:cNvPr>
          <p:cNvPicPr>
            <a:picLocks noGrp="1" noChangeAspect="1"/>
          </p:cNvPicPr>
          <p:nvPr>
            <p:ph idx="1"/>
          </p:nvPr>
        </p:nvPicPr>
        <p:blipFill>
          <a:blip r:embed="rId3"/>
          <a:stretch>
            <a:fillRect/>
          </a:stretch>
        </p:blipFill>
        <p:spPr>
          <a:xfrm>
            <a:off x="2338064" y="1420199"/>
            <a:ext cx="5515616" cy="4562492"/>
          </a:xfrm>
          <a:prstGeom prst="rect">
            <a:avLst/>
          </a:prstGeom>
        </p:spPr>
      </p:pic>
    </p:spTree>
    <p:extLst>
      <p:ext uri="{BB962C8B-B14F-4D97-AF65-F5344CB8AC3E}">
        <p14:creationId xmlns:p14="http://schemas.microsoft.com/office/powerpoint/2010/main" val="700054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40DA6-07A2-C332-CDF5-321E2360D3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8A4039-5946-8CC4-3E9E-FEC3156824AD}"/>
              </a:ext>
            </a:extLst>
          </p:cNvPr>
          <p:cNvSpPr>
            <a:spLocks noGrp="1"/>
          </p:cNvSpPr>
          <p:nvPr>
            <p:ph type="title"/>
          </p:nvPr>
        </p:nvSpPr>
        <p:spPr/>
        <p:txBody>
          <a:bodyPr/>
          <a:lstStyle/>
          <a:p>
            <a:r>
              <a:rPr lang="en-US" dirty="0"/>
              <a:t>20.2 Techniques to Balance a Node in an AVL Tree</a:t>
            </a:r>
          </a:p>
        </p:txBody>
      </p:sp>
      <p:pic>
        <p:nvPicPr>
          <p:cNvPr id="4" name="Picture 3">
            <a:extLst>
              <a:ext uri="{FF2B5EF4-FFF2-40B4-BE49-F238E27FC236}">
                <a16:creationId xmlns:a16="http://schemas.microsoft.com/office/drawing/2014/main" id="{895CBB7F-01B9-4176-7EE0-F3F4B6E95E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145ED95D-2DB5-D76E-4C79-87CC52D20047}"/>
              </a:ext>
            </a:extLst>
          </p:cNvPr>
          <p:cNvSpPr>
            <a:spLocks noGrp="1"/>
          </p:cNvSpPr>
          <p:nvPr>
            <p:ph idx="1"/>
          </p:nvPr>
        </p:nvSpPr>
        <p:spPr>
          <a:xfrm>
            <a:off x="838200" y="1825625"/>
            <a:ext cx="9779000" cy="1196805"/>
          </a:xfrm>
        </p:spPr>
        <p:txBody>
          <a:bodyPr>
            <a:normAutofit fontScale="70000" lnSpcReduction="20000"/>
          </a:bodyPr>
          <a:lstStyle/>
          <a:p>
            <a:r>
              <a:rPr lang="en-US" dirty="0"/>
              <a:t>Case 1: right-right(right heavy), call </a:t>
            </a:r>
            <a:r>
              <a:rPr lang="en-US" dirty="0" err="1"/>
              <a:t>rotateLeft</a:t>
            </a:r>
            <a:r>
              <a:rPr lang="en-US" dirty="0"/>
              <a:t>(</a:t>
            </a:r>
            <a:r>
              <a:rPr lang="en-US" dirty="0" err="1"/>
              <a:t>BinNode</a:t>
            </a:r>
            <a:r>
              <a:rPr lang="en-US" dirty="0"/>
              <a:t>&lt;T&gt; A)</a:t>
            </a:r>
          </a:p>
          <a:p>
            <a:r>
              <a:rPr lang="en-US" dirty="0"/>
              <a:t>To restore balance, a left rotation is performed on node A:</a:t>
            </a:r>
          </a:p>
          <a:p>
            <a:pPr lvl="1">
              <a:buFont typeface="Courier New" panose="02070309020205020404" pitchFamily="49" charset="0"/>
              <a:buChar char="o"/>
            </a:pPr>
            <a:r>
              <a:rPr lang="en-US" dirty="0"/>
              <a:t>Node B’s right subtree, T2, becomes node A’s right child.</a:t>
            </a:r>
          </a:p>
          <a:p>
            <a:pPr lvl="1">
              <a:buFont typeface="Courier New" panose="02070309020205020404" pitchFamily="49" charset="0"/>
              <a:buChar char="o"/>
            </a:pPr>
            <a:r>
              <a:rPr lang="en-US" dirty="0"/>
              <a:t>Node A becomes the left child of node B.</a:t>
            </a:r>
          </a:p>
        </p:txBody>
      </p:sp>
      <p:pic>
        <p:nvPicPr>
          <p:cNvPr id="7" name="Picture 6" descr="right heavy, do right right: To restore balance, a left rotation is performed on node A:&#10;Node B’s right subtree, T2, becomes node A’s right child.&#10;Node A becomes the left child of node B.&#10;">
            <a:extLst>
              <a:ext uri="{FF2B5EF4-FFF2-40B4-BE49-F238E27FC236}">
                <a16:creationId xmlns:a16="http://schemas.microsoft.com/office/drawing/2014/main" id="{DA9A21DC-4E42-D65D-EFBC-0EEC15A8A978}"/>
              </a:ext>
            </a:extLst>
          </p:cNvPr>
          <p:cNvPicPr>
            <a:picLocks noChangeAspect="1"/>
          </p:cNvPicPr>
          <p:nvPr/>
        </p:nvPicPr>
        <p:blipFill>
          <a:blip r:embed="rId3"/>
          <a:stretch>
            <a:fillRect/>
          </a:stretch>
        </p:blipFill>
        <p:spPr>
          <a:xfrm>
            <a:off x="1070640" y="2951142"/>
            <a:ext cx="3943900" cy="2838846"/>
          </a:xfrm>
          <a:prstGeom prst="rect">
            <a:avLst/>
          </a:prstGeom>
        </p:spPr>
      </p:pic>
      <p:pic>
        <p:nvPicPr>
          <p:cNvPr id="10" name="Picture 9" descr="right right rebalanced">
            <a:extLst>
              <a:ext uri="{FF2B5EF4-FFF2-40B4-BE49-F238E27FC236}">
                <a16:creationId xmlns:a16="http://schemas.microsoft.com/office/drawing/2014/main" id="{66EF56A8-6DE1-C6A5-ECC8-041EFDAD21F5}"/>
              </a:ext>
            </a:extLst>
          </p:cNvPr>
          <p:cNvPicPr>
            <a:picLocks noChangeAspect="1"/>
          </p:cNvPicPr>
          <p:nvPr/>
        </p:nvPicPr>
        <p:blipFill>
          <a:blip r:embed="rId4"/>
          <a:stretch>
            <a:fillRect/>
          </a:stretch>
        </p:blipFill>
        <p:spPr>
          <a:xfrm>
            <a:off x="5929657" y="3151195"/>
            <a:ext cx="3772426" cy="2438740"/>
          </a:xfrm>
          <a:prstGeom prst="rect">
            <a:avLst/>
          </a:prstGeom>
        </p:spPr>
      </p:pic>
    </p:spTree>
    <p:extLst>
      <p:ext uri="{BB962C8B-B14F-4D97-AF65-F5344CB8AC3E}">
        <p14:creationId xmlns:p14="http://schemas.microsoft.com/office/powerpoint/2010/main" val="326323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28A41-57D6-1FEC-EDA3-1FA8FC9995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ACD61-9F00-E59B-2E9B-811CE98F9508}"/>
              </a:ext>
            </a:extLst>
          </p:cNvPr>
          <p:cNvSpPr>
            <a:spLocks noGrp="1"/>
          </p:cNvSpPr>
          <p:nvPr>
            <p:ph type="title"/>
          </p:nvPr>
        </p:nvSpPr>
        <p:spPr/>
        <p:txBody>
          <a:bodyPr/>
          <a:lstStyle/>
          <a:p>
            <a:r>
              <a:rPr lang="en-US" dirty="0"/>
              <a:t>20.2 Techniques to Balance a Node in an AVL Tree</a:t>
            </a:r>
          </a:p>
        </p:txBody>
      </p:sp>
      <p:pic>
        <p:nvPicPr>
          <p:cNvPr id="4" name="Picture 3">
            <a:extLst>
              <a:ext uri="{FF2B5EF4-FFF2-40B4-BE49-F238E27FC236}">
                <a16:creationId xmlns:a16="http://schemas.microsoft.com/office/drawing/2014/main" id="{A1831873-34D9-635F-7D9D-A63F311E68A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descr="&#10;">
            <a:extLst>
              <a:ext uri="{FF2B5EF4-FFF2-40B4-BE49-F238E27FC236}">
                <a16:creationId xmlns:a16="http://schemas.microsoft.com/office/drawing/2014/main" id="{BFEA28C5-AF4F-20EC-7B5C-D4EF23060D2B}"/>
              </a:ext>
            </a:extLst>
          </p:cNvPr>
          <p:cNvSpPr>
            <a:spLocks noGrp="1"/>
          </p:cNvSpPr>
          <p:nvPr>
            <p:ph idx="1"/>
          </p:nvPr>
        </p:nvSpPr>
        <p:spPr>
          <a:xfrm>
            <a:off x="838199" y="1825625"/>
            <a:ext cx="10549327" cy="1132793"/>
          </a:xfrm>
        </p:spPr>
        <p:txBody>
          <a:bodyPr>
            <a:normAutofit fontScale="62500" lnSpcReduction="20000"/>
          </a:bodyPr>
          <a:lstStyle/>
          <a:p>
            <a:r>
              <a:rPr lang="en-US" dirty="0"/>
              <a:t>case 2: right-left(right heavy), call </a:t>
            </a:r>
            <a:r>
              <a:rPr lang="en-US" dirty="0" err="1"/>
              <a:t>rotateRight</a:t>
            </a:r>
            <a:r>
              <a:rPr lang="en-US" dirty="0"/>
              <a:t>(</a:t>
            </a:r>
            <a:r>
              <a:rPr lang="en-US" dirty="0" err="1"/>
              <a:t>BinNode</a:t>
            </a:r>
            <a:r>
              <a:rPr lang="en-US" dirty="0"/>
              <a:t>&lt;T&gt; B) then call </a:t>
            </a:r>
            <a:r>
              <a:rPr lang="en-US" dirty="0" err="1"/>
              <a:t>call</a:t>
            </a:r>
            <a:r>
              <a:rPr lang="en-US" dirty="0"/>
              <a:t> </a:t>
            </a:r>
            <a:r>
              <a:rPr lang="en-US" dirty="0" err="1"/>
              <a:t>rotateLeft</a:t>
            </a:r>
            <a:r>
              <a:rPr lang="en-US" dirty="0"/>
              <a:t>(</a:t>
            </a:r>
            <a:r>
              <a:rPr lang="en-US" dirty="0" err="1"/>
              <a:t>BinNode</a:t>
            </a:r>
            <a:r>
              <a:rPr lang="en-US" dirty="0"/>
              <a:t>&lt;T&gt; A)</a:t>
            </a:r>
          </a:p>
          <a:p>
            <a:r>
              <a:rPr lang="en-US" dirty="0"/>
              <a:t>To restore balance:</a:t>
            </a:r>
          </a:p>
          <a:p>
            <a:pPr lvl="1">
              <a:buFont typeface="Courier New" panose="02070309020205020404" pitchFamily="49" charset="0"/>
              <a:buChar char="o"/>
            </a:pPr>
            <a:r>
              <a:rPr lang="en-US" dirty="0"/>
              <a:t>Perform a right rotation on node B to make it the right child of node C.</a:t>
            </a:r>
          </a:p>
          <a:p>
            <a:pPr lvl="1">
              <a:buFont typeface="Courier New" panose="02070309020205020404" pitchFamily="49" charset="0"/>
              <a:buChar char="o"/>
            </a:pPr>
            <a:r>
              <a:rPr lang="en-US" dirty="0"/>
              <a:t>Reassign T3 as the left subtree of node B</a:t>
            </a:r>
          </a:p>
        </p:txBody>
      </p:sp>
      <p:pic>
        <p:nvPicPr>
          <p:cNvPr id="6" name="Picture 5" descr="right-left (right heavy): To restore balance:&#10;Perform a right rotation on node B to make it the right child of node C.&#10;Reassign T3 as the left subtree of node B&#10;">
            <a:extLst>
              <a:ext uri="{FF2B5EF4-FFF2-40B4-BE49-F238E27FC236}">
                <a16:creationId xmlns:a16="http://schemas.microsoft.com/office/drawing/2014/main" id="{487D2447-D714-BBC2-71DF-2346FBA4A76D}"/>
              </a:ext>
            </a:extLst>
          </p:cNvPr>
          <p:cNvPicPr>
            <a:picLocks noChangeAspect="1"/>
          </p:cNvPicPr>
          <p:nvPr/>
        </p:nvPicPr>
        <p:blipFill>
          <a:blip r:embed="rId3"/>
          <a:stretch>
            <a:fillRect/>
          </a:stretch>
        </p:blipFill>
        <p:spPr>
          <a:xfrm>
            <a:off x="1118376" y="2958418"/>
            <a:ext cx="3820058" cy="2924583"/>
          </a:xfrm>
          <a:prstGeom prst="rect">
            <a:avLst/>
          </a:prstGeom>
        </p:spPr>
      </p:pic>
      <p:pic>
        <p:nvPicPr>
          <p:cNvPr id="9" name="Picture 8" descr="call call rotateLeft(BinNode&lt;T&gt; A)">
            <a:extLst>
              <a:ext uri="{FF2B5EF4-FFF2-40B4-BE49-F238E27FC236}">
                <a16:creationId xmlns:a16="http://schemas.microsoft.com/office/drawing/2014/main" id="{FF6F39D5-CC04-7138-073C-A0476121ED4D}"/>
              </a:ext>
            </a:extLst>
          </p:cNvPr>
          <p:cNvPicPr>
            <a:picLocks noChangeAspect="1"/>
          </p:cNvPicPr>
          <p:nvPr/>
        </p:nvPicPr>
        <p:blipFill>
          <a:blip r:embed="rId4"/>
          <a:stretch>
            <a:fillRect/>
          </a:stretch>
        </p:blipFill>
        <p:spPr>
          <a:xfrm>
            <a:off x="5300670" y="3085687"/>
            <a:ext cx="3905795" cy="2734057"/>
          </a:xfrm>
          <a:prstGeom prst="rect">
            <a:avLst/>
          </a:prstGeom>
        </p:spPr>
      </p:pic>
    </p:spTree>
    <p:extLst>
      <p:ext uri="{BB962C8B-B14F-4D97-AF65-F5344CB8AC3E}">
        <p14:creationId xmlns:p14="http://schemas.microsoft.com/office/powerpoint/2010/main" val="552588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E07D4-8465-4360-CD1B-CE76D49A2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0D412E-ED62-0D70-2AD2-4EBC42685329}"/>
              </a:ext>
            </a:extLst>
          </p:cNvPr>
          <p:cNvSpPr>
            <a:spLocks noGrp="1"/>
          </p:cNvSpPr>
          <p:nvPr>
            <p:ph type="title"/>
          </p:nvPr>
        </p:nvSpPr>
        <p:spPr/>
        <p:txBody>
          <a:bodyPr/>
          <a:lstStyle/>
          <a:p>
            <a:r>
              <a:rPr lang="en-US" dirty="0"/>
              <a:t>20.2 Techniques to Balance a Node in an AVL Tree</a:t>
            </a:r>
          </a:p>
        </p:txBody>
      </p:sp>
      <p:pic>
        <p:nvPicPr>
          <p:cNvPr id="4" name="Picture 3">
            <a:extLst>
              <a:ext uri="{FF2B5EF4-FFF2-40B4-BE49-F238E27FC236}">
                <a16:creationId xmlns:a16="http://schemas.microsoft.com/office/drawing/2014/main" id="{26D0BA93-D98B-0613-5D80-9BCBC789FB7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B1AA3240-4162-2771-D46A-86D487F407DC}"/>
              </a:ext>
            </a:extLst>
          </p:cNvPr>
          <p:cNvSpPr>
            <a:spLocks noGrp="1"/>
          </p:cNvSpPr>
          <p:nvPr>
            <p:ph idx="1"/>
          </p:nvPr>
        </p:nvSpPr>
        <p:spPr>
          <a:xfrm>
            <a:off x="838200" y="1825625"/>
            <a:ext cx="9779000" cy="1196805"/>
          </a:xfrm>
        </p:spPr>
        <p:txBody>
          <a:bodyPr>
            <a:normAutofit fontScale="62500" lnSpcReduction="20000"/>
          </a:bodyPr>
          <a:lstStyle/>
          <a:p>
            <a:r>
              <a:rPr lang="en-US" dirty="0"/>
              <a:t>case 2: right-left(right heavy), call </a:t>
            </a:r>
            <a:r>
              <a:rPr lang="en-US" dirty="0" err="1"/>
              <a:t>rotateRight</a:t>
            </a:r>
            <a:r>
              <a:rPr lang="en-US" dirty="0"/>
              <a:t>(</a:t>
            </a:r>
            <a:r>
              <a:rPr lang="en-US" dirty="0" err="1"/>
              <a:t>BinNode</a:t>
            </a:r>
            <a:r>
              <a:rPr lang="en-US" dirty="0"/>
              <a:t>&lt;T&gt; B) then call </a:t>
            </a:r>
            <a:r>
              <a:rPr lang="en-US" dirty="0" err="1"/>
              <a:t>call</a:t>
            </a:r>
            <a:r>
              <a:rPr lang="en-US" dirty="0"/>
              <a:t> </a:t>
            </a:r>
            <a:r>
              <a:rPr lang="en-US" dirty="0" err="1"/>
              <a:t>rotateLeft</a:t>
            </a:r>
            <a:r>
              <a:rPr lang="en-US" dirty="0"/>
              <a:t>(</a:t>
            </a:r>
            <a:r>
              <a:rPr lang="en-US" dirty="0" err="1"/>
              <a:t>BinNode</a:t>
            </a:r>
            <a:r>
              <a:rPr lang="en-US" dirty="0"/>
              <a:t>&lt;T&gt; A)</a:t>
            </a:r>
          </a:p>
          <a:p>
            <a:r>
              <a:rPr lang="en-US" dirty="0"/>
              <a:t>To restore balance:</a:t>
            </a:r>
          </a:p>
          <a:p>
            <a:pPr lvl="1">
              <a:buFont typeface="Courier New" panose="02070309020205020404" pitchFamily="49" charset="0"/>
              <a:buChar char="o"/>
            </a:pPr>
            <a:r>
              <a:rPr lang="en-US" dirty="0"/>
              <a:t>still unbalanced but has now been transformed into a right-right case. To balance the subtree, we perform another left rotation on node A. </a:t>
            </a:r>
          </a:p>
        </p:txBody>
      </p:sp>
      <p:pic>
        <p:nvPicPr>
          <p:cNvPr id="9" name="Picture 8" descr="right-left(right heavy), call rotateRight(BinNode&lt;T&gt; B) then call call rotateLeft(BinNode&lt;T&gt; A)&#10;still unbalanced but has now been transformed into a right-right case. To balance the subtree, we perform another left rotation on node A. &#10;&#10;">
            <a:extLst>
              <a:ext uri="{FF2B5EF4-FFF2-40B4-BE49-F238E27FC236}">
                <a16:creationId xmlns:a16="http://schemas.microsoft.com/office/drawing/2014/main" id="{57D16049-BCBB-2E2D-4221-F8B7986A3877}"/>
              </a:ext>
            </a:extLst>
          </p:cNvPr>
          <p:cNvPicPr>
            <a:picLocks noChangeAspect="1"/>
          </p:cNvPicPr>
          <p:nvPr/>
        </p:nvPicPr>
        <p:blipFill>
          <a:blip r:embed="rId3"/>
          <a:stretch>
            <a:fillRect/>
          </a:stretch>
        </p:blipFill>
        <p:spPr>
          <a:xfrm>
            <a:off x="1091974" y="3022430"/>
            <a:ext cx="3905795" cy="2734057"/>
          </a:xfrm>
          <a:prstGeom prst="rect">
            <a:avLst/>
          </a:prstGeom>
        </p:spPr>
      </p:pic>
      <p:pic>
        <p:nvPicPr>
          <p:cNvPr id="10" name="Picture 9" descr="balanced">
            <a:extLst>
              <a:ext uri="{FF2B5EF4-FFF2-40B4-BE49-F238E27FC236}">
                <a16:creationId xmlns:a16="http://schemas.microsoft.com/office/drawing/2014/main" id="{C36C519A-77DD-B0E3-A382-15926AED0430}"/>
              </a:ext>
            </a:extLst>
          </p:cNvPr>
          <p:cNvPicPr>
            <a:picLocks noChangeAspect="1"/>
          </p:cNvPicPr>
          <p:nvPr/>
        </p:nvPicPr>
        <p:blipFill>
          <a:blip r:embed="rId4"/>
          <a:stretch>
            <a:fillRect/>
          </a:stretch>
        </p:blipFill>
        <p:spPr>
          <a:xfrm>
            <a:off x="5727700" y="3022430"/>
            <a:ext cx="4265386" cy="2669397"/>
          </a:xfrm>
          <a:prstGeom prst="rect">
            <a:avLst/>
          </a:prstGeom>
        </p:spPr>
      </p:pic>
    </p:spTree>
    <p:extLst>
      <p:ext uri="{BB962C8B-B14F-4D97-AF65-F5344CB8AC3E}">
        <p14:creationId xmlns:p14="http://schemas.microsoft.com/office/powerpoint/2010/main" val="571609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8F710-4592-F6BB-05B9-3C62A49090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8E0986-6EE1-F702-B878-B6DD4E19B717}"/>
              </a:ext>
            </a:extLst>
          </p:cNvPr>
          <p:cNvSpPr>
            <a:spLocks noGrp="1"/>
          </p:cNvSpPr>
          <p:nvPr>
            <p:ph type="title"/>
          </p:nvPr>
        </p:nvSpPr>
        <p:spPr/>
        <p:txBody>
          <a:bodyPr/>
          <a:lstStyle/>
          <a:p>
            <a:r>
              <a:rPr lang="en-US" dirty="0"/>
              <a:t>20.2 Techniques to Balance a Node in an AVL Tree</a:t>
            </a:r>
          </a:p>
        </p:txBody>
      </p:sp>
      <p:pic>
        <p:nvPicPr>
          <p:cNvPr id="4" name="Picture 3">
            <a:extLst>
              <a:ext uri="{FF2B5EF4-FFF2-40B4-BE49-F238E27FC236}">
                <a16:creationId xmlns:a16="http://schemas.microsoft.com/office/drawing/2014/main" id="{9A65C795-A4A2-7ED2-D982-CA31046C54D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E7C36067-D966-A33D-50FA-B180E358E0B9}"/>
              </a:ext>
            </a:extLst>
          </p:cNvPr>
          <p:cNvSpPr>
            <a:spLocks noGrp="1"/>
          </p:cNvSpPr>
          <p:nvPr>
            <p:ph idx="1"/>
          </p:nvPr>
        </p:nvSpPr>
        <p:spPr>
          <a:xfrm>
            <a:off x="838200" y="1825625"/>
            <a:ext cx="9779000" cy="1196805"/>
          </a:xfrm>
        </p:spPr>
        <p:txBody>
          <a:bodyPr>
            <a:normAutofit fontScale="70000" lnSpcReduction="20000"/>
          </a:bodyPr>
          <a:lstStyle/>
          <a:p>
            <a:r>
              <a:rPr lang="en-US" dirty="0"/>
              <a:t>Case 3: left-left(left heavy) , call </a:t>
            </a:r>
            <a:r>
              <a:rPr lang="en-US" dirty="0" err="1"/>
              <a:t>rotateRight</a:t>
            </a:r>
            <a:r>
              <a:rPr lang="en-US" dirty="0"/>
              <a:t>(</a:t>
            </a:r>
            <a:r>
              <a:rPr lang="en-US" dirty="0" err="1"/>
              <a:t>BinNode</a:t>
            </a:r>
            <a:r>
              <a:rPr lang="en-US" dirty="0"/>
              <a:t>&lt;T&gt; A)</a:t>
            </a:r>
          </a:p>
          <a:p>
            <a:r>
              <a:rPr lang="en-US" dirty="0"/>
              <a:t>To restore balance:</a:t>
            </a:r>
          </a:p>
          <a:p>
            <a:pPr lvl="1">
              <a:buFont typeface="Courier New" panose="02070309020205020404" pitchFamily="49" charset="0"/>
              <a:buChar char="o"/>
            </a:pPr>
            <a:r>
              <a:rPr lang="en-US" dirty="0"/>
              <a:t>Perform a right rotation on node A to make T3 the left subtree of node A.</a:t>
            </a:r>
          </a:p>
          <a:p>
            <a:pPr lvl="1">
              <a:buFont typeface="Courier New" panose="02070309020205020404" pitchFamily="49" charset="0"/>
              <a:buChar char="o"/>
            </a:pPr>
            <a:r>
              <a:rPr lang="en-US" dirty="0"/>
              <a:t>Reassign node A as the right child of node B.</a:t>
            </a:r>
          </a:p>
        </p:txBody>
      </p:sp>
      <p:pic>
        <p:nvPicPr>
          <p:cNvPr id="7" name="Picture 6" descr="still unbalanced but has now been transformed into a right-right case. To balance the subtree, we perform another left rotation on node A. &#10;">
            <a:extLst>
              <a:ext uri="{FF2B5EF4-FFF2-40B4-BE49-F238E27FC236}">
                <a16:creationId xmlns:a16="http://schemas.microsoft.com/office/drawing/2014/main" id="{90D603F7-A557-83DB-AE00-2B494C3BAD79}"/>
              </a:ext>
            </a:extLst>
          </p:cNvPr>
          <p:cNvPicPr>
            <a:picLocks noChangeAspect="1"/>
          </p:cNvPicPr>
          <p:nvPr/>
        </p:nvPicPr>
        <p:blipFill>
          <a:blip r:embed="rId3"/>
          <a:stretch>
            <a:fillRect/>
          </a:stretch>
        </p:blipFill>
        <p:spPr>
          <a:xfrm>
            <a:off x="1239877" y="3022430"/>
            <a:ext cx="3982006" cy="2753109"/>
          </a:xfrm>
          <a:prstGeom prst="rect">
            <a:avLst/>
          </a:prstGeom>
        </p:spPr>
      </p:pic>
      <p:pic>
        <p:nvPicPr>
          <p:cNvPr id="10" name="Picture 9" descr="balanced">
            <a:extLst>
              <a:ext uri="{FF2B5EF4-FFF2-40B4-BE49-F238E27FC236}">
                <a16:creationId xmlns:a16="http://schemas.microsoft.com/office/drawing/2014/main" id="{0237CD43-E6AF-D589-6352-6264F349B874}"/>
              </a:ext>
            </a:extLst>
          </p:cNvPr>
          <p:cNvPicPr>
            <a:picLocks noChangeAspect="1"/>
          </p:cNvPicPr>
          <p:nvPr/>
        </p:nvPicPr>
        <p:blipFill>
          <a:blip r:embed="rId4"/>
          <a:stretch>
            <a:fillRect/>
          </a:stretch>
        </p:blipFill>
        <p:spPr>
          <a:xfrm>
            <a:off x="5727700" y="3022430"/>
            <a:ext cx="4048690" cy="2705478"/>
          </a:xfrm>
          <a:prstGeom prst="rect">
            <a:avLst/>
          </a:prstGeom>
        </p:spPr>
      </p:pic>
    </p:spTree>
    <p:extLst>
      <p:ext uri="{BB962C8B-B14F-4D97-AF65-F5344CB8AC3E}">
        <p14:creationId xmlns:p14="http://schemas.microsoft.com/office/powerpoint/2010/main" val="1835343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A90DA-4D14-EC24-0D6F-CBA34E8996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255C7-C1EC-6E75-4C82-BF275073A835}"/>
              </a:ext>
            </a:extLst>
          </p:cNvPr>
          <p:cNvSpPr>
            <a:spLocks noGrp="1"/>
          </p:cNvSpPr>
          <p:nvPr>
            <p:ph type="title"/>
          </p:nvPr>
        </p:nvSpPr>
        <p:spPr/>
        <p:txBody>
          <a:bodyPr/>
          <a:lstStyle/>
          <a:p>
            <a:r>
              <a:rPr lang="en-US" dirty="0"/>
              <a:t>20.2 Techniques to Balance a Node in an AVL Tree</a:t>
            </a:r>
          </a:p>
        </p:txBody>
      </p:sp>
      <p:pic>
        <p:nvPicPr>
          <p:cNvPr id="4" name="Picture 3">
            <a:extLst>
              <a:ext uri="{FF2B5EF4-FFF2-40B4-BE49-F238E27FC236}">
                <a16:creationId xmlns:a16="http://schemas.microsoft.com/office/drawing/2014/main" id="{035815CA-32D7-C122-0F80-A1B6DBDEA9B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descr="Left-right(left heavy), call rotateLeft(BinNode&lt;T&gt; B) then call call rotateRight(BinNode&lt;T&gt; A)&#10;To restore balance:&#10;Perform left rotate node B to make it the left child of node C.&#10;Make T2 the right subtree of node B.&#10;">
            <a:extLst>
              <a:ext uri="{FF2B5EF4-FFF2-40B4-BE49-F238E27FC236}">
                <a16:creationId xmlns:a16="http://schemas.microsoft.com/office/drawing/2014/main" id="{3037A9F8-1BFC-1F7A-DFD7-9EF68CB62947}"/>
              </a:ext>
            </a:extLst>
          </p:cNvPr>
          <p:cNvSpPr>
            <a:spLocks noGrp="1"/>
          </p:cNvSpPr>
          <p:nvPr>
            <p:ph idx="1"/>
          </p:nvPr>
        </p:nvSpPr>
        <p:spPr>
          <a:xfrm>
            <a:off x="838200" y="1825625"/>
            <a:ext cx="5399314" cy="3945255"/>
          </a:xfrm>
          <a:ln>
            <a:solidFill>
              <a:schemeClr val="accent1"/>
            </a:solidFill>
          </a:ln>
        </p:spPr>
        <p:txBody>
          <a:bodyPr>
            <a:normAutofit/>
          </a:bodyPr>
          <a:lstStyle/>
          <a:p>
            <a:r>
              <a:rPr lang="en-US" dirty="0"/>
              <a:t>Case 4: Left-right(left heavy), call </a:t>
            </a:r>
            <a:r>
              <a:rPr lang="en-US" dirty="0" err="1"/>
              <a:t>rotateLeft</a:t>
            </a:r>
            <a:r>
              <a:rPr lang="en-US" dirty="0"/>
              <a:t>(</a:t>
            </a:r>
            <a:r>
              <a:rPr lang="en-US" dirty="0" err="1"/>
              <a:t>BinNode</a:t>
            </a:r>
            <a:r>
              <a:rPr lang="en-US" dirty="0"/>
              <a:t>&lt;T&gt; B) then call </a:t>
            </a:r>
            <a:r>
              <a:rPr lang="en-US" dirty="0" err="1"/>
              <a:t>call</a:t>
            </a:r>
            <a:r>
              <a:rPr lang="en-US" dirty="0"/>
              <a:t> </a:t>
            </a:r>
            <a:r>
              <a:rPr lang="en-US" dirty="0" err="1"/>
              <a:t>rotateRight</a:t>
            </a:r>
            <a:r>
              <a:rPr lang="en-US" dirty="0"/>
              <a:t>(</a:t>
            </a:r>
            <a:r>
              <a:rPr lang="en-US" dirty="0" err="1"/>
              <a:t>BinNode</a:t>
            </a:r>
            <a:r>
              <a:rPr lang="en-US" dirty="0"/>
              <a:t>&lt;T&gt; A)</a:t>
            </a:r>
          </a:p>
          <a:p>
            <a:r>
              <a:rPr lang="en-US" dirty="0"/>
              <a:t>To restore balance:</a:t>
            </a:r>
          </a:p>
          <a:p>
            <a:pPr lvl="1">
              <a:buFont typeface="Courier New" panose="02070309020205020404" pitchFamily="49" charset="0"/>
              <a:buChar char="o"/>
            </a:pPr>
            <a:r>
              <a:rPr lang="en-US" dirty="0"/>
              <a:t>Perform left rotate node B to make it the left child of node C.</a:t>
            </a:r>
          </a:p>
          <a:p>
            <a:pPr lvl="1">
              <a:buFont typeface="Courier New" panose="02070309020205020404" pitchFamily="49" charset="0"/>
              <a:buChar char="o"/>
            </a:pPr>
            <a:r>
              <a:rPr lang="en-US" dirty="0"/>
              <a:t>Make T2 the right subtree of node B.</a:t>
            </a:r>
          </a:p>
        </p:txBody>
      </p:sp>
      <p:pic>
        <p:nvPicPr>
          <p:cNvPr id="6" name="Picture 5">
            <a:extLst>
              <a:ext uri="{FF2B5EF4-FFF2-40B4-BE49-F238E27FC236}">
                <a16:creationId xmlns:a16="http://schemas.microsoft.com/office/drawing/2014/main" id="{4D3B5D20-2A7C-D81E-A938-5CAC8BA63BAF}"/>
              </a:ext>
            </a:extLst>
          </p:cNvPr>
          <p:cNvPicPr>
            <a:picLocks noChangeAspect="1"/>
          </p:cNvPicPr>
          <p:nvPr/>
        </p:nvPicPr>
        <p:blipFill>
          <a:blip r:embed="rId3"/>
          <a:stretch>
            <a:fillRect/>
          </a:stretch>
        </p:blipFill>
        <p:spPr>
          <a:xfrm>
            <a:off x="6482082" y="1558869"/>
            <a:ext cx="3701094" cy="4469542"/>
          </a:xfrm>
          <a:prstGeom prst="rect">
            <a:avLst/>
          </a:prstGeom>
        </p:spPr>
      </p:pic>
    </p:spTree>
    <p:extLst>
      <p:ext uri="{BB962C8B-B14F-4D97-AF65-F5344CB8AC3E}">
        <p14:creationId xmlns:p14="http://schemas.microsoft.com/office/powerpoint/2010/main" val="2948897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574E9-7C86-4A63-E3BD-629844FFFF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C372EC-7107-3127-C64A-859B47BB6BFE}"/>
              </a:ext>
            </a:extLst>
          </p:cNvPr>
          <p:cNvSpPr>
            <a:spLocks noGrp="1"/>
          </p:cNvSpPr>
          <p:nvPr>
            <p:ph type="title"/>
          </p:nvPr>
        </p:nvSpPr>
        <p:spPr/>
        <p:txBody>
          <a:bodyPr/>
          <a:lstStyle/>
          <a:p>
            <a:r>
              <a:rPr lang="en-US" dirty="0"/>
              <a:t>20.2 Techniques to Balance a Node in an AVL Tree</a:t>
            </a:r>
          </a:p>
        </p:txBody>
      </p:sp>
      <p:pic>
        <p:nvPicPr>
          <p:cNvPr id="4" name="Picture 3">
            <a:extLst>
              <a:ext uri="{FF2B5EF4-FFF2-40B4-BE49-F238E27FC236}">
                <a16:creationId xmlns:a16="http://schemas.microsoft.com/office/drawing/2014/main" id="{A3748677-A912-8F6B-B6C6-48D1930C126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3AEAF98B-A5B5-4FCE-4408-D1EBEF0CFFA0}"/>
              </a:ext>
            </a:extLst>
          </p:cNvPr>
          <p:cNvSpPr>
            <a:spLocks noGrp="1"/>
          </p:cNvSpPr>
          <p:nvPr>
            <p:ph idx="1"/>
          </p:nvPr>
        </p:nvSpPr>
        <p:spPr>
          <a:xfrm>
            <a:off x="838200" y="1825625"/>
            <a:ext cx="4993640" cy="3945255"/>
          </a:xfrm>
          <a:ln>
            <a:solidFill>
              <a:schemeClr val="accent1"/>
            </a:solidFill>
          </a:ln>
        </p:spPr>
        <p:txBody>
          <a:bodyPr>
            <a:normAutofit/>
          </a:bodyPr>
          <a:lstStyle/>
          <a:p>
            <a:r>
              <a:rPr lang="en-US" dirty="0"/>
              <a:t>Case 4: Left-right(left heavy), call </a:t>
            </a:r>
            <a:r>
              <a:rPr lang="en-US" dirty="0" err="1"/>
              <a:t>rotateLeft</a:t>
            </a:r>
            <a:r>
              <a:rPr lang="en-US" dirty="0"/>
              <a:t>(</a:t>
            </a:r>
            <a:r>
              <a:rPr lang="en-US" dirty="0" err="1"/>
              <a:t>BinNode</a:t>
            </a:r>
            <a:r>
              <a:rPr lang="en-US" dirty="0"/>
              <a:t>&lt;T&gt; B) then call </a:t>
            </a:r>
            <a:r>
              <a:rPr lang="en-US" dirty="0" err="1"/>
              <a:t>call</a:t>
            </a:r>
            <a:r>
              <a:rPr lang="en-US" dirty="0"/>
              <a:t> </a:t>
            </a:r>
            <a:r>
              <a:rPr lang="en-US" dirty="0" err="1"/>
              <a:t>rotateRight</a:t>
            </a:r>
            <a:r>
              <a:rPr lang="en-US" dirty="0"/>
              <a:t>(</a:t>
            </a:r>
            <a:r>
              <a:rPr lang="en-US" dirty="0" err="1"/>
              <a:t>BinNode</a:t>
            </a:r>
            <a:r>
              <a:rPr lang="en-US"/>
              <a:t>&lt;T&gt; A)</a:t>
            </a:r>
          </a:p>
          <a:p>
            <a:r>
              <a:rPr lang="en-US"/>
              <a:t>To </a:t>
            </a:r>
            <a:r>
              <a:rPr lang="en-US" dirty="0"/>
              <a:t>restore balance:</a:t>
            </a:r>
          </a:p>
          <a:p>
            <a:pPr lvl="1">
              <a:buFont typeface="Courier New" panose="02070309020205020404" pitchFamily="49" charset="0"/>
              <a:buChar char="o"/>
            </a:pPr>
            <a:r>
              <a:rPr lang="en-US" dirty="0"/>
              <a:t>Perform left rotate node B to make it the left child of node C.</a:t>
            </a:r>
          </a:p>
          <a:p>
            <a:pPr lvl="1">
              <a:buFont typeface="Courier New" panose="02070309020205020404" pitchFamily="49" charset="0"/>
              <a:buChar char="o"/>
            </a:pPr>
            <a:r>
              <a:rPr lang="en-US" dirty="0"/>
              <a:t>Make T2 the right subtree of node B.</a:t>
            </a:r>
          </a:p>
        </p:txBody>
      </p:sp>
      <p:pic>
        <p:nvPicPr>
          <p:cNvPr id="7" name="Picture 6" descr="balanced">
            <a:extLst>
              <a:ext uri="{FF2B5EF4-FFF2-40B4-BE49-F238E27FC236}">
                <a16:creationId xmlns:a16="http://schemas.microsoft.com/office/drawing/2014/main" id="{9898A190-6321-B405-C76B-15300D2386A3}"/>
              </a:ext>
            </a:extLst>
          </p:cNvPr>
          <p:cNvPicPr>
            <a:picLocks noChangeAspect="1"/>
          </p:cNvPicPr>
          <p:nvPr/>
        </p:nvPicPr>
        <p:blipFill>
          <a:blip r:embed="rId3"/>
          <a:stretch>
            <a:fillRect/>
          </a:stretch>
        </p:blipFill>
        <p:spPr>
          <a:xfrm>
            <a:off x="6471010" y="2057208"/>
            <a:ext cx="3943900" cy="2743583"/>
          </a:xfrm>
          <a:prstGeom prst="rect">
            <a:avLst/>
          </a:prstGeom>
        </p:spPr>
      </p:pic>
    </p:spTree>
    <p:extLst>
      <p:ext uri="{BB962C8B-B14F-4D97-AF65-F5344CB8AC3E}">
        <p14:creationId xmlns:p14="http://schemas.microsoft.com/office/powerpoint/2010/main" val="2825036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88742-14BC-A00A-13D5-2A0105652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F5FEC8-35E1-250C-B9D6-F84315ABB7E1}"/>
              </a:ext>
            </a:extLst>
          </p:cNvPr>
          <p:cNvSpPr>
            <a:spLocks noGrp="1"/>
          </p:cNvSpPr>
          <p:nvPr>
            <p:ph type="title"/>
          </p:nvPr>
        </p:nvSpPr>
        <p:spPr/>
        <p:txBody>
          <a:bodyPr/>
          <a:lstStyle/>
          <a:p>
            <a:r>
              <a:rPr lang="en-US" dirty="0"/>
              <a:t>20.3 Iterative Implementation of Insertion in an AVL Tree</a:t>
            </a:r>
          </a:p>
        </p:txBody>
      </p:sp>
      <p:pic>
        <p:nvPicPr>
          <p:cNvPr id="4" name="Picture 3">
            <a:extLst>
              <a:ext uri="{FF2B5EF4-FFF2-40B4-BE49-F238E27FC236}">
                <a16:creationId xmlns:a16="http://schemas.microsoft.com/office/drawing/2014/main" id="{1A47743D-C63A-52A3-87E6-69BBACF0EE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55E301EF-A620-416A-6351-BC42542406A7}"/>
              </a:ext>
            </a:extLst>
          </p:cNvPr>
          <p:cNvSpPr>
            <a:spLocks noGrp="1"/>
          </p:cNvSpPr>
          <p:nvPr>
            <p:ph idx="1"/>
          </p:nvPr>
        </p:nvSpPr>
        <p:spPr>
          <a:xfrm>
            <a:off x="838200" y="1825625"/>
            <a:ext cx="5369560" cy="4006215"/>
          </a:xfrm>
        </p:spPr>
        <p:txBody>
          <a:bodyPr>
            <a:normAutofit/>
          </a:bodyPr>
          <a:lstStyle/>
          <a:p>
            <a:r>
              <a:rPr lang="en-US" dirty="0"/>
              <a:t>before inserting 59, the AVL tree is balanced. </a:t>
            </a:r>
          </a:p>
          <a:p>
            <a:r>
              <a:rPr lang="en-US" dirty="0"/>
              <a:t>After inserting 59, node 65 is not balanced </a:t>
            </a:r>
          </a:p>
          <a:p>
            <a:r>
              <a:rPr lang="en-US" dirty="0"/>
              <a:t>Thus, all nodes along the search path need to be rebalanced, starting at the parent node of the newly inserted node and moving up to the root node.</a:t>
            </a:r>
          </a:p>
        </p:txBody>
      </p:sp>
      <p:pic>
        <p:nvPicPr>
          <p:cNvPr id="6" name="Picture 5" descr="an AVL tree with 55 at root&#10;50 and 65 are left and right of 55&#10;38 and 51 are left and right of 50, 57 are left of 65&#10;39 is right of 38, 59 is right of 57">
            <a:extLst>
              <a:ext uri="{FF2B5EF4-FFF2-40B4-BE49-F238E27FC236}">
                <a16:creationId xmlns:a16="http://schemas.microsoft.com/office/drawing/2014/main" id="{C60A7661-1433-75B4-8A87-393468E31CCC}"/>
              </a:ext>
            </a:extLst>
          </p:cNvPr>
          <p:cNvPicPr>
            <a:picLocks noChangeAspect="1"/>
          </p:cNvPicPr>
          <p:nvPr/>
        </p:nvPicPr>
        <p:blipFill>
          <a:blip r:embed="rId3"/>
          <a:stretch>
            <a:fillRect/>
          </a:stretch>
        </p:blipFill>
        <p:spPr>
          <a:xfrm>
            <a:off x="6636147" y="1825625"/>
            <a:ext cx="4146968" cy="2919095"/>
          </a:xfrm>
          <a:prstGeom prst="rect">
            <a:avLst/>
          </a:prstGeom>
        </p:spPr>
      </p:pic>
    </p:spTree>
    <p:extLst>
      <p:ext uri="{BB962C8B-B14F-4D97-AF65-F5344CB8AC3E}">
        <p14:creationId xmlns:p14="http://schemas.microsoft.com/office/powerpoint/2010/main" val="3315843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2F807-15FB-EE1F-A69D-D85E114D8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B7FBF3-DB29-7E65-9A39-95FC729D597D}"/>
              </a:ext>
            </a:extLst>
          </p:cNvPr>
          <p:cNvSpPr>
            <a:spLocks noGrp="1"/>
          </p:cNvSpPr>
          <p:nvPr>
            <p:ph type="title"/>
          </p:nvPr>
        </p:nvSpPr>
        <p:spPr/>
        <p:txBody>
          <a:bodyPr/>
          <a:lstStyle/>
          <a:p>
            <a:r>
              <a:rPr lang="en-US" dirty="0"/>
              <a:t>20.4 Iterative Implementation of Deletion in an AVL Tree</a:t>
            </a:r>
          </a:p>
        </p:txBody>
      </p:sp>
      <p:pic>
        <p:nvPicPr>
          <p:cNvPr id="4" name="Picture 3">
            <a:extLst>
              <a:ext uri="{FF2B5EF4-FFF2-40B4-BE49-F238E27FC236}">
                <a16:creationId xmlns:a16="http://schemas.microsoft.com/office/drawing/2014/main" id="{BF6C85ED-6621-E6D9-4251-64D658195A9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2926D4B7-5189-E85D-C900-0C832B4E1C7B}"/>
              </a:ext>
            </a:extLst>
          </p:cNvPr>
          <p:cNvSpPr>
            <a:spLocks noGrp="1"/>
          </p:cNvSpPr>
          <p:nvPr>
            <p:ph idx="1"/>
          </p:nvPr>
        </p:nvSpPr>
        <p:spPr>
          <a:xfrm>
            <a:off x="838200" y="1825625"/>
            <a:ext cx="4652529" cy="3874135"/>
          </a:xfrm>
          <a:ln>
            <a:solidFill>
              <a:schemeClr val="accent1"/>
            </a:solidFill>
          </a:ln>
        </p:spPr>
        <p:txBody>
          <a:bodyPr>
            <a:normAutofit fontScale="92500"/>
          </a:bodyPr>
          <a:lstStyle/>
          <a:p>
            <a:r>
              <a:rPr lang="en-US" dirty="0"/>
              <a:t>After deleting a node, update the heights of all nodes along the path from the root node to the parent node. </a:t>
            </a:r>
          </a:p>
          <a:p>
            <a:r>
              <a:rPr lang="en-US" dirty="0"/>
              <a:t>rebalance each node along this path. Balancing is performed bottom-up, starting from the parent node and moving up to the root node.</a:t>
            </a:r>
          </a:p>
        </p:txBody>
      </p:sp>
      <p:pic>
        <p:nvPicPr>
          <p:cNvPr id="7" name="Picture 6" descr="an AVL tree with 55 at root&#10;50 and 69 are left and right of 55&#10;28 and 51 are left and right of 50, 57 and 85 are left and right of 69&#10;25 and 39 are left and right of 28, &#10;56 is left of 57, 75 and 90 are left and right of 85&#10;27 is right of 25, 35 is left of 39&#10;65 and 79 are left and right of 75, 93 is right of 90&#10;70 is right of 65&#10;27 is deleted, 39 is deleted and 35 is right of 28, &#10;69 is exchanged with 65, and 70 is left of 75, 65 is deleted">
            <a:extLst>
              <a:ext uri="{FF2B5EF4-FFF2-40B4-BE49-F238E27FC236}">
                <a16:creationId xmlns:a16="http://schemas.microsoft.com/office/drawing/2014/main" id="{C5A8B2EF-86AB-6B9C-EB05-817A40B39E53}"/>
              </a:ext>
            </a:extLst>
          </p:cNvPr>
          <p:cNvPicPr>
            <a:picLocks noChangeAspect="1"/>
          </p:cNvPicPr>
          <p:nvPr/>
        </p:nvPicPr>
        <p:blipFill>
          <a:blip r:embed="rId3"/>
          <a:stretch>
            <a:fillRect/>
          </a:stretch>
        </p:blipFill>
        <p:spPr>
          <a:xfrm>
            <a:off x="5775209" y="2019339"/>
            <a:ext cx="5381222" cy="3173095"/>
          </a:xfrm>
          <a:prstGeom prst="rect">
            <a:avLst/>
          </a:prstGeom>
        </p:spPr>
      </p:pic>
    </p:spTree>
    <p:extLst>
      <p:ext uri="{BB962C8B-B14F-4D97-AF65-F5344CB8AC3E}">
        <p14:creationId xmlns:p14="http://schemas.microsoft.com/office/powerpoint/2010/main" val="2718204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16450-805B-D055-DE07-4DF3D7BB8C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304BA-776E-27CF-EBE3-57F91D192222}"/>
              </a:ext>
            </a:extLst>
          </p:cNvPr>
          <p:cNvSpPr>
            <a:spLocks noGrp="1"/>
          </p:cNvSpPr>
          <p:nvPr>
            <p:ph type="title"/>
          </p:nvPr>
        </p:nvSpPr>
        <p:spPr/>
        <p:txBody>
          <a:bodyPr/>
          <a:lstStyle/>
          <a:p>
            <a:r>
              <a:rPr lang="en-US" dirty="0"/>
              <a:t>20.5 Recursive Implementation of Insertion and Deletion in an AVL Tree</a:t>
            </a:r>
          </a:p>
        </p:txBody>
      </p:sp>
      <p:pic>
        <p:nvPicPr>
          <p:cNvPr id="4" name="Picture 3">
            <a:extLst>
              <a:ext uri="{FF2B5EF4-FFF2-40B4-BE49-F238E27FC236}">
                <a16:creationId xmlns:a16="http://schemas.microsoft.com/office/drawing/2014/main" id="{578DDEBC-6A49-FC3D-701D-888FF4388DC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393D9AD4-1185-0C8A-7F1A-97BBD6C2B965}"/>
              </a:ext>
            </a:extLst>
          </p:cNvPr>
          <p:cNvSpPr>
            <a:spLocks noGrp="1"/>
          </p:cNvSpPr>
          <p:nvPr>
            <p:ph idx="1"/>
          </p:nvPr>
        </p:nvSpPr>
        <p:spPr>
          <a:xfrm>
            <a:off x="838200" y="1825625"/>
            <a:ext cx="10515600" cy="4036695"/>
          </a:xfrm>
          <a:ln>
            <a:noFill/>
          </a:ln>
        </p:spPr>
        <p:txBody>
          <a:bodyPr>
            <a:normAutofit lnSpcReduction="10000"/>
          </a:bodyPr>
          <a:lstStyle/>
          <a:p>
            <a:r>
              <a:rPr lang="en-US" dirty="0"/>
              <a:t>Recursive </a:t>
            </a:r>
            <a:r>
              <a:rPr lang="en-US" dirty="0" err="1"/>
              <a:t>InsertNode</a:t>
            </a:r>
            <a:r>
              <a:rPr lang="en-US" dirty="0"/>
              <a:t>() method takes two parameters: a node and an item. The method recursively calls itself with either the left or right child of the current node until it reaches a null node or finds that the item is already present in the tree, at which point the recursion terminates.</a:t>
            </a:r>
          </a:p>
          <a:p>
            <a:r>
              <a:rPr lang="en-US" dirty="0"/>
              <a:t>To insert an item into an AVL tree, the Insert2() method calls the </a:t>
            </a:r>
            <a:r>
              <a:rPr lang="en-US" dirty="0" err="1"/>
              <a:t>InsertNode</a:t>
            </a:r>
            <a:r>
              <a:rPr lang="en-US" dirty="0"/>
              <a:t>() method, passing the root node as the starting node. After the node is inserted, the heights of all nodes along the search path are updated in a backward manner. Additionally, all nodes along the search path are balanced as part of this process.</a:t>
            </a:r>
          </a:p>
        </p:txBody>
      </p:sp>
    </p:spTree>
    <p:extLst>
      <p:ext uri="{BB962C8B-B14F-4D97-AF65-F5344CB8AC3E}">
        <p14:creationId xmlns:p14="http://schemas.microsoft.com/office/powerpoint/2010/main" val="638990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4418C-F844-0E63-0AF8-AE1F61012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36F559-A323-EB03-8501-808AF024CADF}"/>
              </a:ext>
            </a:extLst>
          </p:cNvPr>
          <p:cNvSpPr>
            <a:spLocks noGrp="1"/>
          </p:cNvSpPr>
          <p:nvPr>
            <p:ph type="title"/>
          </p:nvPr>
        </p:nvSpPr>
        <p:spPr/>
        <p:txBody>
          <a:bodyPr/>
          <a:lstStyle/>
          <a:p>
            <a:r>
              <a:rPr lang="en-US" dirty="0"/>
              <a:t>20.5 Recursive Implementation of Insertion and Deletion in an AVL Tree</a:t>
            </a:r>
          </a:p>
        </p:txBody>
      </p:sp>
      <p:pic>
        <p:nvPicPr>
          <p:cNvPr id="4" name="Picture 3">
            <a:extLst>
              <a:ext uri="{FF2B5EF4-FFF2-40B4-BE49-F238E27FC236}">
                <a16:creationId xmlns:a16="http://schemas.microsoft.com/office/drawing/2014/main" id="{BAF45CEF-6B17-FCDD-EA26-E6351D798F4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7A0A989A-8F16-8F2E-CB17-2EA82EBA1BD3}"/>
              </a:ext>
            </a:extLst>
          </p:cNvPr>
          <p:cNvSpPr>
            <a:spLocks noGrp="1"/>
          </p:cNvSpPr>
          <p:nvPr>
            <p:ph idx="1"/>
          </p:nvPr>
        </p:nvSpPr>
        <p:spPr>
          <a:xfrm>
            <a:off x="838200" y="1825625"/>
            <a:ext cx="10515600" cy="4036695"/>
          </a:xfrm>
          <a:ln>
            <a:noFill/>
          </a:ln>
        </p:spPr>
        <p:txBody>
          <a:bodyPr>
            <a:normAutofit fontScale="85000" lnSpcReduction="20000"/>
          </a:bodyPr>
          <a:lstStyle/>
          <a:p>
            <a:r>
              <a:rPr lang="en-US" dirty="0"/>
              <a:t>The recursive </a:t>
            </a:r>
            <a:r>
              <a:rPr lang="en-US" dirty="0" err="1"/>
              <a:t>deleteNode</a:t>
            </a:r>
            <a:r>
              <a:rPr lang="en-US" dirty="0"/>
              <a:t>() method takes two parameters: a node and an item. The method recursively calls itself with either the left or right child of the current node, provided the left or right child is not null or the item has not been found. If one of the child nodes is null, the method returns the other non-null child node.</a:t>
            </a:r>
          </a:p>
          <a:p>
            <a:r>
              <a:rPr lang="en-US" dirty="0"/>
              <a:t>If both child nodes are not null, the </a:t>
            </a:r>
            <a:r>
              <a:rPr lang="en-US" dirty="0" err="1"/>
              <a:t>nextInOrder</a:t>
            </a:r>
            <a:r>
              <a:rPr lang="en-US" dirty="0"/>
              <a:t>() method is called to find the next in-order node. Then, the recursive </a:t>
            </a:r>
            <a:r>
              <a:rPr lang="en-US" dirty="0" err="1"/>
              <a:t>deleteNextInOrder</a:t>
            </a:r>
            <a:r>
              <a:rPr lang="en-US" dirty="0"/>
              <a:t>() method is called to delete the next in-order node, balance the respective subtree, and reconnect the parent node with the updated subtree.</a:t>
            </a:r>
          </a:p>
          <a:p>
            <a:r>
              <a:rPr lang="en-US" dirty="0"/>
              <a:t>To delete an item from an AVL tree, the Delete2() method calls the </a:t>
            </a:r>
            <a:r>
              <a:rPr lang="en-US" dirty="0" err="1"/>
              <a:t>deleteNode</a:t>
            </a:r>
            <a:r>
              <a:rPr lang="en-US" dirty="0"/>
              <a:t>() method, passing the root node as the starting node. After the node is deleted, the heights of all nodes along the search path are updated in reverse order. Furthermore, all nodes along the search path are rebalanced as part of this process.</a:t>
            </a:r>
          </a:p>
        </p:txBody>
      </p:sp>
    </p:spTree>
    <p:extLst>
      <p:ext uri="{BB962C8B-B14F-4D97-AF65-F5344CB8AC3E}">
        <p14:creationId xmlns:p14="http://schemas.microsoft.com/office/powerpoint/2010/main" val="1191130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BE83D4-D99B-A6AF-7B71-14362E4CFBF3}"/>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023" y="0"/>
            <a:ext cx="12177953" cy="6858000"/>
          </a:xfrm>
          <a:prstGeom prst="rect">
            <a:avLst/>
          </a:prstGeom>
        </p:spPr>
      </p:pic>
    </p:spTree>
    <p:extLst>
      <p:ext uri="{BB962C8B-B14F-4D97-AF65-F5344CB8AC3E}">
        <p14:creationId xmlns:p14="http://schemas.microsoft.com/office/powerpoint/2010/main" val="325497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9E067-4A6B-BDFC-412A-025B222DD4D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B2F3325-9691-3648-D891-82529A1C29F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023" y="0"/>
            <a:ext cx="12177953" cy="6857999"/>
          </a:xfrm>
          <a:prstGeom prst="rect">
            <a:avLst/>
          </a:prstGeom>
        </p:spPr>
      </p:pic>
    </p:spTree>
    <p:extLst>
      <p:ext uri="{BB962C8B-B14F-4D97-AF65-F5344CB8AC3E}">
        <p14:creationId xmlns:p14="http://schemas.microsoft.com/office/powerpoint/2010/main" val="3860310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43E44-5632-ABD4-8083-BF96562EB7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6CAB51-B8C3-31F5-1CF8-AA6F9B81C07D}"/>
              </a:ext>
            </a:extLst>
          </p:cNvPr>
          <p:cNvSpPr>
            <a:spLocks noGrp="1"/>
          </p:cNvSpPr>
          <p:nvPr>
            <p:ph type="title"/>
          </p:nvPr>
        </p:nvSpPr>
        <p:spPr/>
        <p:txBody>
          <a:bodyPr/>
          <a:lstStyle/>
          <a:p>
            <a:r>
              <a:rPr lang="en-US" dirty="0"/>
              <a:t>17.7 Heapsort</a:t>
            </a:r>
          </a:p>
        </p:txBody>
      </p:sp>
      <p:pic>
        <p:nvPicPr>
          <p:cNvPr id="4" name="Picture 3">
            <a:extLst>
              <a:ext uri="{FF2B5EF4-FFF2-40B4-BE49-F238E27FC236}">
                <a16:creationId xmlns:a16="http://schemas.microsoft.com/office/drawing/2014/main" id="{FB6B8147-DECD-1E61-8A18-A1DDF9F71E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E9F561EB-9F01-31AB-BC26-3632CD8C563A}"/>
              </a:ext>
            </a:extLst>
          </p:cNvPr>
          <p:cNvSpPr>
            <a:spLocks noGrp="1"/>
          </p:cNvSpPr>
          <p:nvPr>
            <p:ph idx="1"/>
          </p:nvPr>
        </p:nvSpPr>
        <p:spPr>
          <a:xfrm>
            <a:off x="838200" y="1825625"/>
            <a:ext cx="10515600" cy="4036695"/>
          </a:xfrm>
          <a:ln>
            <a:noFill/>
          </a:ln>
        </p:spPr>
        <p:txBody>
          <a:bodyPr>
            <a:normAutofit/>
          </a:bodyPr>
          <a:lstStyle/>
          <a:p>
            <a:r>
              <a:rPr lang="en-US" dirty="0"/>
              <a:t>A complete binary tree is a binary tree where all non-leaf nodes must have two child nodes if there are enough nodes, and the leaf nodes must be filled from left to right. </a:t>
            </a:r>
          </a:p>
        </p:txBody>
      </p:sp>
      <p:pic>
        <p:nvPicPr>
          <p:cNvPr id="6" name="Picture 5" descr="a complete binary tree:&#10;5 at root&#10;6 and 9 are left and right of 5&#10;16 and 11 are left and right of 6, 20 and 25 are left and right of 9">
            <a:extLst>
              <a:ext uri="{FF2B5EF4-FFF2-40B4-BE49-F238E27FC236}">
                <a16:creationId xmlns:a16="http://schemas.microsoft.com/office/drawing/2014/main" id="{A1E6DE16-36CC-95EB-DD47-27A9D8E38718}"/>
              </a:ext>
            </a:extLst>
          </p:cNvPr>
          <p:cNvPicPr>
            <a:picLocks noChangeAspect="1"/>
          </p:cNvPicPr>
          <p:nvPr/>
        </p:nvPicPr>
        <p:blipFill>
          <a:blip r:embed="rId3"/>
          <a:stretch>
            <a:fillRect/>
          </a:stretch>
        </p:blipFill>
        <p:spPr>
          <a:xfrm>
            <a:off x="1456035" y="3239452"/>
            <a:ext cx="4638987" cy="2159371"/>
          </a:xfrm>
          <a:prstGeom prst="rect">
            <a:avLst/>
          </a:prstGeom>
        </p:spPr>
      </p:pic>
      <p:pic>
        <p:nvPicPr>
          <p:cNvPr id="7" name="Picture 6" descr="a complete binary tree:&#10;5 at root&#10;6 and 9 are left and right of 5&#10;16 and 11 are left and right of 6, 20 is left of 9">
            <a:extLst>
              <a:ext uri="{FF2B5EF4-FFF2-40B4-BE49-F238E27FC236}">
                <a16:creationId xmlns:a16="http://schemas.microsoft.com/office/drawing/2014/main" id="{1DD08F24-8BC2-F9E9-C102-F41E68648D34}"/>
              </a:ext>
            </a:extLst>
          </p:cNvPr>
          <p:cNvPicPr>
            <a:picLocks noChangeAspect="1"/>
          </p:cNvPicPr>
          <p:nvPr/>
        </p:nvPicPr>
        <p:blipFill>
          <a:blip r:embed="rId4"/>
          <a:stretch>
            <a:fillRect/>
          </a:stretch>
        </p:blipFill>
        <p:spPr>
          <a:xfrm>
            <a:off x="6330581" y="3166155"/>
            <a:ext cx="4405384" cy="2159371"/>
          </a:xfrm>
          <a:prstGeom prst="rect">
            <a:avLst/>
          </a:prstGeom>
        </p:spPr>
      </p:pic>
    </p:spTree>
    <p:extLst>
      <p:ext uri="{BB962C8B-B14F-4D97-AF65-F5344CB8AC3E}">
        <p14:creationId xmlns:p14="http://schemas.microsoft.com/office/powerpoint/2010/main" val="1158842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BB8C6-E076-85FB-6DD7-726BF88294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712B1B-3195-86B5-C2F1-728147DAF2B6}"/>
              </a:ext>
            </a:extLst>
          </p:cNvPr>
          <p:cNvSpPr>
            <a:spLocks noGrp="1"/>
          </p:cNvSpPr>
          <p:nvPr>
            <p:ph type="title"/>
          </p:nvPr>
        </p:nvSpPr>
        <p:spPr/>
        <p:txBody>
          <a:bodyPr/>
          <a:lstStyle/>
          <a:p>
            <a:r>
              <a:rPr lang="en-US" dirty="0"/>
              <a:t>17.7 Heapsort</a:t>
            </a:r>
          </a:p>
        </p:txBody>
      </p:sp>
      <p:pic>
        <p:nvPicPr>
          <p:cNvPr id="4" name="Picture 3">
            <a:extLst>
              <a:ext uri="{FF2B5EF4-FFF2-40B4-BE49-F238E27FC236}">
                <a16:creationId xmlns:a16="http://schemas.microsoft.com/office/drawing/2014/main" id="{DA4CF192-232D-FB73-D2C8-C3AB3353145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75058872-B909-8D63-4272-FC18CA24149D}"/>
              </a:ext>
            </a:extLst>
          </p:cNvPr>
          <p:cNvSpPr>
            <a:spLocks noGrp="1"/>
          </p:cNvSpPr>
          <p:nvPr>
            <p:ph idx="1"/>
          </p:nvPr>
        </p:nvSpPr>
        <p:spPr>
          <a:xfrm>
            <a:off x="838200" y="1825625"/>
            <a:ext cx="10515600" cy="4036695"/>
          </a:xfrm>
          <a:ln>
            <a:noFill/>
          </a:ln>
        </p:spPr>
        <p:txBody>
          <a:bodyPr>
            <a:normAutofit/>
          </a:bodyPr>
          <a:lstStyle/>
          <a:p>
            <a:r>
              <a:rPr lang="en-US" dirty="0"/>
              <a:t>A complete binary tree is a binary tree where all non-leaf nodes must have two child nodes if there are enough nodes, and the leaf nodes must be filled from left to right. </a:t>
            </a:r>
          </a:p>
        </p:txBody>
      </p:sp>
      <p:pic>
        <p:nvPicPr>
          <p:cNvPr id="9" name="Picture 8" descr="a not complete binary tree:&#10;5 at root&#10;6 and 9 are left and right of 5&#10;16 and 11 are left and right of 6, 20 and 25 are left and right of 9&#10;7 is right of 16">
            <a:extLst>
              <a:ext uri="{FF2B5EF4-FFF2-40B4-BE49-F238E27FC236}">
                <a16:creationId xmlns:a16="http://schemas.microsoft.com/office/drawing/2014/main" id="{82665C55-3186-95CB-33BC-674B1882336C}"/>
              </a:ext>
            </a:extLst>
          </p:cNvPr>
          <p:cNvPicPr>
            <a:picLocks noChangeAspect="1"/>
          </p:cNvPicPr>
          <p:nvPr/>
        </p:nvPicPr>
        <p:blipFill>
          <a:blip r:embed="rId3"/>
          <a:stretch>
            <a:fillRect/>
          </a:stretch>
        </p:blipFill>
        <p:spPr>
          <a:xfrm>
            <a:off x="1132531" y="3228819"/>
            <a:ext cx="4637743" cy="2338861"/>
          </a:xfrm>
          <a:prstGeom prst="rect">
            <a:avLst/>
          </a:prstGeom>
        </p:spPr>
      </p:pic>
      <p:pic>
        <p:nvPicPr>
          <p:cNvPr id="11" name="Picture 10" descr="a not complete binary tree:&#10;5 at root&#10;6 and 9 are left and right of 5&#10;16 and 11 are left and right of 6, 25 is right of 9&#10;7 is right of 16, 20 is left of 25">
            <a:extLst>
              <a:ext uri="{FF2B5EF4-FFF2-40B4-BE49-F238E27FC236}">
                <a16:creationId xmlns:a16="http://schemas.microsoft.com/office/drawing/2014/main" id="{42BFA7FF-CE5E-A15E-5FB9-BE3708001100}"/>
              </a:ext>
            </a:extLst>
          </p:cNvPr>
          <p:cNvPicPr>
            <a:picLocks noChangeAspect="1"/>
          </p:cNvPicPr>
          <p:nvPr/>
        </p:nvPicPr>
        <p:blipFill>
          <a:blip r:embed="rId4"/>
          <a:stretch>
            <a:fillRect/>
          </a:stretch>
        </p:blipFill>
        <p:spPr>
          <a:xfrm>
            <a:off x="6304279" y="3228819"/>
            <a:ext cx="4429743" cy="2448267"/>
          </a:xfrm>
          <a:prstGeom prst="rect">
            <a:avLst/>
          </a:prstGeom>
        </p:spPr>
      </p:pic>
    </p:spTree>
    <p:extLst>
      <p:ext uri="{BB962C8B-B14F-4D97-AF65-F5344CB8AC3E}">
        <p14:creationId xmlns:p14="http://schemas.microsoft.com/office/powerpoint/2010/main" val="3967980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89ABB-9128-CEB4-99B5-501E3C6103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3EE7A-0445-CEB5-08C6-D6BDEDEB458F}"/>
              </a:ext>
            </a:extLst>
          </p:cNvPr>
          <p:cNvSpPr>
            <a:spLocks noGrp="1"/>
          </p:cNvSpPr>
          <p:nvPr>
            <p:ph type="title"/>
          </p:nvPr>
        </p:nvSpPr>
        <p:spPr/>
        <p:txBody>
          <a:bodyPr/>
          <a:lstStyle/>
          <a:p>
            <a:r>
              <a:rPr lang="en-US" dirty="0"/>
              <a:t>17.7 Heapsort</a:t>
            </a:r>
          </a:p>
        </p:txBody>
      </p:sp>
      <p:pic>
        <p:nvPicPr>
          <p:cNvPr id="4" name="Picture 3">
            <a:extLst>
              <a:ext uri="{FF2B5EF4-FFF2-40B4-BE49-F238E27FC236}">
                <a16:creationId xmlns:a16="http://schemas.microsoft.com/office/drawing/2014/main" id="{423552A0-7C98-F79B-16A9-1A9CC4AC2D3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53A00D83-8CF1-C36B-8FFC-CCF954E5212D}"/>
              </a:ext>
            </a:extLst>
          </p:cNvPr>
          <p:cNvSpPr>
            <a:spLocks noGrp="1"/>
          </p:cNvSpPr>
          <p:nvPr>
            <p:ph idx="1"/>
          </p:nvPr>
        </p:nvSpPr>
        <p:spPr>
          <a:xfrm>
            <a:off x="838200" y="1825625"/>
            <a:ext cx="10182245" cy="1603375"/>
          </a:xfrm>
          <a:ln>
            <a:noFill/>
          </a:ln>
        </p:spPr>
        <p:txBody>
          <a:bodyPr>
            <a:normAutofit fontScale="70000" lnSpcReduction="20000"/>
          </a:bodyPr>
          <a:lstStyle/>
          <a:p>
            <a:r>
              <a:rPr lang="en-US" dirty="0"/>
              <a:t>For a complete binary tree, if every node is arranged such that it contains the minimum value (or maximum value) in the subtree rooted at the node, the binary tree is then a </a:t>
            </a:r>
            <a:r>
              <a:rPr lang="en-US" b="1" dirty="0"/>
              <a:t>min-heap</a:t>
            </a:r>
            <a:r>
              <a:rPr lang="en-US" dirty="0"/>
              <a:t> (or </a:t>
            </a:r>
            <a:r>
              <a:rPr lang="en-US" b="1" dirty="0"/>
              <a:t>max-heap</a:t>
            </a:r>
            <a:r>
              <a:rPr lang="en-US" dirty="0"/>
              <a:t>) data structure. In a min-heap, for every node, the value of the node is less than or equal to the values of its children, ensuring that the minimum value is at the root, and the property is recursively satisfied for all subtrees. Similarly, in a max-heap, every node contains a value greater than or equal to its children's values, ensuring that the maximum value is at the root.</a:t>
            </a:r>
          </a:p>
        </p:txBody>
      </p:sp>
      <p:pic>
        <p:nvPicPr>
          <p:cNvPr id="6" name="Picture 5" descr="a complete binary tree:&#10;5 at root&#10;6 and 9 are left and right of 5&#10;16 and 11 are left and right of 6, 20 and 25 are left and right of 9">
            <a:extLst>
              <a:ext uri="{FF2B5EF4-FFF2-40B4-BE49-F238E27FC236}">
                <a16:creationId xmlns:a16="http://schemas.microsoft.com/office/drawing/2014/main" id="{B6684FFD-00B8-A1AD-00D3-6AC5C8D20850}"/>
              </a:ext>
            </a:extLst>
          </p:cNvPr>
          <p:cNvPicPr>
            <a:picLocks noChangeAspect="1"/>
          </p:cNvPicPr>
          <p:nvPr/>
        </p:nvPicPr>
        <p:blipFill>
          <a:blip r:embed="rId3"/>
          <a:stretch>
            <a:fillRect/>
          </a:stretch>
        </p:blipFill>
        <p:spPr>
          <a:xfrm>
            <a:off x="1290335" y="3486862"/>
            <a:ext cx="4638987" cy="2159371"/>
          </a:xfrm>
          <a:prstGeom prst="rect">
            <a:avLst/>
          </a:prstGeom>
        </p:spPr>
      </p:pic>
      <p:pic>
        <p:nvPicPr>
          <p:cNvPr id="7" name="Picture 6" descr="a complete binary tree:&#10;5 at root&#10;6 and 9 are left and right of 5&#10;16 and 11 are left and right of 6, 20 is left of 9">
            <a:extLst>
              <a:ext uri="{FF2B5EF4-FFF2-40B4-BE49-F238E27FC236}">
                <a16:creationId xmlns:a16="http://schemas.microsoft.com/office/drawing/2014/main" id="{20AA696A-071C-1932-94F3-5D233AEC1710}"/>
              </a:ext>
            </a:extLst>
          </p:cNvPr>
          <p:cNvPicPr>
            <a:picLocks noChangeAspect="1"/>
          </p:cNvPicPr>
          <p:nvPr/>
        </p:nvPicPr>
        <p:blipFill>
          <a:blip r:embed="rId4"/>
          <a:stretch>
            <a:fillRect/>
          </a:stretch>
        </p:blipFill>
        <p:spPr>
          <a:xfrm>
            <a:off x="6496281" y="3429000"/>
            <a:ext cx="4405384" cy="2159371"/>
          </a:xfrm>
          <a:prstGeom prst="rect">
            <a:avLst/>
          </a:prstGeom>
        </p:spPr>
      </p:pic>
    </p:spTree>
    <p:extLst>
      <p:ext uri="{BB962C8B-B14F-4D97-AF65-F5344CB8AC3E}">
        <p14:creationId xmlns:p14="http://schemas.microsoft.com/office/powerpoint/2010/main" val="3394314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8AE1A-9B03-03C5-BE25-D1A7F21E1C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F484C-ADE9-7019-B21C-BB5CB0A14EE4}"/>
              </a:ext>
            </a:extLst>
          </p:cNvPr>
          <p:cNvSpPr>
            <a:spLocks noGrp="1"/>
          </p:cNvSpPr>
          <p:nvPr>
            <p:ph type="title"/>
          </p:nvPr>
        </p:nvSpPr>
        <p:spPr/>
        <p:txBody>
          <a:bodyPr/>
          <a:lstStyle/>
          <a:p>
            <a:r>
              <a:rPr lang="en-US" dirty="0"/>
              <a:t>17.7 Heapsort</a:t>
            </a:r>
          </a:p>
        </p:txBody>
      </p:sp>
      <p:pic>
        <p:nvPicPr>
          <p:cNvPr id="4" name="Picture 3">
            <a:extLst>
              <a:ext uri="{FF2B5EF4-FFF2-40B4-BE49-F238E27FC236}">
                <a16:creationId xmlns:a16="http://schemas.microsoft.com/office/drawing/2014/main" id="{3E49F120-75A5-457A-F1F4-49D24205D36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87547A2A-CE6C-5C5B-1C2C-9522165C5679}"/>
              </a:ext>
            </a:extLst>
          </p:cNvPr>
          <p:cNvSpPr>
            <a:spLocks noGrp="1"/>
          </p:cNvSpPr>
          <p:nvPr>
            <p:ph idx="1"/>
          </p:nvPr>
        </p:nvSpPr>
        <p:spPr>
          <a:xfrm>
            <a:off x="838200" y="1825625"/>
            <a:ext cx="10515600" cy="4046855"/>
          </a:xfrm>
          <a:ln>
            <a:noFill/>
          </a:ln>
        </p:spPr>
        <p:txBody>
          <a:bodyPr>
            <a:normAutofit lnSpcReduction="10000"/>
          </a:bodyPr>
          <a:lstStyle/>
          <a:p>
            <a:r>
              <a:rPr lang="en-US" dirty="0"/>
              <a:t>Even though a heap is a binary tree, implementing a heap using an array-style data structure, such as an </a:t>
            </a:r>
            <a:r>
              <a:rPr lang="en-US" dirty="0" err="1"/>
              <a:t>ArrayList</a:t>
            </a:r>
            <a:r>
              <a:rPr lang="en-US" dirty="0"/>
              <a:t>, is often a better choice than using a linked implementation. This is because a heap is a complete binary tree, and the structure of the heap allows for efficient access to its elements using an array.</a:t>
            </a:r>
          </a:p>
          <a:p>
            <a:r>
              <a:rPr lang="en-US" dirty="0"/>
              <a:t>In a heap, the relationship between the indices of a node and its children is straightforward. If a node is located at index [k], the indices of its left and right children can be determined as follows:</a:t>
            </a:r>
          </a:p>
          <a:p>
            <a:pPr lvl="1">
              <a:buFont typeface="Courier New" panose="02070309020205020404" pitchFamily="49" charset="0"/>
              <a:buChar char="o"/>
            </a:pPr>
            <a:r>
              <a:rPr lang="en-US" dirty="0"/>
              <a:t>Left child index: [2 * k + 1]</a:t>
            </a:r>
          </a:p>
          <a:p>
            <a:pPr lvl="1">
              <a:buFont typeface="Courier New" panose="02070309020205020404" pitchFamily="49" charset="0"/>
              <a:buChar char="o"/>
            </a:pPr>
            <a:r>
              <a:rPr lang="en-US" dirty="0"/>
              <a:t>Right child index: [2 * k + 2]</a:t>
            </a:r>
          </a:p>
        </p:txBody>
      </p:sp>
    </p:spTree>
    <p:extLst>
      <p:ext uri="{BB962C8B-B14F-4D97-AF65-F5344CB8AC3E}">
        <p14:creationId xmlns:p14="http://schemas.microsoft.com/office/powerpoint/2010/main" val="19372889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CF0A7-5EAC-285A-DB4C-33CF072A57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B434DC-5FC3-8510-BFFA-D06CD30047CD}"/>
              </a:ext>
            </a:extLst>
          </p:cNvPr>
          <p:cNvSpPr>
            <a:spLocks noGrp="1"/>
          </p:cNvSpPr>
          <p:nvPr>
            <p:ph type="title"/>
          </p:nvPr>
        </p:nvSpPr>
        <p:spPr/>
        <p:txBody>
          <a:bodyPr/>
          <a:lstStyle/>
          <a:p>
            <a:r>
              <a:rPr lang="en-US" dirty="0"/>
              <a:t>17.7 Heapsort</a:t>
            </a:r>
          </a:p>
        </p:txBody>
      </p:sp>
      <p:pic>
        <p:nvPicPr>
          <p:cNvPr id="4" name="Picture 3">
            <a:extLst>
              <a:ext uri="{FF2B5EF4-FFF2-40B4-BE49-F238E27FC236}">
                <a16:creationId xmlns:a16="http://schemas.microsoft.com/office/drawing/2014/main" id="{83063EB6-1250-FE1F-B55B-CB60D34691E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8317AFBD-B92C-4202-392F-31AB60AA668E}"/>
              </a:ext>
            </a:extLst>
          </p:cNvPr>
          <p:cNvSpPr>
            <a:spLocks noGrp="1"/>
          </p:cNvSpPr>
          <p:nvPr>
            <p:ph idx="1"/>
          </p:nvPr>
        </p:nvSpPr>
        <p:spPr>
          <a:xfrm>
            <a:off x="838200" y="1825625"/>
            <a:ext cx="4251960" cy="3670935"/>
          </a:xfrm>
          <a:ln>
            <a:noFill/>
          </a:ln>
        </p:spPr>
        <p:txBody>
          <a:bodyPr>
            <a:normAutofit fontScale="70000" lnSpcReduction="20000"/>
          </a:bodyPr>
          <a:lstStyle/>
          <a:p>
            <a:r>
              <a:rPr lang="en-US" dirty="0"/>
              <a:t>In the above-defined relationship, if the calculated left child or right child index is greater than the size of the array minus 1, it indicates that the child node does not exist.</a:t>
            </a:r>
          </a:p>
          <a:p>
            <a:r>
              <a:rPr lang="en-US" dirty="0"/>
              <a:t>Additionally, if a node’s location index is k, the location index of its parent node is given by (k - 1) / 2, provided the parent node exists. Therefore, for a valid parent node, the index (k - 1) / 2 must be greater than or equal to zero. This ensures that the parent node is within the bounds of the array. </a:t>
            </a:r>
          </a:p>
          <a:p>
            <a:endParaRPr lang="en-US" dirty="0"/>
          </a:p>
        </p:txBody>
      </p:sp>
      <p:pic>
        <p:nvPicPr>
          <p:cNvPr id="6" name="Picture 5" descr="a complete binary tree:&#10;5 at root&#10;6 and 9 are left and right of 5&#10;16 and 11 are left and right of 6, 20 and 25 are left and right of 9&#10;&#10;and the arrList: 5, 6, 9, 16, 11, 20, 25">
            <a:extLst>
              <a:ext uri="{FF2B5EF4-FFF2-40B4-BE49-F238E27FC236}">
                <a16:creationId xmlns:a16="http://schemas.microsoft.com/office/drawing/2014/main" id="{2D959921-A4D7-1D02-7BB4-52234EABC547}"/>
              </a:ext>
            </a:extLst>
          </p:cNvPr>
          <p:cNvPicPr>
            <a:picLocks noChangeAspect="1"/>
          </p:cNvPicPr>
          <p:nvPr/>
        </p:nvPicPr>
        <p:blipFill>
          <a:blip r:embed="rId3"/>
          <a:stretch>
            <a:fillRect/>
          </a:stretch>
        </p:blipFill>
        <p:spPr>
          <a:xfrm>
            <a:off x="5513983" y="1825624"/>
            <a:ext cx="5899201" cy="3345815"/>
          </a:xfrm>
          <a:prstGeom prst="rect">
            <a:avLst/>
          </a:prstGeom>
        </p:spPr>
      </p:pic>
    </p:spTree>
    <p:extLst>
      <p:ext uri="{BB962C8B-B14F-4D97-AF65-F5344CB8AC3E}">
        <p14:creationId xmlns:p14="http://schemas.microsoft.com/office/powerpoint/2010/main" val="831976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A9C03-08B4-095D-22D9-DF27974388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8A5DF3-2C43-A9B2-065F-CCEBDDE81B56}"/>
              </a:ext>
            </a:extLst>
          </p:cNvPr>
          <p:cNvSpPr>
            <a:spLocks noGrp="1"/>
          </p:cNvSpPr>
          <p:nvPr>
            <p:ph type="title"/>
          </p:nvPr>
        </p:nvSpPr>
        <p:spPr/>
        <p:txBody>
          <a:bodyPr/>
          <a:lstStyle/>
          <a:p>
            <a:r>
              <a:rPr lang="en-US" dirty="0"/>
              <a:t>17.7 Heapsort</a:t>
            </a:r>
          </a:p>
        </p:txBody>
      </p:sp>
      <p:pic>
        <p:nvPicPr>
          <p:cNvPr id="4" name="Picture 3">
            <a:extLst>
              <a:ext uri="{FF2B5EF4-FFF2-40B4-BE49-F238E27FC236}">
                <a16:creationId xmlns:a16="http://schemas.microsoft.com/office/drawing/2014/main" id="{C9C25846-883E-3118-D87A-22E532BE026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D01D8848-ED41-191A-9D38-7E0824A0E870}"/>
              </a:ext>
            </a:extLst>
          </p:cNvPr>
          <p:cNvSpPr>
            <a:spLocks noGrp="1"/>
          </p:cNvSpPr>
          <p:nvPr>
            <p:ph idx="1"/>
          </p:nvPr>
        </p:nvSpPr>
        <p:spPr>
          <a:xfrm>
            <a:off x="838200" y="1825625"/>
            <a:ext cx="10408920" cy="653415"/>
          </a:xfrm>
          <a:ln>
            <a:noFill/>
          </a:ln>
        </p:spPr>
        <p:txBody>
          <a:bodyPr>
            <a:normAutofit/>
          </a:bodyPr>
          <a:lstStyle/>
          <a:p>
            <a:r>
              <a:rPr lang="en-US" dirty="0"/>
              <a:t>number 7 is inserted in the heap</a:t>
            </a:r>
          </a:p>
        </p:txBody>
      </p:sp>
      <p:pic>
        <p:nvPicPr>
          <p:cNvPr id="7" name="Picture 6" descr="a complete binary tree:&#10;5 at root&#10;6 and 9 are left and right of 5&#10;16 and 11 are left and right of 6, 20 and 25 are left and right of 9&#10;7 is inserted as right of 16">
            <a:extLst>
              <a:ext uri="{FF2B5EF4-FFF2-40B4-BE49-F238E27FC236}">
                <a16:creationId xmlns:a16="http://schemas.microsoft.com/office/drawing/2014/main" id="{8DFD057A-AAF6-4DCC-41AB-0FC986310D2D}"/>
              </a:ext>
            </a:extLst>
          </p:cNvPr>
          <p:cNvPicPr>
            <a:picLocks noChangeAspect="1"/>
          </p:cNvPicPr>
          <p:nvPr/>
        </p:nvPicPr>
        <p:blipFill>
          <a:blip r:embed="rId3"/>
          <a:stretch>
            <a:fillRect/>
          </a:stretch>
        </p:blipFill>
        <p:spPr>
          <a:xfrm>
            <a:off x="2743200" y="2479040"/>
            <a:ext cx="5567680" cy="2879835"/>
          </a:xfrm>
          <a:prstGeom prst="rect">
            <a:avLst/>
          </a:prstGeom>
        </p:spPr>
      </p:pic>
    </p:spTree>
    <p:extLst>
      <p:ext uri="{BB962C8B-B14F-4D97-AF65-F5344CB8AC3E}">
        <p14:creationId xmlns:p14="http://schemas.microsoft.com/office/powerpoint/2010/main" val="3272317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91B90-FBBC-50C5-FE1A-1A4280576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230CB-6D18-3671-0217-C2583C8CE5B6}"/>
              </a:ext>
            </a:extLst>
          </p:cNvPr>
          <p:cNvSpPr>
            <a:spLocks noGrp="1"/>
          </p:cNvSpPr>
          <p:nvPr>
            <p:ph type="title"/>
          </p:nvPr>
        </p:nvSpPr>
        <p:spPr/>
        <p:txBody>
          <a:bodyPr/>
          <a:lstStyle/>
          <a:p>
            <a:r>
              <a:rPr lang="en-US" dirty="0"/>
              <a:t>17.7 Heapsort</a:t>
            </a:r>
          </a:p>
        </p:txBody>
      </p:sp>
      <p:pic>
        <p:nvPicPr>
          <p:cNvPr id="4" name="Picture 3">
            <a:extLst>
              <a:ext uri="{FF2B5EF4-FFF2-40B4-BE49-F238E27FC236}">
                <a16:creationId xmlns:a16="http://schemas.microsoft.com/office/drawing/2014/main" id="{271425F8-1516-2925-472F-E03A3C7642A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4C241654-A6B3-9084-333F-9C3A28A5B27D}"/>
              </a:ext>
            </a:extLst>
          </p:cNvPr>
          <p:cNvSpPr>
            <a:spLocks noGrp="1"/>
          </p:cNvSpPr>
          <p:nvPr>
            <p:ph idx="1"/>
          </p:nvPr>
        </p:nvSpPr>
        <p:spPr>
          <a:xfrm>
            <a:off x="838200" y="1825625"/>
            <a:ext cx="10408920" cy="653415"/>
          </a:xfrm>
          <a:ln>
            <a:noFill/>
          </a:ln>
        </p:spPr>
        <p:txBody>
          <a:bodyPr>
            <a:normAutofit/>
          </a:bodyPr>
          <a:lstStyle/>
          <a:p>
            <a:r>
              <a:rPr lang="en-US" dirty="0"/>
              <a:t>number 0 is inserted in the heap</a:t>
            </a:r>
          </a:p>
        </p:txBody>
      </p:sp>
      <p:pic>
        <p:nvPicPr>
          <p:cNvPr id="6" name="Picture 5" descr="a complete binary tree:&#10;5 at root&#10;6 and 9 are left and right of 5&#10;16 and 11 are left and right of 6, 20 and 25 are left and right of 9&#10;then 0 is inserted at root&#10;5 is left of 0, 6 is left of 5, and 7 is right of 6">
            <a:extLst>
              <a:ext uri="{FF2B5EF4-FFF2-40B4-BE49-F238E27FC236}">
                <a16:creationId xmlns:a16="http://schemas.microsoft.com/office/drawing/2014/main" id="{7AF3BBAD-C84D-4806-33D0-C618B8474F00}"/>
              </a:ext>
            </a:extLst>
          </p:cNvPr>
          <p:cNvPicPr>
            <a:picLocks noChangeAspect="1"/>
          </p:cNvPicPr>
          <p:nvPr/>
        </p:nvPicPr>
        <p:blipFill>
          <a:blip r:embed="rId3"/>
          <a:stretch>
            <a:fillRect/>
          </a:stretch>
        </p:blipFill>
        <p:spPr>
          <a:xfrm>
            <a:off x="3078139" y="2351214"/>
            <a:ext cx="5539886" cy="3094545"/>
          </a:xfrm>
          <a:prstGeom prst="rect">
            <a:avLst/>
          </a:prstGeom>
        </p:spPr>
      </p:pic>
    </p:spTree>
    <p:extLst>
      <p:ext uri="{BB962C8B-B14F-4D97-AF65-F5344CB8AC3E}">
        <p14:creationId xmlns:p14="http://schemas.microsoft.com/office/powerpoint/2010/main" val="11361949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DB90F-59D7-13D4-32DD-5787489C32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3795F-D18A-A550-62E3-26B907B8C5D9}"/>
              </a:ext>
            </a:extLst>
          </p:cNvPr>
          <p:cNvSpPr>
            <a:spLocks noGrp="1"/>
          </p:cNvSpPr>
          <p:nvPr>
            <p:ph type="title"/>
          </p:nvPr>
        </p:nvSpPr>
        <p:spPr/>
        <p:txBody>
          <a:bodyPr/>
          <a:lstStyle/>
          <a:p>
            <a:r>
              <a:rPr lang="en-US" dirty="0"/>
              <a:t>17.7 Heapsort</a:t>
            </a:r>
          </a:p>
        </p:txBody>
      </p:sp>
      <p:pic>
        <p:nvPicPr>
          <p:cNvPr id="4" name="Picture 3">
            <a:extLst>
              <a:ext uri="{FF2B5EF4-FFF2-40B4-BE49-F238E27FC236}">
                <a16:creationId xmlns:a16="http://schemas.microsoft.com/office/drawing/2014/main" id="{531E642E-446D-8401-271E-78E50900723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5" name="Content Placeholder 4">
            <a:extLst>
              <a:ext uri="{FF2B5EF4-FFF2-40B4-BE49-F238E27FC236}">
                <a16:creationId xmlns:a16="http://schemas.microsoft.com/office/drawing/2014/main" id="{62483727-7807-351A-86D2-04540B6D2E00}"/>
              </a:ext>
            </a:extLst>
          </p:cNvPr>
          <p:cNvSpPr>
            <a:spLocks noGrp="1"/>
          </p:cNvSpPr>
          <p:nvPr>
            <p:ph idx="1"/>
          </p:nvPr>
        </p:nvSpPr>
        <p:spPr>
          <a:xfrm>
            <a:off x="838200" y="1825625"/>
            <a:ext cx="10408920" cy="653415"/>
          </a:xfrm>
          <a:ln>
            <a:noFill/>
          </a:ln>
        </p:spPr>
        <p:txBody>
          <a:bodyPr>
            <a:normAutofit/>
          </a:bodyPr>
          <a:lstStyle/>
          <a:p>
            <a:r>
              <a:rPr lang="en-US" dirty="0"/>
              <a:t>number 23 is inserted in the heap</a:t>
            </a:r>
          </a:p>
        </p:txBody>
      </p:sp>
      <p:pic>
        <p:nvPicPr>
          <p:cNvPr id="7" name="Picture 6" descr="a complete binary tree:&#10;5 at root&#10;6 and 9 are left and right of 5&#10;16 and 11 are left and right of 6, 20 and 25 are left and right of 9&#10;then 0 is inserted at root&#10;5 is left of 0, 6 is left of 5, and 7 is right of 6, and 23 is inserted as right of 11">
            <a:extLst>
              <a:ext uri="{FF2B5EF4-FFF2-40B4-BE49-F238E27FC236}">
                <a16:creationId xmlns:a16="http://schemas.microsoft.com/office/drawing/2014/main" id="{8488EC01-9017-156C-DCFB-BBA014D5BEFA}"/>
              </a:ext>
            </a:extLst>
          </p:cNvPr>
          <p:cNvPicPr>
            <a:picLocks noChangeAspect="1"/>
          </p:cNvPicPr>
          <p:nvPr/>
        </p:nvPicPr>
        <p:blipFill>
          <a:blip r:embed="rId3"/>
          <a:stretch>
            <a:fillRect/>
          </a:stretch>
        </p:blipFill>
        <p:spPr>
          <a:xfrm>
            <a:off x="944880" y="2152332"/>
            <a:ext cx="5735880" cy="2773174"/>
          </a:xfrm>
          <a:prstGeom prst="rect">
            <a:avLst/>
          </a:prstGeom>
        </p:spPr>
      </p:pic>
      <p:pic>
        <p:nvPicPr>
          <p:cNvPr id="9" name="Picture 8">
            <a:extLst>
              <a:ext uri="{FF2B5EF4-FFF2-40B4-BE49-F238E27FC236}">
                <a16:creationId xmlns:a16="http://schemas.microsoft.com/office/drawing/2014/main" id="{2A691D39-CFC9-336F-CF06-1D6697EF2A41}"/>
              </a:ext>
            </a:extLst>
          </p:cNvPr>
          <p:cNvPicPr>
            <a:picLocks noChangeAspect="1"/>
          </p:cNvPicPr>
          <p:nvPr/>
        </p:nvPicPr>
        <p:blipFill>
          <a:blip r:embed="rId4"/>
          <a:stretch>
            <a:fillRect/>
          </a:stretch>
        </p:blipFill>
        <p:spPr>
          <a:xfrm>
            <a:off x="5769557" y="4339636"/>
            <a:ext cx="5306165" cy="1171739"/>
          </a:xfrm>
          <a:prstGeom prst="rect">
            <a:avLst/>
          </a:prstGeom>
        </p:spPr>
      </p:pic>
    </p:spTree>
    <p:extLst>
      <p:ext uri="{BB962C8B-B14F-4D97-AF65-F5344CB8AC3E}">
        <p14:creationId xmlns:p14="http://schemas.microsoft.com/office/powerpoint/2010/main" val="3691384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7A0C1-96CB-9685-FFAC-A1E6408F9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A8034-70B2-F94D-6449-D514E123E11F}"/>
              </a:ext>
            </a:extLst>
          </p:cNvPr>
          <p:cNvSpPr>
            <a:spLocks noGrp="1"/>
          </p:cNvSpPr>
          <p:nvPr>
            <p:ph type="title"/>
          </p:nvPr>
        </p:nvSpPr>
        <p:spPr/>
        <p:txBody>
          <a:bodyPr/>
          <a:lstStyle/>
          <a:p>
            <a:r>
              <a:rPr lang="en-US" dirty="0"/>
              <a:t>Which National Park is it?</a:t>
            </a:r>
          </a:p>
        </p:txBody>
      </p:sp>
      <p:pic>
        <p:nvPicPr>
          <p:cNvPr id="4" name="Picture 3">
            <a:extLst>
              <a:ext uri="{FF2B5EF4-FFF2-40B4-BE49-F238E27FC236}">
                <a16:creationId xmlns:a16="http://schemas.microsoft.com/office/drawing/2014/main" id="{1AC348B7-E159-19EC-3385-C122B8DE62C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Content Placeholder 6">
            <a:extLst>
              <a:ext uri="{FF2B5EF4-FFF2-40B4-BE49-F238E27FC236}">
                <a16:creationId xmlns:a16="http://schemas.microsoft.com/office/drawing/2014/main" id="{E4735773-D704-E7DC-EA8D-977BD5E9293B}"/>
              </a:ext>
            </a:extLst>
          </p:cNvPr>
          <p:cNvSpPr>
            <a:spLocks noGrp="1"/>
          </p:cNvSpPr>
          <p:nvPr>
            <p:ph idx="1"/>
          </p:nvPr>
        </p:nvSpPr>
        <p:spPr>
          <a:xfrm>
            <a:off x="871927" y="1599565"/>
            <a:ext cx="10515600" cy="4351338"/>
          </a:xfrm>
        </p:spPr>
        <p:txBody>
          <a:bodyPr/>
          <a:lstStyle/>
          <a:p>
            <a:r>
              <a:rPr lang="en-US" dirty="0"/>
              <a:t>Answer: Great Sand Dunes National Park and Preserve</a:t>
            </a:r>
          </a:p>
        </p:txBody>
      </p:sp>
    </p:spTree>
    <p:extLst>
      <p:ext uri="{BB962C8B-B14F-4D97-AF65-F5344CB8AC3E}">
        <p14:creationId xmlns:p14="http://schemas.microsoft.com/office/powerpoint/2010/main" val="36545483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3922</TotalTime>
  <Words>1545</Words>
  <Application>Microsoft Office PowerPoint</Application>
  <PresentationFormat>Widescreen</PresentationFormat>
  <Paragraphs>88</Paragraphs>
  <Slides>30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Aptos Display</vt:lpstr>
      <vt:lpstr>Arial</vt:lpstr>
      <vt:lpstr>Courier New</vt:lpstr>
      <vt:lpstr>Office Theme</vt:lpstr>
      <vt:lpstr>PowerPoint Presentation</vt:lpstr>
      <vt:lpstr>Java OOP and Data Structures with Introduction to Secure Coding Dr. Ziping Liu  </vt:lpstr>
      <vt:lpstr>https://he.kendallhunt.com/product/java-oop-and-data-structures-introduction-secure-coding  </vt:lpstr>
      <vt:lpstr>Chapter Outlines</vt:lpstr>
      <vt:lpstr>20.1 What Is an AVL Tree?</vt:lpstr>
      <vt:lpstr>20.1 What Is an AVL Tree?</vt:lpstr>
      <vt:lpstr>20.1 What Is an AVL Tree?</vt:lpstr>
      <vt:lpstr>20.1 What Is an AVL Tree?</vt:lpstr>
      <vt:lpstr>20.1 What Is an AVL Tree?</vt:lpstr>
      <vt:lpstr>20.2 Techniques to Balance a Node in an AVL Tree</vt:lpstr>
      <vt:lpstr>20.2 Techniques to Balance a Node in an AVL Tree</vt:lpstr>
      <vt:lpstr>20.2 Techniques to Balance a Node in an AVL Tree</vt:lpstr>
      <vt:lpstr>20.2 Techniques to Balance a Node in an AVL Tree</vt:lpstr>
      <vt:lpstr>20.2 Techniques to Balance a Node in an AVL Tree</vt:lpstr>
      <vt:lpstr>20.2 Techniques to Balance a Node in an AVL Tree</vt:lpstr>
      <vt:lpstr>20.3 Iterative Implementation of Insertion in an AVL Tree</vt:lpstr>
      <vt:lpstr>20.4 Iterative Implementation of Deletion in an AVL Tree</vt:lpstr>
      <vt:lpstr>20.5 Recursive Implementation of Insertion and Deletion in an AVL Tree</vt:lpstr>
      <vt:lpstr>20.5 Recursive Implementation of Insertion and Deletion in an AVL Tree</vt:lpstr>
      <vt:lpstr>PowerPoint Presentation</vt:lpstr>
      <vt:lpstr>PowerPoint Presentation</vt:lpstr>
      <vt:lpstr>17.7 Heapsort</vt:lpstr>
      <vt:lpstr>17.7 Heapsort</vt:lpstr>
      <vt:lpstr>17.7 Heapsort</vt:lpstr>
      <vt:lpstr>17.7 Heapsort</vt:lpstr>
      <vt:lpstr>17.7 Heapsort</vt:lpstr>
      <vt:lpstr>17.7 Heapsort</vt:lpstr>
      <vt:lpstr>17.7 Heapsort</vt:lpstr>
      <vt:lpstr>17.7 Heapsort</vt:lpstr>
      <vt:lpstr>Which National Park is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Ziping</dc:creator>
  <cp:lastModifiedBy>Liu, Ziping</cp:lastModifiedBy>
  <cp:revision>438</cp:revision>
  <dcterms:created xsi:type="dcterms:W3CDTF">2025-01-08T14:48:28Z</dcterms:created>
  <dcterms:modified xsi:type="dcterms:W3CDTF">2026-09-15T16:29:25Z</dcterms:modified>
</cp:coreProperties>
</file>