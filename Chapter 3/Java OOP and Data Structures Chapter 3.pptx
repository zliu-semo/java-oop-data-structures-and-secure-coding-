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8" r:id="rId2"/>
    <p:sldId id="292" r:id="rId3"/>
    <p:sldId id="293" r:id="rId4"/>
    <p:sldId id="258" r:id="rId5"/>
    <p:sldId id="260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39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2642B-877C-E7C7-3675-E381E528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2" b="5862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3 Advanced Class Topics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9596D-3238-32D6-D33B-5D014D5C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BB5AB-B2B0-1337-4FD3-62A2B08FD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D41F8-1D5A-8E51-D920-86CF65C22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16C2F-FBA5-80F7-1B8D-8BEFFC62A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2" b="5862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34BCFC3-84F6-670A-C165-602F9E4F8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AE3AAD3D-5A83-6A4D-431C-845D121F6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DC5466-9914-9EF1-D2A7-3BA71D96A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BABC2C1-F0B4-676D-2ADD-0A0C98F90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A2F72C-B284-AB3C-ABC2-F77A8EF02C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498E0F9-819A-31EE-6B59-1C40C0F9B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3 Advanced Class Topics</a:t>
            </a:r>
          </a:p>
        </p:txBody>
      </p:sp>
    </p:spTree>
    <p:extLst>
      <p:ext uri="{BB962C8B-B14F-4D97-AF65-F5344CB8AC3E}">
        <p14:creationId xmlns:p14="http://schemas.microsoft.com/office/powerpoint/2010/main" val="4571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dirty="0"/>
              <a:t>Passing references as method parameters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dirty="0"/>
              <a:t>Defining pass-by-value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dirty="0"/>
              <a:t>Fine-tuning class definitions with the static and final keywords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dirty="0"/>
              <a:t>Understanding the aggregation (“has a”) relation among classes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dirty="0"/>
              <a:t>Differentiating between shallow copy and deep copy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dirty="0"/>
              <a:t>Processing an array of objects (available on the supplemental website)</a:t>
            </a:r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Passing References as Method Parameters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3321141"/>
          </a:xfrm>
        </p:spPr>
        <p:txBody>
          <a:bodyPr>
            <a:normAutofit/>
          </a:bodyPr>
          <a:lstStyle/>
          <a:p>
            <a:r>
              <a:rPr lang="en-US" dirty="0" err="1"/>
              <a:t>swapPersonCopyVer</a:t>
            </a:r>
            <a:r>
              <a:rPr lang="en-US" dirty="0"/>
              <a:t>() method in our code example: JavaClassEx1_Person</a:t>
            </a:r>
          </a:p>
          <a:p>
            <a:r>
              <a:rPr lang="en-US" dirty="0"/>
              <a:t>Manipulating References of Object Arrays: </a:t>
            </a:r>
            <a:r>
              <a:rPr lang="en-US" dirty="0" err="1"/>
              <a:t>swapPerson</a:t>
            </a:r>
            <a:r>
              <a:rPr lang="en-US" dirty="0"/>
              <a:t>() method in our code example: JavaClassEx1_Person</a:t>
            </a:r>
          </a:p>
          <a:p>
            <a:endParaRPr lang="en-US" dirty="0"/>
          </a:p>
          <a:p>
            <a:r>
              <a:rPr lang="en-US" dirty="0"/>
              <a:t>Note: already discussed in great details in Chapter 2 Video 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1D3D-441A-2ABA-643F-B9E5CCD2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B8B2-E622-CEC6-74CD-E930E818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3.2 Pass-by-value (already discussed in great details in Chapter 2 Video 3)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4902-116B-B160-F606-48CCAE79D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88600" cy="185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Java is strictly pass-by-value: whenever a variable is passed into a method parameter, the method receives and works with a copy of the variable’s “value.”</a:t>
            </a:r>
          </a:p>
          <a:p>
            <a:pPr lvl="1"/>
            <a:r>
              <a:rPr lang="en-US" dirty="0"/>
              <a:t>Primitive variables are bound directly onto the stack, along with their value—be it an int, float, Boolean, char, etc. </a:t>
            </a:r>
          </a:p>
          <a:p>
            <a:pPr lvl="1"/>
            <a:r>
              <a:rPr lang="en-US" dirty="0"/>
              <a:t>complex variables have a reference arrow pointing to a specific location within heap memory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FE871-14CE-A613-7A97-DB95CE01C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FAB7A0-FCE7-A250-3EBB-DA8450857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603276"/>
              </p:ext>
            </p:extLst>
          </p:nvPr>
        </p:nvGraphicFramePr>
        <p:xfrm>
          <a:off x="965200" y="3755871"/>
          <a:ext cx="10261600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10261600">
                  <a:extLst>
                    <a:ext uri="{9D8B030D-6E8A-4147-A177-3AD203B41FA5}">
                      <a16:colId xmlns:a16="http://schemas.microsoft.com/office/drawing/2014/main" val="2550508752"/>
                    </a:ext>
                  </a:extLst>
                </a:gridCol>
              </a:tblGrid>
              <a:tr h="1999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Core Concept: pass-by-value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299585"/>
                  </a:ext>
                </a:extLst>
              </a:tr>
              <a:tr h="15991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 Java,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pass-by-value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means that the methods receive a copy of the “value” of any variables passed in as parameters. Java “values” are the entities directly next to variable names on the stack.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“value” of a </a:t>
                      </a:r>
                      <a:r>
                        <a:rPr lang="en-US" sz="180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primitive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 is its int/float/Boolean/String/etc.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“value” of </a:t>
                      </a:r>
                      <a:r>
                        <a:rPr lang="en-US" sz="180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object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 is its reference arrow into the heap.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original “value” does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change after the method finishes executing, but objects (except Strings) may experience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content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mutations.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50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7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26339-34E0-1C19-CD48-0B79D207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AED6-6D47-6BC0-AC75-BDBC7510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Fine-tuning Class Definitions with Additional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0F2F3-5397-5F58-DD4E-5FCE5638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61880" cy="1720215"/>
          </a:xfrm>
        </p:spPr>
        <p:txBody>
          <a:bodyPr>
            <a:normAutofit fontScale="92500"/>
          </a:bodyPr>
          <a:lstStyle/>
          <a:p>
            <a:r>
              <a:rPr lang="en-US" dirty="0"/>
              <a:t>static Variables and Methods</a:t>
            </a:r>
          </a:p>
          <a:p>
            <a:pPr lvl="1"/>
            <a:r>
              <a:rPr lang="en-US" dirty="0"/>
              <a:t>“belong” to the entire class and are shared across all objects of that class</a:t>
            </a:r>
          </a:p>
          <a:p>
            <a:pPr lvl="1"/>
            <a:r>
              <a:rPr lang="en-US" dirty="0"/>
              <a:t>private static int </a:t>
            </a:r>
            <a:r>
              <a:rPr lang="en-US" dirty="0" err="1"/>
              <a:t>totalCount</a:t>
            </a:r>
            <a:r>
              <a:rPr lang="en-US" dirty="0"/>
              <a:t> = 0; </a:t>
            </a:r>
          </a:p>
          <a:p>
            <a:pPr lvl="1"/>
            <a:r>
              <a:rPr lang="en-US" dirty="0"/>
              <a:t>Code example: JavaClassEx2_Person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3C0BF-C5BE-679D-57F2-DA8CE1338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A7D103-DF58-DF13-D9E4-542E46260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997782"/>
              </p:ext>
            </p:extLst>
          </p:nvPr>
        </p:nvGraphicFramePr>
        <p:xfrm>
          <a:off x="1010920" y="3650971"/>
          <a:ext cx="6700520" cy="1007428"/>
        </p:xfrm>
        <a:graphic>
          <a:graphicData uri="http://schemas.openxmlformats.org/drawingml/2006/table">
            <a:tbl>
              <a:tblPr firstRow="1" firstCol="1" bandRow="1"/>
              <a:tblGrid>
                <a:gridCol w="6700520">
                  <a:extLst>
                    <a:ext uri="{9D8B030D-6E8A-4147-A177-3AD203B41FA5}">
                      <a16:colId xmlns:a16="http://schemas.microsoft.com/office/drawing/2014/main" val="4072371196"/>
                    </a:ext>
                  </a:extLst>
                </a:gridCol>
              </a:tblGrid>
              <a:tr h="26737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Core Concept: static vs. instance variables and methods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703739"/>
                  </a:ext>
                </a:extLst>
              </a:tr>
              <a:tr h="733108">
                <a:tc>
                  <a:txBody>
                    <a:bodyPr/>
                    <a:lstStyle/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Instance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 and methods “belong” to a specific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object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 and methods “belong” to the entire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class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5158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838C14-ACC6-00B5-2647-18A951625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78975"/>
              </p:ext>
            </p:extLst>
          </p:nvPr>
        </p:nvGraphicFramePr>
        <p:xfrm>
          <a:off x="1010920" y="4863564"/>
          <a:ext cx="6700520" cy="805716"/>
        </p:xfrm>
        <a:graphic>
          <a:graphicData uri="http://schemas.openxmlformats.org/drawingml/2006/table">
            <a:tbl>
              <a:tblPr firstRow="1" firstCol="1" bandRow="1"/>
              <a:tblGrid>
                <a:gridCol w="6700520">
                  <a:extLst>
                    <a:ext uri="{9D8B030D-6E8A-4147-A177-3AD203B41FA5}">
                      <a16:colId xmlns:a16="http://schemas.microsoft.com/office/drawing/2014/main" val="3305478601"/>
                    </a:ext>
                  </a:extLst>
                </a:gridCol>
              </a:tblGrid>
              <a:tr h="43948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accessing 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 or methods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824577"/>
                  </a:ext>
                </a:extLst>
              </a:tr>
              <a:tr h="366235">
                <a:tc>
                  <a:txBody>
                    <a:bodyPr/>
                    <a:lstStyle/>
                    <a:p>
                      <a:pPr marL="457200" marR="0">
                        <a:buNone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nameOfClass.staticElementName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426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97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719D-ED7C-137B-C1F7-F9747B90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97E7-C904-FE48-95BE-3C9A5AFD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Fine-tuning Class Definitions with Additional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9D477-4AEC-4554-A9C6-31869033D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32746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final Primitive Variables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private final String </a:t>
            </a:r>
            <a:r>
              <a:rPr lang="en-US" dirty="0" err="1"/>
              <a:t>mParents</a:t>
            </a:r>
            <a:r>
              <a:rPr lang="en-US" dirty="0"/>
              <a:t>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When final variables belong to instances, they cannot be changed for any one instance, but they can vary among instances.</a:t>
            </a:r>
          </a:p>
          <a:p>
            <a:pPr marL="914400" lvl="2" indent="0">
              <a:buNone/>
            </a:pPr>
            <a:r>
              <a:rPr lang="en-US" dirty="0"/>
              <a:t>public Person(String </a:t>
            </a:r>
            <a:r>
              <a:rPr lang="en-US" dirty="0" err="1"/>
              <a:t>pName</a:t>
            </a:r>
            <a:r>
              <a:rPr lang="en-US" dirty="0"/>
              <a:t>, int </a:t>
            </a:r>
            <a:r>
              <a:rPr lang="en-US" dirty="0" err="1"/>
              <a:t>pAge</a:t>
            </a:r>
            <a:r>
              <a:rPr lang="en-US" dirty="0"/>
              <a:t>, </a:t>
            </a:r>
          </a:p>
          <a:p>
            <a:pPr marL="914400" lvl="2" indent="0">
              <a:buNone/>
            </a:pPr>
            <a:r>
              <a:rPr lang="en-US" dirty="0"/>
              <a:t>              double </a:t>
            </a:r>
            <a:r>
              <a:rPr lang="en-US" dirty="0" err="1"/>
              <a:t>pWeight</a:t>
            </a:r>
            <a:r>
              <a:rPr lang="en-US" dirty="0"/>
              <a:t>, double </a:t>
            </a:r>
            <a:r>
              <a:rPr lang="en-US" dirty="0" err="1"/>
              <a:t>pHeight</a:t>
            </a:r>
            <a:r>
              <a:rPr lang="en-US" dirty="0"/>
              <a:t>, String </a:t>
            </a:r>
            <a:r>
              <a:rPr lang="en-US" dirty="0" err="1"/>
              <a:t>pParents</a:t>
            </a:r>
            <a:r>
              <a:rPr lang="en-US" dirty="0"/>
              <a:t>) {</a:t>
            </a:r>
          </a:p>
          <a:p>
            <a:pPr marL="914400" lvl="2" indent="0">
              <a:buNone/>
            </a:pPr>
            <a:r>
              <a:rPr lang="en-US" dirty="0"/>
              <a:t>    …        </a:t>
            </a:r>
          </a:p>
          <a:p>
            <a:pPr marL="914400" lvl="2" indent="0">
              <a:buNone/>
            </a:pPr>
            <a:r>
              <a:rPr lang="en-US" dirty="0"/>
              <a:t>    </a:t>
            </a:r>
            <a:r>
              <a:rPr lang="en-US" dirty="0" err="1"/>
              <a:t>mParents</a:t>
            </a:r>
            <a:r>
              <a:rPr lang="en-US" dirty="0"/>
              <a:t> = "Mr. and Mrs. " + </a:t>
            </a:r>
            <a:r>
              <a:rPr lang="en-US" dirty="0" err="1"/>
              <a:t>pParents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241D1-6F73-CA72-5141-FE08AD91A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D2C5C4-2EC4-43BF-06A3-4F83259DF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215718"/>
              </p:ext>
            </p:extLst>
          </p:nvPr>
        </p:nvGraphicFramePr>
        <p:xfrm>
          <a:off x="1183640" y="4910690"/>
          <a:ext cx="7442200" cy="850582"/>
        </p:xfrm>
        <a:graphic>
          <a:graphicData uri="http://schemas.openxmlformats.org/drawingml/2006/table">
            <a:tbl>
              <a:tblPr firstRow="1" firstCol="1" bandRow="1"/>
              <a:tblGrid>
                <a:gridCol w="7442200">
                  <a:extLst>
                    <a:ext uri="{9D8B030D-6E8A-4147-A177-3AD203B41FA5}">
                      <a16:colId xmlns:a16="http://schemas.microsoft.com/office/drawing/2014/main" val="719010540"/>
                    </a:ext>
                  </a:extLst>
                </a:gridCol>
              </a:tblGrid>
              <a:tr h="42529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Core Concept: </a:t>
                      </a: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96507"/>
                  </a:ext>
                </a:extLst>
              </a:tr>
              <a:tr h="42529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Once initialized, the value of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 can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be changed.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517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63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6817-43E3-B2D4-9955-BFA2911F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724B-80A2-8C3F-8E88-DA613456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Fine-tuning Class Definitions with Additional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80ED6-AEA4-2854-DD42-D0BD757A2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3274695"/>
          </a:xfrm>
        </p:spPr>
        <p:txBody>
          <a:bodyPr>
            <a:normAutofit/>
          </a:bodyPr>
          <a:lstStyle/>
          <a:p>
            <a:r>
              <a:rPr lang="en-US" dirty="0"/>
              <a:t>final Reference Variables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when a final reference type variable is declared, such as a final array or other mutable class, the variable’s reference arrow cannot be changed—the reference arrow cannot be reassigned to a different heap location. </a:t>
            </a:r>
            <a:r>
              <a:rPr lang="en-US" b="1" dirty="0"/>
              <a:t>Yet, the object in the heap location at the destination end of the reference arrow CAN be modified</a:t>
            </a:r>
          </a:p>
          <a:p>
            <a:r>
              <a:rPr lang="en-US" dirty="0"/>
              <a:t>Code example: JavaClassEx8_final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1EC41-7B16-D007-0D1B-074B14E78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8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0C01-0B8F-6359-8205-15114150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617E-C508-6A72-9DBC-1CBDB31D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Fine-tuning Class Definitions with Additional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AE71D-DB87-C0CD-F514-19BF280E5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755015"/>
          </a:xfrm>
        </p:spPr>
        <p:txBody>
          <a:bodyPr>
            <a:normAutofit/>
          </a:bodyPr>
          <a:lstStyle/>
          <a:p>
            <a:r>
              <a:rPr lang="en-US" dirty="0"/>
              <a:t>final Reference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15CA6-649A-7F68-DC8D-C864604F9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9AE86D-2738-9FF3-4467-802D9C7FC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18412"/>
              </p:ext>
            </p:extLst>
          </p:nvPr>
        </p:nvGraphicFramePr>
        <p:xfrm>
          <a:off x="1000760" y="2350151"/>
          <a:ext cx="8163560" cy="3018796"/>
        </p:xfrm>
        <a:graphic>
          <a:graphicData uri="http://schemas.openxmlformats.org/drawingml/2006/table">
            <a:tbl>
              <a:tblPr firstRow="1" firstCol="1" bandRow="1"/>
              <a:tblGrid>
                <a:gridCol w="8163560">
                  <a:extLst>
                    <a:ext uri="{9D8B030D-6E8A-4147-A177-3AD203B41FA5}">
                      <a16:colId xmlns:a16="http://schemas.microsoft.com/office/drawing/2014/main" val="2124189034"/>
                    </a:ext>
                  </a:extLst>
                </a:gridCol>
              </a:tblGrid>
              <a:tr h="27559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Syntax: initializing 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reference type variables within blocks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148866"/>
                  </a:ext>
                </a:extLst>
              </a:tr>
              <a:tr h="1148315">
                <a:tc>
                  <a:txBody>
                    <a:bodyPr/>
                    <a:lstStyle/>
                    <a:p>
                      <a:pPr marL="45720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 &lt;type&gt; instanceVariable;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 // initializer block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 // do something here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47808"/>
                  </a:ext>
                </a:extLst>
              </a:tr>
              <a:tr h="1148315">
                <a:tc>
                  <a:txBody>
                    <a:bodyPr/>
                    <a:lstStyle/>
                    <a:p>
                      <a:pPr marL="45720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static final &lt;type&gt;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classVariable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static {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// static initializer block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 // do something here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45720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843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895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D225-EA01-4693-1ED7-06FD08C1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8B3F-01BC-DF9E-7557-B46A6134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Fine-tuning Class Definitions with Additional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D434E-BDA2-ABA4-68B6-4CE945FF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755015"/>
          </a:xfrm>
        </p:spPr>
        <p:txBody>
          <a:bodyPr>
            <a:normAutofit/>
          </a:bodyPr>
          <a:lstStyle/>
          <a:p>
            <a:r>
              <a:rPr lang="en-US" dirty="0"/>
              <a:t>final Reference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A906E-41C0-0A22-DD79-1C611A900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52F580-D283-85D8-2C2A-6D66D39DA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53840"/>
              </p:ext>
            </p:extLst>
          </p:nvPr>
        </p:nvGraphicFramePr>
        <p:xfrm>
          <a:off x="942340" y="2373192"/>
          <a:ext cx="10307320" cy="3326566"/>
        </p:xfrm>
        <a:graphic>
          <a:graphicData uri="http://schemas.openxmlformats.org/drawingml/2006/table">
            <a:tbl>
              <a:tblPr firstRow="1" firstCol="1" bandRow="1"/>
              <a:tblGrid>
                <a:gridCol w="10307320">
                  <a:extLst>
                    <a:ext uri="{9D8B030D-6E8A-4147-A177-3AD203B41FA5}">
                      <a16:colId xmlns:a16="http://schemas.microsoft.com/office/drawing/2014/main" val="613093492"/>
                    </a:ext>
                  </a:extLst>
                </a:gridCol>
              </a:tblGrid>
              <a:tr h="33265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Core Concept: 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505861"/>
                  </a:ext>
                </a:extLst>
              </a:tr>
              <a:tr h="13306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Within a class: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Once initialized, the </a:t>
                      </a:r>
                      <a:r>
                        <a:rPr lang="en-US" sz="180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 can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be changed.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Primitives: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the actual value can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be changed.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Reference types: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the reference arrow can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be changed, but the attributes of the object </a:t>
                      </a: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CAN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be changed.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809428"/>
                  </a:ext>
                </a:extLst>
              </a:tr>
              <a:tr h="9979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Initializing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variables: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Instance variables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: upon declaration, initializer block, or within the constructor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Class variables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: upon declaration, or within a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static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initializer block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238222"/>
                  </a:ext>
                </a:extLst>
              </a:tr>
              <a:tr h="66531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Within a method: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parameters cannot be reassigned within the method body.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585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85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AF00-F468-C66A-9776-6569E837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C8BD-9517-D795-60AC-6112D598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3.4 Aggregation (“Has a”)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0FE00-2FB5-7229-574C-DA0F2AAF8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6838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relationship between the Person and Outfit classes is the aggregation relation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1A560-5D06-75B1-3B37-90AC825A7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Picture 4" descr="&quot;Has-a&quot; relationship between Person class and Outfit class, with outfit connected with Person via a line and a diamond at the Person side">
            <a:extLst>
              <a:ext uri="{FF2B5EF4-FFF2-40B4-BE49-F238E27FC236}">
                <a16:creationId xmlns:a16="http://schemas.microsoft.com/office/drawing/2014/main" id="{B9119609-21FB-268D-896E-51DC72617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484" y="2644457"/>
            <a:ext cx="4457271" cy="867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89152-1E92-81C0-52D3-73D5A1DC00B0}"/>
              </a:ext>
            </a:extLst>
          </p:cNvPr>
          <p:cNvSpPr txBox="1"/>
          <p:nvPr/>
        </p:nvSpPr>
        <p:spPr>
          <a:xfrm>
            <a:off x="2288539" y="3674883"/>
            <a:ext cx="7051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Figure 3‑4 Aggregation (“has-a”) relationship: </a:t>
            </a:r>
            <a:r>
              <a:rPr lang="en-US" sz="1800" i="0" dirty="0">
                <a:solidFill>
                  <a:srgbClr val="44546A"/>
                </a:solidFill>
                <a:effectLst/>
                <a:latin typeface="Consolas" panose="020B0609020204030204" pitchFamily="49" charset="0"/>
                <a:ea typeface="DengXian" panose="02010600030101010101" pitchFamily="2" charset="-122"/>
              </a:rPr>
              <a:t>Person</a:t>
            </a:r>
            <a:r>
              <a:rPr lang="en-US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i="1" u="sng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has an</a:t>
            </a:r>
            <a:r>
              <a:rPr lang="en-US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US" sz="1800" i="0" dirty="0">
                <a:solidFill>
                  <a:srgbClr val="44546A"/>
                </a:solidFill>
                <a:effectLst/>
                <a:latin typeface="Consolas" panose="020B0609020204030204" pitchFamily="49" charset="0"/>
                <a:ea typeface="DengXian" panose="02010600030101010101" pitchFamily="2" charset="-122"/>
              </a:rPr>
              <a:t>Outfit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03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E545-8DD2-1696-B19B-DE49DA20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169D-3227-3543-9E03-6885803B0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3.5 Shallow Copy vs. 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5A39-314C-6644-AC7F-9C22EE9F2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51720" cy="683895"/>
          </a:xfrm>
        </p:spPr>
        <p:txBody>
          <a:bodyPr>
            <a:normAutofit/>
          </a:bodyPr>
          <a:lstStyle/>
          <a:p>
            <a:r>
              <a:rPr lang="en-US" dirty="0"/>
              <a:t>Concepts of Shallow Copy and Deep Copy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D4338-D1AC-2AFC-DC89-D5E077FC7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EA6B72-B174-0E9E-0CD7-EA92A62B0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76057"/>
              </p:ext>
            </p:extLst>
          </p:nvPr>
        </p:nvGraphicFramePr>
        <p:xfrm>
          <a:off x="871927" y="2509520"/>
          <a:ext cx="10515600" cy="2514124"/>
        </p:xfrm>
        <a:graphic>
          <a:graphicData uri="http://schemas.openxmlformats.org/drawingml/2006/table">
            <a:tbl>
              <a:tblPr firstRow="1" firstCol="1" bandRow="1"/>
              <a:tblGrid>
                <a:gridCol w="10515600">
                  <a:extLst>
                    <a:ext uri="{9D8B030D-6E8A-4147-A177-3AD203B41FA5}">
                      <a16:colId xmlns:a16="http://schemas.microsoft.com/office/drawing/2014/main" val="2256368582"/>
                    </a:ext>
                  </a:extLst>
                </a:gridCol>
              </a:tblGrid>
              <a:tr h="3195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Core Concept: deep copy vs. shallow copy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780709"/>
                  </a:ext>
                </a:extLst>
              </a:tr>
              <a:tr h="63912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Deep copy: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the resulting object is a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clone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, and all its members are clones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resulting object lives in a different heap location, and all its members live in different heap locations from the original.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197"/>
                  </a:ext>
                </a:extLst>
              </a:tr>
              <a:tr h="12782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Shallow copy: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aliasing issues could exist in the resulting object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742950" marR="0" lvl="1" indent="-28575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For “non-owner” objects (like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Outfit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), a shallow copy is a new variable name with a reference to the same heap location—that is, an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alias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742950" marR="0" lvl="1" indent="-285750">
                        <a:buSzPts val="1000"/>
                        <a:buFont typeface="Times New Roman" panose="02020603050405020304" pitchFamily="18" charset="0"/>
                        <a:buChar char="►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For “owner” objects (like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Person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), a shallow copy could be a simple alias, OR a clone of the container object (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Person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), but with aliases of its members (like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Outfit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).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37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38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D3B65-5C01-DE14-10FA-A45ACC81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4E3F-9E72-48D6-9F74-437DCBF2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3.5 Shallow Copy vs. 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33FA-EE54-A261-96CA-3B25C6FBB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58120" cy="3620135"/>
          </a:xfrm>
        </p:spPr>
        <p:txBody>
          <a:bodyPr>
            <a:normAutofit/>
          </a:bodyPr>
          <a:lstStyle/>
          <a:p>
            <a:r>
              <a:rPr lang="en-US" dirty="0"/>
              <a:t>Secure Coding Recommendation: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Accessors Return Deep Copies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 Deep Copies of Method Input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2F31F-4DBB-34E8-14A7-13EB62095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95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2710</TotalTime>
  <Words>929</Words>
  <Application>Microsoft Office PowerPoint</Application>
  <PresentationFormat>Widescreen</PresentationFormat>
  <Paragraphs>96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Courier New</vt:lpstr>
      <vt:lpstr>Times New Roman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3.1 Passing References as Method Parameters </vt:lpstr>
      <vt:lpstr>3.2 Pass-by-value (already discussed in great details in Chapter 2 Video 3) </vt:lpstr>
      <vt:lpstr>3.3 Fine-tuning Class Definitions with Additional Keywords</vt:lpstr>
      <vt:lpstr>3.3 Fine-tuning Class Definitions with Additional Keywords</vt:lpstr>
      <vt:lpstr>3.3 Fine-tuning Class Definitions with Additional Keywords</vt:lpstr>
      <vt:lpstr>3.3 Fine-tuning Class Definitions with Additional Keywords</vt:lpstr>
      <vt:lpstr>3.3 Fine-tuning Class Definitions with Additional Keywords</vt:lpstr>
      <vt:lpstr>3.4 Aggregation (“Has a”) Relationship</vt:lpstr>
      <vt:lpstr>3.5 Shallow Copy vs. Deep Copy</vt:lpstr>
      <vt:lpstr>3.5 Shallow Copy vs. Deep Copy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200</cp:revision>
  <dcterms:created xsi:type="dcterms:W3CDTF">2025-01-08T14:48:28Z</dcterms:created>
  <dcterms:modified xsi:type="dcterms:W3CDTF">2026-09-06T20:07:01Z</dcterms:modified>
</cp:coreProperties>
</file>