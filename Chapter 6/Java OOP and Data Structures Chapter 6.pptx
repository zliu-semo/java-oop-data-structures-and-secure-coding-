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18" r:id="rId2"/>
    <p:sldId id="292" r:id="rId3"/>
    <p:sldId id="387" r:id="rId4"/>
    <p:sldId id="258" r:id="rId5"/>
    <p:sldId id="369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65" r:id="rId15"/>
    <p:sldId id="386" r:id="rId16"/>
    <p:sldId id="3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39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2642B-877C-E7C7-3675-E381E528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0" b="5440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6 Inheritance: Additional Topics 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C191F-D105-8A4A-578D-5B3F197F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A6B14A-92E1-15D5-0859-4CF0D14C7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C526B-38F2-0A10-9DE0-F5C4856C4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13444-0372-8378-2CD4-5DA819DC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0" b="5440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5C489-B5E2-5428-43B1-349FE9574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059834-0800-EFC9-8D5D-F7CA9BF3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B83BF-2BE4-4621-3FBA-37CD860D2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A2168C-5D43-2BCD-63EF-A324DC2C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B878EF-70FC-3351-24CA-EAB8E5C82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3052117-AA4F-821C-428C-6BA9B0EB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6 Inheritance: Additional Topics </a:t>
            </a:r>
          </a:p>
        </p:txBody>
      </p:sp>
    </p:spTree>
    <p:extLst>
      <p:ext uri="{BB962C8B-B14F-4D97-AF65-F5344CB8AC3E}">
        <p14:creationId xmlns:p14="http://schemas.microsoft.com/office/powerpoint/2010/main" val="15895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Using packages in your programs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Limiting accessibility and extensibility with the package-private modifier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Practicing secure coding with inheritance relationships: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/>
              <a:t>Using subclass overriding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/>
              <a:t>Declaring final methods and classes 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Distinguishing between immutability and final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Compiling and running Java programs from command line (available on the supplemental website)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Defining and using Java Enums (available on the supplemental website)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More on Java Secure Coding Guidelines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F1F3-FBC1-EA99-D072-BAE6AC08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67AC-E16E-B398-6F3D-E57A5E17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6.1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03D6-0F71-131F-8148-FFF9AC7A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packages are a great way to organize related classes and other relevant files</a:t>
            </a:r>
          </a:p>
          <a:p>
            <a:r>
              <a:rPr lang="en-US" dirty="0"/>
              <a:t>We have been using packages whenever we import one of the Java libraries</a:t>
            </a:r>
          </a:p>
          <a:p>
            <a:r>
              <a:rPr lang="en-US" dirty="0" err="1"/>
              <a:t>java.lang</a:t>
            </a:r>
            <a:r>
              <a:rPr lang="en-US" dirty="0"/>
              <a:t> is a Java package which contains classes and interfaces that are fundamental to the design of the Java programming language. You can think of java as a top-level folder and lang as a subfolder beneath that. Some of the classes in </a:t>
            </a:r>
            <a:r>
              <a:rPr lang="en-US" dirty="0" err="1"/>
              <a:t>java.lang</a:t>
            </a:r>
            <a:r>
              <a:rPr lang="en-US" dirty="0"/>
              <a:t> include: String, StringBuilder, System, Integer, and Double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C033C-58CF-4D11-E9CE-11BA26E7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7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576F-3986-528B-39E3-3EA4AA03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E639-3BEE-D3D2-49F0-E78F1AF0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6.1 Packages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B8B5B-0644-03AB-BB18-07AF35A8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java lang and util packages demonstrated as file structure">
            <a:extLst>
              <a:ext uri="{FF2B5EF4-FFF2-40B4-BE49-F238E27FC236}">
                <a16:creationId xmlns:a16="http://schemas.microsoft.com/office/drawing/2014/main" id="{F704F366-2327-F01A-A8F7-FB77A94EE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42" y="1526306"/>
            <a:ext cx="4798295" cy="4451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E1F907-A3F2-99C9-3073-179ED5F328DB}"/>
              </a:ext>
            </a:extLst>
          </p:cNvPr>
          <p:cNvSpPr txBox="1"/>
          <p:nvPr/>
        </p:nvSpPr>
        <p:spPr>
          <a:xfrm>
            <a:off x="6166337" y="2558570"/>
            <a:ext cx="485218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 complete list of all Java packages on the official Java documentation website: https://docs.oracle.com/javase/8/docs/api/</a:t>
            </a:r>
          </a:p>
        </p:txBody>
      </p:sp>
    </p:spTree>
    <p:extLst>
      <p:ext uri="{BB962C8B-B14F-4D97-AF65-F5344CB8AC3E}">
        <p14:creationId xmlns:p14="http://schemas.microsoft.com/office/powerpoint/2010/main" val="3174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672D-0DB2-C8B9-71EE-1638B143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C4A4-1C39-B98D-4847-8A3F8F02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Secure Coding Guideline: Make Package-Private to Preserve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E890-A4D2-4820-9642-5FC2F5E41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If a variable or method does not have any visibility modifiers, Java treats it as package-private</a:t>
            </a:r>
          </a:p>
          <a:p>
            <a:r>
              <a:rPr lang="en-US" dirty="0"/>
              <a:t>Package-private visibility grants access to any class that is a part of the same package, regardless of whether that class is a subclass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37079-4EB5-3203-F0F5-B84DB9444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5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8E95-614C-EE77-B9C6-CD136373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1E34-09E4-30FB-3398-A3E42B0F4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Secure Coding Guideline: Make Package-Private to Preserve Encapsulation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563C1-AA43-40B5-4E8B-BE76A8716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Picture 7" descr="visibility level about public, protected, package-private and private ">
            <a:extLst>
              <a:ext uri="{FF2B5EF4-FFF2-40B4-BE49-F238E27FC236}">
                <a16:creationId xmlns:a16="http://schemas.microsoft.com/office/drawing/2014/main" id="{CA876928-98C2-8EA3-500C-C30530F43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954" y="1777623"/>
            <a:ext cx="5604846" cy="42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2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2610-A0F7-CB1F-B2E4-E0205625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96DB-0921-153F-8FE8-DC214D89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Secure Coding Guideline: Make Package-Private to Preserve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DA85B-FE01-4082-0DB8-CCFFDA63F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Information Hiding with Package-Private </a:t>
            </a:r>
          </a:p>
          <a:p>
            <a:r>
              <a:rPr lang="en-US" dirty="0"/>
              <a:t>declare items as private or package-private to achieve the objective of information hiding in OOP when those items are only to be used internally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a class will be published for external users, declare the class as public. Otherwise, declare the class as package-private for your own (“internal”) use.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Within a class, declare as public or protected those variables and methods that will be part of a published API. Declare non-API variables and methods as private or package-private for your own (“internal”) use.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58F9E-6732-7842-D1D1-A2149F4C2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71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3E01-66EE-E9C1-8C0A-55690749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AD09-3F8C-2387-FBB3-B5FA568E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6.2 Secure Coding Guideline: Make Package-Private to Preserve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7A50C-8484-A183-4A8C-3512A467B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Using public Features in the Client Driver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0F738-03E2-1E60-DF19-707E499DC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96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92CE-0069-9FD0-02C7-7185C346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6BAA-92E6-7FC6-0CB0-48F493EE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6.3 Secure Coding Guideline: Override to Prevent Security Holes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A67A-DB62-7D09-33F0-010F14BD2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changes to a superclass can cause unwanted or unexpected behavior in subclasses if the classes are not carefully designed</a:t>
            </a:r>
          </a:p>
          <a:p>
            <a:r>
              <a:rPr lang="en-US" dirty="0"/>
              <a:t>A key secure coding recommendation is that we must override methods from a superclass if the subclass has a particular security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2E014-46A5-9370-3ACB-58C9157D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9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BFED-FC51-06C5-C1EE-3ECD69B1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BE0B-6EF9-937F-A41C-85EA1136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6.4 final Methods and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152F9-45D8-6206-5423-D6F780C5E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Picture 7" descr="final keyword">
            <a:extLst>
              <a:ext uri="{FF2B5EF4-FFF2-40B4-BE49-F238E27FC236}">
                <a16:creationId xmlns:a16="http://schemas.microsoft.com/office/drawing/2014/main" id="{5DC111CD-BF0C-0CAC-E649-6506C7A47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27" y="1564949"/>
            <a:ext cx="9884833" cy="32029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3F13E6-EDEF-DB5F-3142-388824453408}"/>
              </a:ext>
            </a:extLst>
          </p:cNvPr>
          <p:cNvSpPr txBox="1"/>
          <p:nvPr/>
        </p:nvSpPr>
        <p:spPr>
          <a:xfrm>
            <a:off x="1121772" y="4969885"/>
            <a:ext cx="9648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Secure Coding Guideline: Declare final Methods and Classes</a:t>
            </a:r>
          </a:p>
        </p:txBody>
      </p:sp>
    </p:spTree>
    <p:extLst>
      <p:ext uri="{BB962C8B-B14F-4D97-AF65-F5344CB8AC3E}">
        <p14:creationId xmlns:p14="http://schemas.microsoft.com/office/powerpoint/2010/main" val="66163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14B5-ADF9-1EE3-9721-81B29756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10BBD-41D8-107C-74DA-21BCD01F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6.4 final Methods and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A6B1-D34B-E13C-3853-2647ACE0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Picture 4" descr="final methods and classes">
            <a:extLst>
              <a:ext uri="{FF2B5EF4-FFF2-40B4-BE49-F238E27FC236}">
                <a16:creationId xmlns:a16="http://schemas.microsoft.com/office/drawing/2014/main" id="{22DF0E28-D6F5-EB61-F193-19485A928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79" y="1690688"/>
            <a:ext cx="10618921" cy="336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0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2E1A0-8478-B6B4-22FC-B8354227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" b="6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19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070E2-0B66-D4A7-F70A-B70C45567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DA48AB8-855A-F15B-B2CE-A416DAA3A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A8E39-C6B3-5DE5-1AA9-0FB4B565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" b="6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0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2B14-7FBD-72EA-E245-B5B83900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0D3-8972-8285-245F-AB5E9CE4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National Park is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21490-DC67-4239-C0A3-CA69DF74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E7F74E-D8B9-181F-53C1-C7A491D7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/>
              <a:t>Answer: Petrified Forest National Park</a:t>
            </a:r>
          </a:p>
        </p:txBody>
      </p:sp>
    </p:spTree>
    <p:extLst>
      <p:ext uri="{BB962C8B-B14F-4D97-AF65-F5344CB8AC3E}">
        <p14:creationId xmlns:p14="http://schemas.microsoft.com/office/powerpoint/2010/main" val="245952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2996</TotalTime>
  <Words>500</Words>
  <Application>Microsoft Office PowerPoint</Application>
  <PresentationFormat>Widescreen</PresentationFormat>
  <Paragraphs>40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6.1 Packages</vt:lpstr>
      <vt:lpstr>6.1 Packages</vt:lpstr>
      <vt:lpstr>6.2 Secure Coding Guideline: Make Package-Private to Preserve Encapsulation</vt:lpstr>
      <vt:lpstr>6.2 Secure Coding Guideline: Make Package-Private to Preserve Encapsulation</vt:lpstr>
      <vt:lpstr>6.2 Secure Coding Guideline: Make Package-Private to Preserve Encapsulation</vt:lpstr>
      <vt:lpstr>6.2 Secure Coding Guideline: Make Package-Private to Preserve Encapsulation</vt:lpstr>
      <vt:lpstr>6.3 Secure Coding Guideline: Override to Prevent Security Holes</vt:lpstr>
      <vt:lpstr>6.4 final Methods and Classes</vt:lpstr>
      <vt:lpstr>6.4 final Methods and Classes</vt:lpstr>
      <vt:lpstr>PowerPoint Presentation</vt:lpstr>
      <vt:lpstr>PowerPoint Presentation</vt:lpstr>
      <vt:lpstr>Which National Park is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286</cp:revision>
  <dcterms:created xsi:type="dcterms:W3CDTF">2025-01-08T14:48:28Z</dcterms:created>
  <dcterms:modified xsi:type="dcterms:W3CDTF">2026-09-06T20:17:19Z</dcterms:modified>
</cp:coreProperties>
</file>