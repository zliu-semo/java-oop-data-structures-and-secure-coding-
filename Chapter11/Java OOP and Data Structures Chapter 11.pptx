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18" r:id="rId2"/>
    <p:sldId id="292" r:id="rId3"/>
    <p:sldId id="387" r:id="rId4"/>
    <p:sldId id="258" r:id="rId5"/>
    <p:sldId id="369" r:id="rId6"/>
    <p:sldId id="433" r:id="rId7"/>
    <p:sldId id="428" r:id="rId8"/>
    <p:sldId id="429" r:id="rId9"/>
    <p:sldId id="434" r:id="rId10"/>
    <p:sldId id="430" r:id="rId11"/>
    <p:sldId id="431" r:id="rId12"/>
    <p:sldId id="432" r:id="rId13"/>
    <p:sldId id="426" r:id="rId14"/>
    <p:sldId id="427" r:id="rId15"/>
    <p:sldId id="3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42642B-877C-E7C7-3675-E381E528B9A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5741" b="5741"/>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11 JavaFX: Developing GUI-Based Applications</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C191F-D105-8A4A-578D-5B3F197F35A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A6B14A-92E1-15D5-0859-4CF0D14C7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C526B-38F2-0A10-9DE0-F5C4856C400F}"/>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CE13444-0372-8378-2CD4-5DA819DC30D2}"/>
              </a:ext>
            </a:extLst>
          </p:cNvPr>
          <p:cNvPicPr>
            <a:picLocks noChangeAspect="1"/>
          </p:cNvPicPr>
          <p:nvPr/>
        </p:nvPicPr>
        <p:blipFill>
          <a:blip r:embed="rId2">
            <a:extLst>
              <a:ext uri="{28A0092B-C50C-407E-A947-70E740481C1C}">
                <a14:useLocalDpi xmlns:a14="http://schemas.microsoft.com/office/drawing/2010/main" val="0"/>
              </a:ext>
            </a:extLst>
          </a:blip>
          <a:srcRect t="5741" b="5741"/>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5715C489-B5E2-5428-43B1-349FE95747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97059834-0800-EFC9-8D5D-F7CA9BF31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9AB83BF-2BE4-4621-3FBA-37CD860D2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A2168C-5D43-2BCD-63EF-A324DC2C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B878EF-70FC-3351-24CA-EAB8E5C82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13052117-AA4F-821C-428C-6BA9B0EB9AA1}"/>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11 JavaFX: Developing GUI-Based Applications</a:t>
            </a:r>
          </a:p>
        </p:txBody>
      </p:sp>
    </p:spTree>
    <p:extLst>
      <p:ext uri="{BB962C8B-B14F-4D97-AF65-F5344CB8AC3E}">
        <p14:creationId xmlns:p14="http://schemas.microsoft.com/office/powerpoint/2010/main" val="1589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3046988"/>
          </a:xfrm>
          <a:prstGeom prst="rect">
            <a:avLst/>
          </a:prstGeom>
          <a:noFill/>
        </p:spPr>
        <p:txBody>
          <a:bodyPr wrap="square" rtlCol="0">
            <a:spAutoFit/>
          </a:bodyPr>
          <a:lstStyle/>
          <a:p>
            <a:pPr marL="285750" lvl="0" indent="-285750">
              <a:buFont typeface="Aptos" panose="020B0004020202020204" pitchFamily="34" charset="0"/>
              <a:buChar char="–"/>
            </a:pPr>
            <a:r>
              <a:rPr lang="en-US" sz="2400" dirty="0"/>
              <a:t>Background on JavaFX</a:t>
            </a:r>
          </a:p>
          <a:p>
            <a:pPr marL="285750" lvl="0" indent="-285750">
              <a:buFont typeface="Aptos" panose="020B0004020202020204" pitchFamily="34" charset="0"/>
              <a:buChar char="–"/>
            </a:pPr>
            <a:r>
              <a:rPr lang="en-US" sz="2400" dirty="0"/>
              <a:t>Reactive JavaFX application</a:t>
            </a:r>
          </a:p>
          <a:p>
            <a:pPr marL="800100" lvl="1" indent="-342900">
              <a:buFont typeface="Courier New" panose="02070309020205020404" pitchFamily="49" charset="0"/>
              <a:buChar char="o"/>
            </a:pPr>
            <a:r>
              <a:rPr lang="en-US" sz="2400" dirty="0"/>
              <a:t>Creating a layered application layout</a:t>
            </a:r>
          </a:p>
          <a:p>
            <a:pPr marL="800100" lvl="1" indent="-342900">
              <a:buFont typeface="Courier New" panose="02070309020205020404" pitchFamily="49" charset="0"/>
              <a:buChar char="o"/>
            </a:pPr>
            <a:r>
              <a:rPr lang="en-US" sz="2400" dirty="0"/>
              <a:t>Adding event handling</a:t>
            </a:r>
          </a:p>
          <a:p>
            <a:pPr marL="285750" lvl="0" indent="-285750">
              <a:buFont typeface="Aptos" panose="020B0004020202020204" pitchFamily="34" charset="0"/>
              <a:buChar char="–"/>
            </a:pPr>
            <a:r>
              <a:rPr lang="en-US" sz="2400" dirty="0"/>
              <a:t>Switching between multiple Scenes</a:t>
            </a:r>
          </a:p>
          <a:p>
            <a:pPr marL="285750" lvl="0" indent="-285750">
              <a:buFont typeface="Aptos" panose="020B0004020202020204" pitchFamily="34" charset="0"/>
              <a:buChar char="–"/>
            </a:pPr>
            <a:r>
              <a:rPr lang="en-US" sz="2400" dirty="0"/>
              <a:t>Navigating multiple Stages</a:t>
            </a:r>
          </a:p>
          <a:p>
            <a:pPr marL="285750" lvl="0" indent="-285750">
              <a:buFont typeface="Aptos" panose="020B0004020202020204" pitchFamily="34" charset="0"/>
              <a:buChar char="–"/>
            </a:pPr>
            <a:r>
              <a:rPr lang="en-US" sz="2400" dirty="0"/>
              <a:t>Working with data in JavaFX</a:t>
            </a:r>
          </a:p>
          <a:p>
            <a:pPr marL="800100" lvl="1" indent="-342900">
              <a:buFont typeface="Courier New" panose="02070309020205020404" pitchFamily="49" charset="0"/>
              <a:buChar char="o"/>
            </a:pPr>
            <a:endParaRPr lang="en-US" sz="2400" dirty="0"/>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F1F3-FBC1-EA99-D072-BAE6AC08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67AC-E16E-B398-6F3D-E57A5E1790E2}"/>
              </a:ext>
            </a:extLst>
          </p:cNvPr>
          <p:cNvSpPr>
            <a:spLocks noGrp="1"/>
          </p:cNvSpPr>
          <p:nvPr>
            <p:ph type="title"/>
          </p:nvPr>
        </p:nvSpPr>
        <p:spPr/>
        <p:txBody>
          <a:bodyPr/>
          <a:lstStyle/>
          <a:p>
            <a:r>
              <a:rPr lang="en-US" dirty="0"/>
              <a:t>11.1 Background on JavaFX</a:t>
            </a:r>
          </a:p>
        </p:txBody>
      </p:sp>
      <p:pic>
        <p:nvPicPr>
          <p:cNvPr id="4" name="Picture 3">
            <a:extLst>
              <a:ext uri="{FF2B5EF4-FFF2-40B4-BE49-F238E27FC236}">
                <a16:creationId xmlns:a16="http://schemas.microsoft.com/office/drawing/2014/main" id="{895C033C-58CF-4D11-E9CE-11BA26E73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461EF7D6-93BE-53D0-9263-09E904D827A7}"/>
              </a:ext>
            </a:extLst>
          </p:cNvPr>
          <p:cNvSpPr>
            <a:spLocks noGrp="1"/>
          </p:cNvSpPr>
          <p:nvPr>
            <p:ph idx="1"/>
          </p:nvPr>
        </p:nvSpPr>
        <p:spPr/>
        <p:txBody>
          <a:bodyPr/>
          <a:lstStyle/>
          <a:p>
            <a:r>
              <a:rPr lang="en-US" dirty="0"/>
              <a:t>Develop GUI-based applications: design layouts, allow users to interact with UI controls, and handle events when the user performs actions on those UI controls. </a:t>
            </a:r>
          </a:p>
          <a:p>
            <a:r>
              <a:rPr lang="en-US" dirty="0"/>
              <a:t>JavaFX: contains packages for graphics and media elements to create applications</a:t>
            </a:r>
          </a:p>
          <a:p>
            <a:endParaRPr lang="en-US" dirty="0"/>
          </a:p>
        </p:txBody>
      </p:sp>
    </p:spTree>
    <p:extLst>
      <p:ext uri="{BB962C8B-B14F-4D97-AF65-F5344CB8AC3E}">
        <p14:creationId xmlns:p14="http://schemas.microsoft.com/office/powerpoint/2010/main" val="10129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830B9-B9DF-E9B8-026C-4E0ACCF133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D666D-6C9F-9330-6A16-EBA8534E8B7F}"/>
              </a:ext>
            </a:extLst>
          </p:cNvPr>
          <p:cNvSpPr>
            <a:spLocks noGrp="1"/>
          </p:cNvSpPr>
          <p:nvPr>
            <p:ph type="title"/>
          </p:nvPr>
        </p:nvSpPr>
        <p:spPr/>
        <p:txBody>
          <a:bodyPr/>
          <a:lstStyle/>
          <a:p>
            <a:r>
              <a:rPr lang="en-US" dirty="0"/>
              <a:t>11.1 Background on JavaFX</a:t>
            </a:r>
          </a:p>
        </p:txBody>
      </p:sp>
      <p:pic>
        <p:nvPicPr>
          <p:cNvPr id="4" name="Picture 3">
            <a:extLst>
              <a:ext uri="{FF2B5EF4-FFF2-40B4-BE49-F238E27FC236}">
                <a16:creationId xmlns:a16="http://schemas.microsoft.com/office/drawing/2014/main" id="{6C161681-DCAD-B0EC-BC81-4BF16F89EC4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D4A12C1D-B193-550D-3517-31E033B668D7}"/>
              </a:ext>
            </a:extLst>
          </p:cNvPr>
          <p:cNvSpPr>
            <a:spLocks noGrp="1"/>
          </p:cNvSpPr>
          <p:nvPr>
            <p:ph idx="1"/>
          </p:nvPr>
        </p:nvSpPr>
        <p:spPr>
          <a:xfrm>
            <a:off x="838199" y="1825625"/>
            <a:ext cx="6143897" cy="4000409"/>
          </a:xfrm>
        </p:spPr>
        <p:txBody>
          <a:bodyPr>
            <a:normAutofit fontScale="70000" lnSpcReduction="20000"/>
          </a:bodyPr>
          <a:lstStyle/>
          <a:p>
            <a:r>
              <a:rPr lang="en-US" dirty="0"/>
              <a:t>JavaFX is organized in layers</a:t>
            </a:r>
          </a:p>
          <a:p>
            <a:r>
              <a:rPr lang="en-US" dirty="0"/>
              <a:t>scene graph: includes all the application components—such as buttons, text boxes, and the application container—organized as sets of parent/child relationships (i.e., buttons are nested within the overall application container; text or icons may be nested within each button). </a:t>
            </a:r>
          </a:p>
          <a:p>
            <a:r>
              <a:rPr lang="en-US" dirty="0"/>
              <a:t>JavaFX API: can be used to build the scene graph and program the application. </a:t>
            </a:r>
          </a:p>
          <a:p>
            <a:r>
              <a:rPr lang="en-US" dirty="0"/>
              <a:t>The JavaFX API is built on top of various “engines,” such as Prism (for graphics rendering), Glass (for creating windows), the media engine (to process audio and visual elements), and the web engine (to support webpages). These engines are made available to JavaFX through a layer called the Quantum Toolkit. </a:t>
            </a:r>
          </a:p>
          <a:p>
            <a:endParaRPr lang="en-US" dirty="0"/>
          </a:p>
        </p:txBody>
      </p:sp>
      <p:pic>
        <p:nvPicPr>
          <p:cNvPr id="9" name="Picture 8" descr="JavaFX architecture: at the top is Scene Graph, below it is JavaFX API which is built on top of various engines">
            <a:extLst>
              <a:ext uri="{FF2B5EF4-FFF2-40B4-BE49-F238E27FC236}">
                <a16:creationId xmlns:a16="http://schemas.microsoft.com/office/drawing/2014/main" id="{AFD4429F-6D05-7A9F-66CD-CB6187541709}"/>
              </a:ext>
            </a:extLst>
          </p:cNvPr>
          <p:cNvPicPr>
            <a:picLocks noChangeAspect="1"/>
          </p:cNvPicPr>
          <p:nvPr/>
        </p:nvPicPr>
        <p:blipFill>
          <a:blip r:embed="rId3"/>
          <a:stretch>
            <a:fillRect/>
          </a:stretch>
        </p:blipFill>
        <p:spPr>
          <a:xfrm>
            <a:off x="6856519" y="1886533"/>
            <a:ext cx="4531008" cy="1981205"/>
          </a:xfrm>
          <a:prstGeom prst="rect">
            <a:avLst/>
          </a:prstGeom>
        </p:spPr>
      </p:pic>
    </p:spTree>
    <p:extLst>
      <p:ext uri="{BB962C8B-B14F-4D97-AF65-F5344CB8AC3E}">
        <p14:creationId xmlns:p14="http://schemas.microsoft.com/office/powerpoint/2010/main" val="827009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57D34-D99C-30BB-B143-0449C94C8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0165C-0870-64E9-3B04-8572183D22BB}"/>
              </a:ext>
            </a:extLst>
          </p:cNvPr>
          <p:cNvSpPr>
            <a:spLocks noGrp="1"/>
          </p:cNvSpPr>
          <p:nvPr>
            <p:ph type="title"/>
          </p:nvPr>
        </p:nvSpPr>
        <p:spPr/>
        <p:txBody>
          <a:bodyPr/>
          <a:lstStyle/>
          <a:p>
            <a:r>
              <a:rPr lang="en-US" dirty="0"/>
              <a:t>11.2 Designing a Simple Reactive Application </a:t>
            </a:r>
          </a:p>
        </p:txBody>
      </p:sp>
      <p:pic>
        <p:nvPicPr>
          <p:cNvPr id="4" name="Picture 3">
            <a:extLst>
              <a:ext uri="{FF2B5EF4-FFF2-40B4-BE49-F238E27FC236}">
                <a16:creationId xmlns:a16="http://schemas.microsoft.com/office/drawing/2014/main" id="{58291C42-F866-FC64-423B-2AE905CF84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descr="JavaFX applications are built in layers: the Stage, a Scene, one or more layout container(s) or Pane(s), and various UI controls—called “nodes.”&#10;">
            <a:extLst>
              <a:ext uri="{FF2B5EF4-FFF2-40B4-BE49-F238E27FC236}">
                <a16:creationId xmlns:a16="http://schemas.microsoft.com/office/drawing/2014/main" id="{EAD49A2A-3976-FFE2-DF8C-9A34A4611C2C}"/>
              </a:ext>
            </a:extLst>
          </p:cNvPr>
          <p:cNvSpPr>
            <a:spLocks noGrp="1"/>
          </p:cNvSpPr>
          <p:nvPr>
            <p:ph idx="1"/>
          </p:nvPr>
        </p:nvSpPr>
        <p:spPr>
          <a:xfrm>
            <a:off x="838200" y="1825625"/>
            <a:ext cx="3693160" cy="3579495"/>
          </a:xfrm>
          <a:ln>
            <a:solidFill>
              <a:schemeClr val="accent1"/>
            </a:solidFill>
          </a:ln>
        </p:spPr>
        <p:txBody>
          <a:bodyPr/>
          <a:lstStyle/>
          <a:p>
            <a:r>
              <a:rPr lang="en-US" dirty="0"/>
              <a:t>JavaFX applications are built in layers: the Stage, a Scene, one or more layout container(s) or Pane(s), and various UI controls—called “nodes.”</a:t>
            </a:r>
          </a:p>
        </p:txBody>
      </p:sp>
      <p:pic>
        <p:nvPicPr>
          <p:cNvPr id="5" name="Picture 4">
            <a:extLst>
              <a:ext uri="{FF2B5EF4-FFF2-40B4-BE49-F238E27FC236}">
                <a16:creationId xmlns:a16="http://schemas.microsoft.com/office/drawing/2014/main" id="{65FD90CB-7C5C-9660-B91D-0EE90AAAF9CF}"/>
              </a:ext>
            </a:extLst>
          </p:cNvPr>
          <p:cNvPicPr>
            <a:picLocks noChangeAspect="1"/>
          </p:cNvPicPr>
          <p:nvPr/>
        </p:nvPicPr>
        <p:blipFill>
          <a:blip r:embed="rId3"/>
          <a:stretch>
            <a:fillRect/>
          </a:stretch>
        </p:blipFill>
        <p:spPr>
          <a:xfrm>
            <a:off x="4901293" y="1771921"/>
            <a:ext cx="6286166" cy="3686901"/>
          </a:xfrm>
          <a:prstGeom prst="rect">
            <a:avLst/>
          </a:prstGeom>
        </p:spPr>
      </p:pic>
    </p:spTree>
    <p:extLst>
      <p:ext uri="{BB962C8B-B14F-4D97-AF65-F5344CB8AC3E}">
        <p14:creationId xmlns:p14="http://schemas.microsoft.com/office/powerpoint/2010/main" val="4062633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B387-3244-24DD-D41D-FA821C145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41FDD-8C65-0721-58C9-1639397DEE72}"/>
              </a:ext>
            </a:extLst>
          </p:cNvPr>
          <p:cNvSpPr>
            <a:spLocks noGrp="1"/>
          </p:cNvSpPr>
          <p:nvPr>
            <p:ph type="title"/>
          </p:nvPr>
        </p:nvSpPr>
        <p:spPr/>
        <p:txBody>
          <a:bodyPr/>
          <a:lstStyle/>
          <a:p>
            <a:r>
              <a:rPr lang="en-US" dirty="0"/>
              <a:t>11.2 Designing a Simple Reactive Application </a:t>
            </a:r>
          </a:p>
        </p:txBody>
      </p:sp>
      <p:pic>
        <p:nvPicPr>
          <p:cNvPr id="4" name="Picture 3">
            <a:extLst>
              <a:ext uri="{FF2B5EF4-FFF2-40B4-BE49-F238E27FC236}">
                <a16:creationId xmlns:a16="http://schemas.microsoft.com/office/drawing/2014/main" id="{679D592C-8C91-E88B-7ACB-8837274240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BD4449EA-91FC-A9F2-BA41-51BFCC7CBE0F}"/>
              </a:ext>
            </a:extLst>
          </p:cNvPr>
          <p:cNvSpPr>
            <a:spLocks noGrp="1"/>
          </p:cNvSpPr>
          <p:nvPr>
            <p:ph idx="1"/>
          </p:nvPr>
        </p:nvSpPr>
        <p:spPr/>
        <p:txBody>
          <a:bodyPr/>
          <a:lstStyle/>
          <a:p>
            <a:endParaRPr lang="en-US" dirty="0"/>
          </a:p>
        </p:txBody>
      </p:sp>
      <p:pic>
        <p:nvPicPr>
          <p:cNvPr id="5" name="Picture 4" descr="JavaFX layout container classes include BorderPane, FlowPane, GridPane, StackPane, HBox, VBox, etc">
            <a:extLst>
              <a:ext uri="{FF2B5EF4-FFF2-40B4-BE49-F238E27FC236}">
                <a16:creationId xmlns:a16="http://schemas.microsoft.com/office/drawing/2014/main" id="{D85D78F6-EE21-D84F-9ACC-354AB02D5866}"/>
              </a:ext>
            </a:extLst>
          </p:cNvPr>
          <p:cNvPicPr>
            <a:picLocks noChangeAspect="1"/>
          </p:cNvPicPr>
          <p:nvPr/>
        </p:nvPicPr>
        <p:blipFill>
          <a:blip r:embed="rId3"/>
          <a:stretch>
            <a:fillRect/>
          </a:stretch>
        </p:blipFill>
        <p:spPr>
          <a:xfrm>
            <a:off x="1675234" y="1825625"/>
            <a:ext cx="8789566" cy="3844058"/>
          </a:xfrm>
          <a:prstGeom prst="rect">
            <a:avLst/>
          </a:prstGeom>
        </p:spPr>
      </p:pic>
    </p:spTree>
    <p:extLst>
      <p:ext uri="{BB962C8B-B14F-4D97-AF65-F5344CB8AC3E}">
        <p14:creationId xmlns:p14="http://schemas.microsoft.com/office/powerpoint/2010/main" val="2277367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90EFA-A04A-D4EC-9A86-AC00F8129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E021C-CF82-3EB5-DB7E-F029C286E635}"/>
              </a:ext>
            </a:extLst>
          </p:cNvPr>
          <p:cNvSpPr>
            <a:spLocks noGrp="1"/>
          </p:cNvSpPr>
          <p:nvPr>
            <p:ph type="title"/>
          </p:nvPr>
        </p:nvSpPr>
        <p:spPr/>
        <p:txBody>
          <a:bodyPr/>
          <a:lstStyle/>
          <a:p>
            <a:r>
              <a:rPr lang="en-US" dirty="0"/>
              <a:t>11.2 Designing a Simple Reactive Application </a:t>
            </a:r>
          </a:p>
        </p:txBody>
      </p:sp>
      <p:pic>
        <p:nvPicPr>
          <p:cNvPr id="4" name="Picture 3">
            <a:extLst>
              <a:ext uri="{FF2B5EF4-FFF2-40B4-BE49-F238E27FC236}">
                <a16:creationId xmlns:a16="http://schemas.microsoft.com/office/drawing/2014/main" id="{B5EE2B5D-45F9-F72F-2769-0BADB5255CE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9" name="Content Placeholder 8" descr="Example JavaFXEx1_ShoppingList layout design from top to bottom includes Text, ListView, TextField, BUtton and Text">
            <a:extLst>
              <a:ext uri="{FF2B5EF4-FFF2-40B4-BE49-F238E27FC236}">
                <a16:creationId xmlns:a16="http://schemas.microsoft.com/office/drawing/2014/main" id="{34C33078-4899-4798-B8C6-C5087B59E4DB}"/>
              </a:ext>
            </a:extLst>
          </p:cNvPr>
          <p:cNvPicPr>
            <a:picLocks noGrp="1" noChangeAspect="1"/>
          </p:cNvPicPr>
          <p:nvPr>
            <p:ph idx="1"/>
          </p:nvPr>
        </p:nvPicPr>
        <p:blipFill>
          <a:blip r:embed="rId3"/>
          <a:stretch>
            <a:fillRect/>
          </a:stretch>
        </p:blipFill>
        <p:spPr>
          <a:xfrm>
            <a:off x="1776396" y="2053810"/>
            <a:ext cx="8780768" cy="3656955"/>
          </a:xfrm>
          <a:prstGeom prst="rect">
            <a:avLst/>
          </a:prstGeom>
        </p:spPr>
      </p:pic>
    </p:spTree>
    <p:extLst>
      <p:ext uri="{BB962C8B-B14F-4D97-AF65-F5344CB8AC3E}">
        <p14:creationId xmlns:p14="http://schemas.microsoft.com/office/powerpoint/2010/main" val="185094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629B5-91DB-12AC-87D3-6B01D67714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06177-C40E-921E-97F8-CDB62C8F2CBE}"/>
              </a:ext>
            </a:extLst>
          </p:cNvPr>
          <p:cNvSpPr>
            <a:spLocks noGrp="1"/>
          </p:cNvSpPr>
          <p:nvPr>
            <p:ph type="title"/>
          </p:nvPr>
        </p:nvSpPr>
        <p:spPr/>
        <p:txBody>
          <a:bodyPr/>
          <a:lstStyle/>
          <a:p>
            <a:r>
              <a:rPr lang="en-US"/>
              <a:t>11.3 Switching between Multiple Scenes</a:t>
            </a:r>
            <a:endParaRPr lang="en-US" dirty="0"/>
          </a:p>
        </p:txBody>
      </p:sp>
      <p:pic>
        <p:nvPicPr>
          <p:cNvPr id="4" name="Picture 3">
            <a:extLst>
              <a:ext uri="{FF2B5EF4-FFF2-40B4-BE49-F238E27FC236}">
                <a16:creationId xmlns:a16="http://schemas.microsoft.com/office/drawing/2014/main" id="{578819F2-A08C-27B6-96F4-DAD2AAD52D7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Content Placeholder 5" descr="Example JavaFXEx2_MultiScene: ">
            <a:extLst>
              <a:ext uri="{FF2B5EF4-FFF2-40B4-BE49-F238E27FC236}">
                <a16:creationId xmlns:a16="http://schemas.microsoft.com/office/drawing/2014/main" id="{DFFFEFEF-FD08-F36D-9C19-A4F4D3435134}"/>
              </a:ext>
            </a:extLst>
          </p:cNvPr>
          <p:cNvPicPr>
            <a:picLocks noGrp="1" noChangeAspect="1"/>
          </p:cNvPicPr>
          <p:nvPr>
            <p:ph idx="1"/>
          </p:nvPr>
        </p:nvPicPr>
        <p:blipFill>
          <a:blip r:embed="rId3"/>
          <a:stretch>
            <a:fillRect/>
          </a:stretch>
        </p:blipFill>
        <p:spPr>
          <a:xfrm>
            <a:off x="838200" y="1866826"/>
            <a:ext cx="7186450" cy="3537633"/>
          </a:xfrm>
          <a:prstGeom prst="rect">
            <a:avLst/>
          </a:prstGeom>
        </p:spPr>
      </p:pic>
      <p:sp>
        <p:nvSpPr>
          <p:cNvPr id="9" name="TextBox 8" descr="JavaFXEx2_MultiScene example: there is only one window, but users can navigate to different screens (or Scenes) upon different ActionEvents">
            <a:extLst>
              <a:ext uri="{FF2B5EF4-FFF2-40B4-BE49-F238E27FC236}">
                <a16:creationId xmlns:a16="http://schemas.microsoft.com/office/drawing/2014/main" id="{3095ECC4-BF10-4DED-1492-0AEA56456504}"/>
              </a:ext>
            </a:extLst>
          </p:cNvPr>
          <p:cNvSpPr txBox="1"/>
          <p:nvPr/>
        </p:nvSpPr>
        <p:spPr>
          <a:xfrm>
            <a:off x="8158480" y="1971654"/>
            <a:ext cx="2915920" cy="1754326"/>
          </a:xfrm>
          <a:prstGeom prst="rect">
            <a:avLst/>
          </a:prstGeom>
          <a:noFill/>
          <a:ln>
            <a:solidFill>
              <a:schemeClr val="accent1"/>
            </a:solidFill>
          </a:ln>
        </p:spPr>
        <p:txBody>
          <a:bodyPr wrap="square">
            <a:spAutoFit/>
          </a:bodyPr>
          <a:lstStyle/>
          <a:p>
            <a:r>
              <a:rPr lang="en-US" dirty="0"/>
              <a:t>In a multi-Scene application, there is only one window, but users can navigate to different screens (or Scenes) upon different </a:t>
            </a:r>
            <a:r>
              <a:rPr lang="en-US" dirty="0" err="1"/>
              <a:t>ActionEvents</a:t>
            </a:r>
            <a:r>
              <a:rPr lang="en-US" dirty="0"/>
              <a:t>.</a:t>
            </a:r>
          </a:p>
        </p:txBody>
      </p:sp>
    </p:spTree>
    <p:extLst>
      <p:ext uri="{BB962C8B-B14F-4D97-AF65-F5344CB8AC3E}">
        <p14:creationId xmlns:p14="http://schemas.microsoft.com/office/powerpoint/2010/main" val="2412814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92DDE-4D3C-7C29-DFCC-60475A4B3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5AEA5-6A5C-147D-347B-A98077C58574}"/>
              </a:ext>
            </a:extLst>
          </p:cNvPr>
          <p:cNvSpPr>
            <a:spLocks noGrp="1"/>
          </p:cNvSpPr>
          <p:nvPr>
            <p:ph type="title"/>
          </p:nvPr>
        </p:nvSpPr>
        <p:spPr/>
        <p:txBody>
          <a:bodyPr/>
          <a:lstStyle/>
          <a:p>
            <a:r>
              <a:rPr lang="en-US" dirty="0"/>
              <a:t>11.4 Navigating Multiple Stages</a:t>
            </a:r>
          </a:p>
        </p:txBody>
      </p:sp>
      <p:pic>
        <p:nvPicPr>
          <p:cNvPr id="4" name="Picture 3">
            <a:extLst>
              <a:ext uri="{FF2B5EF4-FFF2-40B4-BE49-F238E27FC236}">
                <a16:creationId xmlns:a16="http://schemas.microsoft.com/office/drawing/2014/main" id="{CA9B3A7B-E6E3-D320-889D-233575A9DB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7D217BE3-1F59-20E6-259C-9240D3FC5FD1}"/>
              </a:ext>
            </a:extLst>
          </p:cNvPr>
          <p:cNvSpPr>
            <a:spLocks noGrp="1"/>
          </p:cNvSpPr>
          <p:nvPr>
            <p:ph idx="1"/>
          </p:nvPr>
        </p:nvSpPr>
        <p:spPr/>
        <p:txBody>
          <a:bodyPr>
            <a:normAutofit/>
          </a:bodyPr>
          <a:lstStyle/>
          <a:p>
            <a:r>
              <a:rPr lang="en-US" dirty="0"/>
              <a:t>JavaFX also allows an application to display multiple windows using multiple Stages. JavaFX Stage can represent modeless and modal windows. Modalities can be applied to a Stage to configure modal windows through the </a:t>
            </a:r>
            <a:r>
              <a:rPr lang="en-US" dirty="0" err="1"/>
              <a:t>initModality</a:t>
            </a:r>
            <a:r>
              <a:rPr lang="en-US" dirty="0"/>
              <a:t>(Modality) method. There are three types of Modalities:</a:t>
            </a:r>
          </a:p>
          <a:p>
            <a:pPr lvl="1">
              <a:buFont typeface="Courier New" panose="02070309020205020404" pitchFamily="49" charset="0"/>
              <a:buChar char="o"/>
            </a:pPr>
            <a:r>
              <a:rPr lang="en-US" dirty="0" err="1"/>
              <a:t>Modality.NONE</a:t>
            </a:r>
            <a:r>
              <a:rPr lang="en-US" dirty="0"/>
              <a:t>: The Stage will not block input to any other top-level Stage while it is shown. </a:t>
            </a:r>
          </a:p>
          <a:p>
            <a:pPr lvl="1">
              <a:buFont typeface="Courier New" panose="02070309020205020404" pitchFamily="49" charset="0"/>
              <a:buChar char="o"/>
            </a:pPr>
            <a:r>
              <a:rPr lang="en-US" dirty="0" err="1"/>
              <a:t>Modality.WINDOW_MODAL</a:t>
            </a:r>
            <a:r>
              <a:rPr lang="en-US" dirty="0"/>
              <a:t>: The Stage </a:t>
            </a:r>
            <a:r>
              <a:rPr lang="en-US"/>
              <a:t>will block </a:t>
            </a:r>
            <a:r>
              <a:rPr lang="en-US" dirty="0"/>
              <a:t>input to other top-level Stages in the application.</a:t>
            </a:r>
          </a:p>
          <a:p>
            <a:pPr lvl="1">
              <a:buFont typeface="Courier New" panose="02070309020205020404" pitchFamily="49" charset="0"/>
              <a:buChar char="o"/>
            </a:pPr>
            <a:r>
              <a:rPr lang="en-US" dirty="0" err="1"/>
              <a:t>Modality.APPLICATION_MODAL</a:t>
            </a:r>
            <a:r>
              <a:rPr lang="en-US" dirty="0"/>
              <a:t>: The Stage will not allow user input to any other Stage of the application until this one is closed.</a:t>
            </a:r>
          </a:p>
          <a:p>
            <a:endParaRPr lang="en-US" dirty="0"/>
          </a:p>
        </p:txBody>
      </p:sp>
    </p:spTree>
    <p:extLst>
      <p:ext uri="{BB962C8B-B14F-4D97-AF65-F5344CB8AC3E}">
        <p14:creationId xmlns:p14="http://schemas.microsoft.com/office/powerpoint/2010/main" val="1803781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166E5-6C50-BE35-2153-8012EB1E1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0018E-9CD1-7444-4FB6-A53274E3E138}"/>
              </a:ext>
            </a:extLst>
          </p:cNvPr>
          <p:cNvSpPr>
            <a:spLocks noGrp="1"/>
          </p:cNvSpPr>
          <p:nvPr>
            <p:ph type="title"/>
          </p:nvPr>
        </p:nvSpPr>
        <p:spPr/>
        <p:txBody>
          <a:bodyPr/>
          <a:lstStyle/>
          <a:p>
            <a:r>
              <a:rPr lang="en-US" dirty="0"/>
              <a:t>11.5 Working with Data in JavaFX</a:t>
            </a:r>
          </a:p>
        </p:txBody>
      </p:sp>
      <p:pic>
        <p:nvPicPr>
          <p:cNvPr id="4" name="Picture 3">
            <a:extLst>
              <a:ext uri="{FF2B5EF4-FFF2-40B4-BE49-F238E27FC236}">
                <a16:creationId xmlns:a16="http://schemas.microsoft.com/office/drawing/2014/main" id="{644248B5-8034-4DD5-EAB2-FD6583FBF1F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Content Placeholder 4" descr="MenuBar, Menu and MenuItem">
            <a:extLst>
              <a:ext uri="{FF2B5EF4-FFF2-40B4-BE49-F238E27FC236}">
                <a16:creationId xmlns:a16="http://schemas.microsoft.com/office/drawing/2014/main" id="{32434E81-8A19-5BC2-BA4B-F23EF1FFD314}"/>
              </a:ext>
            </a:extLst>
          </p:cNvPr>
          <p:cNvPicPr>
            <a:picLocks noGrp="1" noChangeAspect="1"/>
          </p:cNvPicPr>
          <p:nvPr>
            <p:ph idx="1"/>
          </p:nvPr>
        </p:nvPicPr>
        <p:blipFill>
          <a:blip r:embed="rId3"/>
          <a:stretch>
            <a:fillRect/>
          </a:stretch>
        </p:blipFill>
        <p:spPr>
          <a:xfrm>
            <a:off x="1811764" y="2008248"/>
            <a:ext cx="8613397" cy="2589878"/>
          </a:xfrm>
          <a:prstGeom prst="rect">
            <a:avLst/>
          </a:prstGeom>
        </p:spPr>
      </p:pic>
    </p:spTree>
    <p:extLst>
      <p:ext uri="{BB962C8B-B14F-4D97-AF65-F5344CB8AC3E}">
        <p14:creationId xmlns:p14="http://schemas.microsoft.com/office/powerpoint/2010/main" val="293513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9F311A-FB21-3482-29D9-84D8F9B4402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23" y="0"/>
            <a:ext cx="12177953" cy="6858000"/>
          </a:xfrm>
          <a:prstGeom prst="rect">
            <a:avLst/>
          </a:prstGeom>
        </p:spPr>
      </p:pic>
    </p:spTree>
    <p:extLst>
      <p:ext uri="{BB962C8B-B14F-4D97-AF65-F5344CB8AC3E}">
        <p14:creationId xmlns:p14="http://schemas.microsoft.com/office/powerpoint/2010/main" val="995977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A50F-7C7F-FF66-19CF-8FBCE1DCF5A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414917E-AECC-A73A-59FE-7733EDD3A0B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23" y="3951"/>
            <a:ext cx="12177953" cy="6850098"/>
          </a:xfrm>
          <a:prstGeom prst="rect">
            <a:avLst/>
          </a:prstGeom>
        </p:spPr>
      </p:pic>
    </p:spTree>
    <p:extLst>
      <p:ext uri="{BB962C8B-B14F-4D97-AF65-F5344CB8AC3E}">
        <p14:creationId xmlns:p14="http://schemas.microsoft.com/office/powerpoint/2010/main" val="1745129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2B14-7FBD-72EA-E245-B5B839001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CE0D3-8972-8285-245F-AB5E9CE42298}"/>
              </a:ext>
            </a:extLst>
          </p:cNvPr>
          <p:cNvSpPr>
            <a:spLocks noGrp="1"/>
          </p:cNvSpPr>
          <p:nvPr>
            <p:ph type="title"/>
          </p:nvPr>
        </p:nvSpPr>
        <p:spPr/>
        <p:txBody>
          <a:bodyPr/>
          <a:lstStyle/>
          <a:p>
            <a:r>
              <a:rPr lang="en-US" dirty="0"/>
              <a:t>Which National Park is it?</a:t>
            </a:r>
          </a:p>
        </p:txBody>
      </p:sp>
      <p:pic>
        <p:nvPicPr>
          <p:cNvPr id="4" name="Picture 3">
            <a:extLst>
              <a:ext uri="{FF2B5EF4-FFF2-40B4-BE49-F238E27FC236}">
                <a16:creationId xmlns:a16="http://schemas.microsoft.com/office/drawing/2014/main" id="{00921490-DC67-4239-C0A3-CA69DF741A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05E7F74E-D8B9-181F-53C1-C7A491D7817D}"/>
              </a:ext>
            </a:extLst>
          </p:cNvPr>
          <p:cNvSpPr>
            <a:spLocks noGrp="1"/>
          </p:cNvSpPr>
          <p:nvPr>
            <p:ph idx="1"/>
          </p:nvPr>
        </p:nvSpPr>
        <p:spPr>
          <a:xfrm>
            <a:off x="871927" y="1599565"/>
            <a:ext cx="10515600" cy="4351338"/>
          </a:xfrm>
        </p:spPr>
        <p:txBody>
          <a:bodyPr/>
          <a:lstStyle/>
          <a:p>
            <a:r>
              <a:rPr lang="en-US" dirty="0"/>
              <a:t>Answer: Banff National Park</a:t>
            </a:r>
          </a:p>
        </p:txBody>
      </p:sp>
    </p:spTree>
    <p:extLst>
      <p:ext uri="{BB962C8B-B14F-4D97-AF65-F5344CB8AC3E}">
        <p14:creationId xmlns:p14="http://schemas.microsoft.com/office/powerpoint/2010/main" val="2459528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3360</TotalTime>
  <Words>474</Words>
  <Application>Microsoft Office PowerPoint</Application>
  <PresentationFormat>Widescreen</PresentationFormat>
  <Paragraphs>35</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Courier New</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11.1 Background on JavaFX</vt:lpstr>
      <vt:lpstr>11.1 Background on JavaFX</vt:lpstr>
      <vt:lpstr>11.2 Designing a Simple Reactive Application </vt:lpstr>
      <vt:lpstr>11.2 Designing a Simple Reactive Application </vt:lpstr>
      <vt:lpstr>11.2 Designing a Simple Reactive Application </vt:lpstr>
      <vt:lpstr>11.3 Switching between Multiple Scenes</vt:lpstr>
      <vt:lpstr>11.4 Navigating Multiple Stages</vt:lpstr>
      <vt:lpstr>11.5 Working with Data in JavaFX</vt:lpstr>
      <vt:lpstr>PowerPoint Presentation</vt:lpstr>
      <vt:lpstr>PowerPoint Presentation</vt:lpstr>
      <vt:lpstr>Which National Park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375</cp:revision>
  <dcterms:created xsi:type="dcterms:W3CDTF">2025-01-08T14:48:28Z</dcterms:created>
  <dcterms:modified xsi:type="dcterms:W3CDTF">2026-09-07T01:45:57Z</dcterms:modified>
</cp:coreProperties>
</file>