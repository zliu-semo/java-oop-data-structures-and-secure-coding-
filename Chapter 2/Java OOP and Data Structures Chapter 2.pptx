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318" r:id="rId2"/>
    <p:sldId id="292" r:id="rId3"/>
    <p:sldId id="293" r:id="rId4"/>
    <p:sldId id="258" r:id="rId5"/>
    <p:sldId id="260" r:id="rId6"/>
    <p:sldId id="319" r:id="rId7"/>
    <p:sldId id="320" r:id="rId8"/>
    <p:sldId id="321" r:id="rId9"/>
    <p:sldId id="322" r:id="rId10"/>
    <p:sldId id="323" r:id="rId11"/>
    <p:sldId id="324" r:id="rId12"/>
    <p:sldId id="325" r:id="rId13"/>
    <p:sldId id="326" r:id="rId14"/>
    <p:sldId id="327" r:id="rId15"/>
    <p:sldId id="328" r:id="rId16"/>
    <p:sldId id="329" r:id="rId17"/>
    <p:sldId id="330" r:id="rId18"/>
    <p:sldId id="331" r:id="rId19"/>
    <p:sldId id="332" r:id="rId20"/>
    <p:sldId id="333" r:id="rId21"/>
    <p:sldId id="334" r:id="rId22"/>
    <p:sldId id="335" r:id="rId23"/>
    <p:sldId id="336" r:id="rId24"/>
    <p:sldId id="337" r:id="rId25"/>
    <p:sldId id="338" r:id="rId26"/>
    <p:sldId id="339" r:id="rId27"/>
    <p:sldId id="340" r:id="rId28"/>
    <p:sldId id="341" r:id="rId29"/>
    <p:sldId id="342" r:id="rId30"/>
    <p:sldId id="343" r:id="rId31"/>
    <p:sldId id="34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56" autoAdjust="0"/>
    <p:restoredTop sz="94552" autoAdjust="0"/>
  </p:normalViewPr>
  <p:slideViewPr>
    <p:cSldViewPr snapToGrid="0">
      <p:cViewPr varScale="1">
        <p:scale>
          <a:sx n="67" d="100"/>
          <a:sy n="67" d="100"/>
        </p:scale>
        <p:origin x="39"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DBE90D-6443-45D5-AB73-6A7D0CBCCF85}"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US"/>
        </a:p>
      </dgm:t>
    </dgm:pt>
    <dgm:pt modelId="{E0D21F2D-1907-45F1-9B93-BB1762A94325}" type="pres">
      <dgm:prSet presAssocID="{2FDBE90D-6443-45D5-AB73-6A7D0CBCCF85}" presName="matrix" presStyleCnt="0">
        <dgm:presLayoutVars>
          <dgm:chMax val="1"/>
          <dgm:dir/>
          <dgm:resizeHandles val="exact"/>
        </dgm:presLayoutVars>
      </dgm:prSet>
      <dgm:spPr/>
    </dgm:pt>
  </dgm:ptLst>
  <dgm:cxnLst>
    <dgm:cxn modelId="{0ED6465E-DA6A-4410-A68E-A5C5BDC5C01F}" type="presOf" srcId="{2FDBE90D-6443-45D5-AB73-6A7D0CBCCF85}" destId="{E0D21F2D-1907-45F1-9B93-BB1762A94325}" srcOrd="0" destOrd="0" presId="urn:microsoft.com/office/officeart/2005/8/layout/matrix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FFCED8-506F-49AF-BE73-3D1A33480DE3}" type="datetimeFigureOut">
              <a:rPr lang="en-US" smtClean="0"/>
              <a:t>9/6/2026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394981-F5B7-436B-9962-151FBDD8AD94}" type="slidenum">
              <a:rPr lang="en-US" smtClean="0"/>
              <a:t>‹#›</a:t>
            </a:fld>
            <a:endParaRPr lang="en-US"/>
          </a:p>
        </p:txBody>
      </p:sp>
    </p:spTree>
    <p:extLst>
      <p:ext uri="{BB962C8B-B14F-4D97-AF65-F5344CB8AC3E}">
        <p14:creationId xmlns:p14="http://schemas.microsoft.com/office/powerpoint/2010/main" val="1729425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394981-F5B7-436B-9962-151FBDD8AD94}" type="slidenum">
              <a:rPr lang="en-US" smtClean="0"/>
              <a:t>4</a:t>
            </a:fld>
            <a:endParaRPr lang="en-US"/>
          </a:p>
        </p:txBody>
      </p:sp>
    </p:spTree>
    <p:extLst>
      <p:ext uri="{BB962C8B-B14F-4D97-AF65-F5344CB8AC3E}">
        <p14:creationId xmlns:p14="http://schemas.microsoft.com/office/powerpoint/2010/main" val="3845838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99E3-8D9F-3F5B-0308-7F5329DEA5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A90651-91C2-BA19-35EC-A04BA9FD11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01DD5A-2112-6235-85DC-B1B299E85056}"/>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5CBA9076-7565-CDA6-EDBA-EC29615456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EAC44E-B761-B97D-C746-ECAB6BB965D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306529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9E6AC-BA0C-3CB0-A332-C14B281CD8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267869-5FC6-53F4-7BC6-5136E5507D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CB6CE0-9019-D821-C2F3-C78CF2C5C3FE}"/>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AEF96E9F-D2BE-3C4A-D26A-F7C5A5D11C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A8CC43-53EB-84ED-63B3-9A3403CEEF7A}"/>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890431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8D887-4D96-118D-73A2-1C895A67BD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1B085A-425F-FD3C-BC71-9A29495F906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74329D-6798-F07C-D487-6101B49A24AE}"/>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1C3F25C4-C66D-4341-42FF-9C7C602AD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18A81-8750-B962-F8C6-6DA1403A7433}"/>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08004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CD042-266E-A796-1A36-96B70B2293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336A0C-4A74-A126-7A99-F06853058B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5CC16C-9EAC-FE9F-396B-0241F79620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39D6F5-EFBE-6874-ED24-0A51C2684C6B}"/>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6" name="Footer Placeholder 5">
            <a:extLst>
              <a:ext uri="{FF2B5EF4-FFF2-40B4-BE49-F238E27FC236}">
                <a16:creationId xmlns:a16="http://schemas.microsoft.com/office/drawing/2014/main" id="{3ED1EDD0-9CCB-FAD1-C4F2-4E43F03FDF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613EA-8DBD-A257-A690-042711A7B68E}"/>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664831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4ACE6-F826-5B66-2371-F2D502554A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D56492-1758-D69A-3E6F-15261B003F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BD8565-447E-7044-9CE0-673F60DC2F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3E43F8-3C42-54CA-4E92-F6A3940F2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A97A32-71E6-549D-B127-599697995C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8A95A3-01EC-6EF0-5031-5E525E62D5C5}"/>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8" name="Footer Placeholder 7">
            <a:extLst>
              <a:ext uri="{FF2B5EF4-FFF2-40B4-BE49-F238E27FC236}">
                <a16:creationId xmlns:a16="http://schemas.microsoft.com/office/drawing/2014/main" id="{E6274BE6-33F4-D96C-2405-87AEFEDCC6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FB891F-BE7B-C13D-681A-2C793B09D169}"/>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872095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75743-E60C-78E3-4219-5712DC7044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6DF502-5BB8-D822-01D7-20936C34EFBD}"/>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4" name="Footer Placeholder 3">
            <a:extLst>
              <a:ext uri="{FF2B5EF4-FFF2-40B4-BE49-F238E27FC236}">
                <a16:creationId xmlns:a16="http://schemas.microsoft.com/office/drawing/2014/main" id="{8955FAD0-C9E9-80E2-6DFA-0BC166AE63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4DCEC0-8357-5413-2403-9992319E81C6}"/>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98038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D9867B-72CF-0811-E65E-1F1A0A928E47}"/>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3" name="Footer Placeholder 2">
            <a:extLst>
              <a:ext uri="{FF2B5EF4-FFF2-40B4-BE49-F238E27FC236}">
                <a16:creationId xmlns:a16="http://schemas.microsoft.com/office/drawing/2014/main" id="{6B848B39-123B-5C1E-0B64-6FC3E2859D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A3C226-40C4-ED8E-9C41-87B4E082F180}"/>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1273028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2E48C-0492-969D-5358-C6C95D650D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47FBA1-E0E8-57D0-829D-823FB90F41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A7BB11-40DB-E7BF-59DE-E5088FC55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79E303-25F7-D260-0C1E-1C5D9A968060}"/>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6" name="Footer Placeholder 5">
            <a:extLst>
              <a:ext uri="{FF2B5EF4-FFF2-40B4-BE49-F238E27FC236}">
                <a16:creationId xmlns:a16="http://schemas.microsoft.com/office/drawing/2014/main" id="{9687058F-FFC4-BC2B-7574-A9DB1D7F53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A0D607-D6DB-9EBE-6590-0B6F3CFD7434}"/>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4082458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CB2A1-BC34-EA9A-859D-059A7A66EC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B26546-3C25-49A1-3B36-715D1745DB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7F8061-0760-C9C3-320B-EAD574AF2E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327B0-28E5-1E67-61B0-C32CC09E5C18}"/>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6" name="Footer Placeholder 5">
            <a:extLst>
              <a:ext uri="{FF2B5EF4-FFF2-40B4-BE49-F238E27FC236}">
                <a16:creationId xmlns:a16="http://schemas.microsoft.com/office/drawing/2014/main" id="{85B7E62B-ABB9-605C-5E4E-9BF3E4FF7D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2D59CD-E644-8A47-6C41-35307D327D2F}"/>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75657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41B45-B749-84F1-7E0D-232A8B6C57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9325F5B-9932-7B22-3C88-08AD57BC21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C74961-E805-FB33-5A16-E0CFA37168BE}"/>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CD59018F-11E0-CA53-A68B-C731CC5091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D87CFC-CA41-1297-94D3-F89EC65DA8CD}"/>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2159380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1B2452-1456-A52C-F8D5-3234E07ED5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D70949-F825-32B2-260B-674118F1E7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2E993F-73E9-E7AE-2ED3-3D288F24A0BA}"/>
              </a:ext>
            </a:extLst>
          </p:cNvPr>
          <p:cNvSpPr>
            <a:spLocks noGrp="1"/>
          </p:cNvSpPr>
          <p:nvPr>
            <p:ph type="dt" sz="half" idx="10"/>
          </p:nvPr>
        </p:nvSpPr>
        <p:spPr/>
        <p:txBody>
          <a:body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30306DBD-D9C7-84D2-27D0-26FD256837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178735-00EC-3CA0-1B73-68A025E39AC1}"/>
              </a:ext>
            </a:extLst>
          </p:cNvPr>
          <p:cNvSpPr>
            <a:spLocks noGrp="1"/>
          </p:cNvSpPr>
          <p:nvPr>
            <p:ph type="sldNum" sz="quarter" idx="12"/>
          </p:nvPr>
        </p:nvSpPr>
        <p:spPr/>
        <p:txBody>
          <a:bodyPr/>
          <a:lstStyle/>
          <a:p>
            <a:fld id="{22C5ECDF-75F7-4588-A97A-7139A51418D4}" type="slidenum">
              <a:rPr lang="en-US" smtClean="0"/>
              <a:t>‹#›</a:t>
            </a:fld>
            <a:endParaRPr lang="en-US"/>
          </a:p>
        </p:txBody>
      </p:sp>
    </p:spTree>
    <p:extLst>
      <p:ext uri="{BB962C8B-B14F-4D97-AF65-F5344CB8AC3E}">
        <p14:creationId xmlns:p14="http://schemas.microsoft.com/office/powerpoint/2010/main" val="330626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BA9FD8-0BA2-A466-EEFA-529DB25161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8B1EC5-F665-6631-6BF9-22FB9539DF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F9369-7ED6-38A0-734A-DD110F926D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E8669A-962F-4ACD-AB1E-07597AA7AD56}" type="datetimeFigureOut">
              <a:rPr lang="en-US" smtClean="0"/>
              <a:t>9/6/2026</a:t>
            </a:fld>
            <a:endParaRPr lang="en-US"/>
          </a:p>
        </p:txBody>
      </p:sp>
      <p:sp>
        <p:nvSpPr>
          <p:cNvPr id="5" name="Footer Placeholder 4">
            <a:extLst>
              <a:ext uri="{FF2B5EF4-FFF2-40B4-BE49-F238E27FC236}">
                <a16:creationId xmlns:a16="http://schemas.microsoft.com/office/drawing/2014/main" id="{88CB8940-D37A-E1F1-4E91-FF221089D6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686E2C-CD23-0AB2-1973-F43BEF1BEF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C5ECDF-75F7-4588-A97A-7139A51418D4}" type="slidenum">
              <a:rPr lang="en-US" smtClean="0"/>
              <a:t>‹#›</a:t>
            </a:fld>
            <a:endParaRPr lang="en-US"/>
          </a:p>
        </p:txBody>
      </p:sp>
    </p:spTree>
    <p:extLst>
      <p:ext uri="{BB962C8B-B14F-4D97-AF65-F5344CB8AC3E}">
        <p14:creationId xmlns:p14="http://schemas.microsoft.com/office/powerpoint/2010/main" val="309432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ook cover with text&#10;&#10;AI-generated content may be incorrect.">
            <a:extLst>
              <a:ext uri="{FF2B5EF4-FFF2-40B4-BE49-F238E27FC236}">
                <a16:creationId xmlns:a16="http://schemas.microsoft.com/office/drawing/2014/main" id="{9B42642B-877C-E7C7-3675-E381E528B9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8070" y="224790"/>
            <a:ext cx="4975860" cy="6408420"/>
          </a:xfrm>
          <a:prstGeom prst="rect">
            <a:avLst/>
          </a:prstGeom>
        </p:spPr>
      </p:pic>
    </p:spTree>
    <p:extLst>
      <p:ext uri="{BB962C8B-B14F-4D97-AF65-F5344CB8AC3E}">
        <p14:creationId xmlns:p14="http://schemas.microsoft.com/office/powerpoint/2010/main" val="421453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45D94A-2E11-1A07-F482-34C78E7E9672}"/>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870A1295-61BC-4214-AA3E-D39667302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639BEE-D294-2EA5-D0F5-60C09B090F50}"/>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Java OOP and Data Structures with Introduction to Secure Coding</a:t>
            </a:r>
            <a:br>
              <a:rPr lang="en-US" sz="3100" dirty="0">
                <a:solidFill>
                  <a:schemeClr val="tx2"/>
                </a:solidFill>
              </a:rPr>
            </a:br>
            <a:r>
              <a:rPr lang="en-US" sz="3100" dirty="0">
                <a:solidFill>
                  <a:schemeClr val="tx2"/>
                </a:solidFill>
              </a:rPr>
              <a:t>Dr. Ziping Liu</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a:extLst>
              <a:ext uri="{FF2B5EF4-FFF2-40B4-BE49-F238E27FC236}">
                <a16:creationId xmlns:a16="http://schemas.microsoft.com/office/drawing/2014/main" id="{68016C7C-AFDA-B667-C485-59B533AEF141}"/>
              </a:ext>
            </a:extLst>
          </p:cNvPr>
          <p:cNvPicPr>
            <a:picLocks noChangeAspect="1"/>
          </p:cNvPicPr>
          <p:nvPr/>
        </p:nvPicPr>
        <p:blipFill>
          <a:blip r:embed="rId2">
            <a:extLst>
              <a:ext uri="{28A0092B-C50C-407E-A947-70E740481C1C}">
                <a14:useLocalDpi xmlns:a14="http://schemas.microsoft.com/office/drawing/2010/main" val="0"/>
              </a:ext>
            </a:extLst>
          </a:blip>
          <a:srcRect t="5421" b="5421"/>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0B139475-2B26-4CA9-9413-DE741E49F7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16C6BF63-6277-4C39-BE5D-3C341662CE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6EA3BAD9-C130-4A9C-9086-20D132A6CF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587D38B-9E07-4A8B-B285-5FEBF6A60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5EF4DD4B-217B-4346-A2B8-4327936399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550E9AA5-3AB6-7CA8-2E88-05185371D2C6}"/>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2 Class: Just the Basics</a:t>
            </a:r>
          </a:p>
        </p:txBody>
      </p:sp>
    </p:spTree>
    <p:extLst>
      <p:ext uri="{BB962C8B-B14F-4D97-AF65-F5344CB8AC3E}">
        <p14:creationId xmlns:p14="http://schemas.microsoft.com/office/powerpoint/2010/main" val="397603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99596D-3238-32D6-D33B-5D014D5C96FD}"/>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13BB5AB-B2B0-1337-4FD3-62A2B08FD0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8D41F8-1D5A-8E51-D920-86CF65C2296B}"/>
              </a:ext>
            </a:extLst>
          </p:cNvPr>
          <p:cNvSpPr>
            <a:spLocks noGrp="1"/>
          </p:cNvSpPr>
          <p:nvPr>
            <p:ph type="ctrTitle"/>
          </p:nvPr>
        </p:nvSpPr>
        <p:spPr>
          <a:xfrm>
            <a:off x="804672" y="5116529"/>
            <a:ext cx="10592174" cy="1000655"/>
          </a:xfrm>
        </p:spPr>
        <p:txBody>
          <a:bodyPr anchor="t">
            <a:normAutofit fontScale="90000"/>
          </a:bodyPr>
          <a:lstStyle/>
          <a:p>
            <a:pPr algn="l"/>
            <a:r>
              <a:rPr lang="en-US" sz="3100" dirty="0">
                <a:solidFill>
                  <a:schemeClr val="tx2"/>
                </a:solidFill>
              </a:rPr>
              <a:t>https://he.kendallhunt.com/product/java-oop-and-data-structures-introduction-secure-coding</a:t>
            </a:r>
            <a:br>
              <a:rPr lang="en-US" sz="1600" dirty="0">
                <a:solidFill>
                  <a:schemeClr val="tx2"/>
                </a:solidFill>
              </a:rPr>
            </a:br>
            <a:br>
              <a:rPr lang="en-US" sz="1600" dirty="0">
                <a:solidFill>
                  <a:schemeClr val="tx2"/>
                </a:solidFill>
              </a:rPr>
            </a:br>
            <a:endParaRPr lang="en-US" sz="1600" dirty="0">
              <a:solidFill>
                <a:schemeClr val="tx2"/>
              </a:solidFill>
            </a:endParaRPr>
          </a:p>
        </p:txBody>
      </p:sp>
      <p:pic>
        <p:nvPicPr>
          <p:cNvPr id="5" name="Picture 4">
            <a:extLst>
              <a:ext uri="{FF2B5EF4-FFF2-40B4-BE49-F238E27FC236}">
                <a16:creationId xmlns:a16="http://schemas.microsoft.com/office/drawing/2014/main" id="{73016C2F-FBA5-80F7-1B8D-8BEFFC62AC03}"/>
              </a:ext>
            </a:extLst>
          </p:cNvPr>
          <p:cNvPicPr>
            <a:picLocks noChangeAspect="1"/>
          </p:cNvPicPr>
          <p:nvPr/>
        </p:nvPicPr>
        <p:blipFill>
          <a:blip r:embed="rId2">
            <a:extLst>
              <a:ext uri="{28A0092B-C50C-407E-A947-70E740481C1C}">
                <a14:useLocalDpi xmlns:a14="http://schemas.microsoft.com/office/drawing/2010/main" val="0"/>
              </a:ext>
            </a:extLst>
          </a:blip>
          <a:srcRect t="5421" b="5421"/>
          <a:stretch/>
        </p:blipFill>
        <p:spPr>
          <a:xfrm>
            <a:off x="-1" y="10"/>
            <a:ext cx="12192001" cy="4201449"/>
          </a:xfrm>
          <a:prstGeom prst="rect">
            <a:avLst/>
          </a:prstGeom>
        </p:spPr>
      </p:pic>
      <p:grpSp>
        <p:nvGrpSpPr>
          <p:cNvPr id="35" name="Group 34">
            <a:extLst>
              <a:ext uri="{FF2B5EF4-FFF2-40B4-BE49-F238E27FC236}">
                <a16:creationId xmlns:a16="http://schemas.microsoft.com/office/drawing/2014/main" id="{F34BCFC3-84F6-670A-C165-602F9E4F83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41813"/>
            <a:ext cx="12188952" cy="1828800"/>
            <a:chOff x="-305" y="3144820"/>
            <a:chExt cx="9182100" cy="1551136"/>
          </a:xfrm>
        </p:grpSpPr>
        <p:sp useBgFill="1">
          <p:nvSpPr>
            <p:cNvPr id="24" name="Freeform: Shape 23">
              <a:extLst>
                <a:ext uri="{FF2B5EF4-FFF2-40B4-BE49-F238E27FC236}">
                  <a16:creationId xmlns:a16="http://schemas.microsoft.com/office/drawing/2014/main" id="{AE3AAD3D-5A83-6A4D-431C-845D121F6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76854"/>
              <a:ext cx="9182100" cy="1019102"/>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0DDC5466-9914-9EF1-D2A7-3BA71D96A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44820"/>
              <a:ext cx="9182100" cy="932744"/>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CBABC2C1-F0B4-676D-2ADD-0A0C98F90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80789"/>
              <a:ext cx="9182100" cy="544245"/>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DA2F72C-B284-AB3C-ABC2-F77A8EF02C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324550"/>
              <a:ext cx="9182100" cy="765639"/>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grpSp>
      <p:sp>
        <p:nvSpPr>
          <p:cNvPr id="3" name="Subtitle 2">
            <a:extLst>
              <a:ext uri="{FF2B5EF4-FFF2-40B4-BE49-F238E27FC236}">
                <a16:creationId xmlns:a16="http://schemas.microsoft.com/office/drawing/2014/main" id="{9498E0F9-819A-31EE-6B59-1C40C0F9B0AF}"/>
              </a:ext>
            </a:extLst>
          </p:cNvPr>
          <p:cNvSpPr>
            <a:spLocks noGrp="1"/>
          </p:cNvSpPr>
          <p:nvPr>
            <p:ph type="subTitle" idx="1"/>
          </p:nvPr>
        </p:nvSpPr>
        <p:spPr>
          <a:xfrm>
            <a:off x="804672" y="4580785"/>
            <a:ext cx="9416898" cy="484374"/>
          </a:xfrm>
        </p:spPr>
        <p:txBody>
          <a:bodyPr anchor="b">
            <a:normAutofit/>
          </a:bodyPr>
          <a:lstStyle/>
          <a:p>
            <a:pPr algn="l"/>
            <a:r>
              <a:rPr lang="en-US" sz="2000" dirty="0">
                <a:solidFill>
                  <a:schemeClr val="tx2"/>
                </a:solidFill>
              </a:rPr>
              <a:t>Chapter 2 Class: Just the Basics</a:t>
            </a:r>
          </a:p>
        </p:txBody>
      </p:sp>
    </p:spTree>
    <p:extLst>
      <p:ext uri="{BB962C8B-B14F-4D97-AF65-F5344CB8AC3E}">
        <p14:creationId xmlns:p14="http://schemas.microsoft.com/office/powerpoint/2010/main" val="45715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9BF0A-0571-3AE4-329B-7FDD247C4A47}"/>
              </a:ext>
            </a:extLst>
          </p:cNvPr>
          <p:cNvSpPr>
            <a:spLocks noGrp="1"/>
          </p:cNvSpPr>
          <p:nvPr>
            <p:ph type="title"/>
          </p:nvPr>
        </p:nvSpPr>
        <p:spPr/>
        <p:txBody>
          <a:bodyPr/>
          <a:lstStyle/>
          <a:p>
            <a:r>
              <a:rPr lang="en-US" dirty="0"/>
              <a:t>Chapter Outlines</a:t>
            </a:r>
          </a:p>
        </p:txBody>
      </p:sp>
      <p:pic>
        <p:nvPicPr>
          <p:cNvPr id="5" name="Picture 4">
            <a:extLst>
              <a:ext uri="{FF2B5EF4-FFF2-40B4-BE49-F238E27FC236}">
                <a16:creationId xmlns:a16="http://schemas.microsoft.com/office/drawing/2014/main" id="{F6984F35-20A0-78B6-C0D7-3446E8B5E50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74357" y="5891173"/>
            <a:ext cx="10579443" cy="571580"/>
          </a:xfrm>
          <a:prstGeom prst="rect">
            <a:avLst/>
          </a:prstGeom>
        </p:spPr>
      </p:pic>
      <p:graphicFrame>
        <p:nvGraphicFramePr>
          <p:cNvPr id="9" name="Content Placeholder 8">
            <a:extLst>
              <a:ext uri="{FF2B5EF4-FFF2-40B4-BE49-F238E27FC236}">
                <a16:creationId xmlns:a16="http://schemas.microsoft.com/office/drawing/2014/main" id="{CA9A291D-AFBA-B921-9197-A2EF55DD2996}"/>
              </a:ext>
            </a:extLst>
          </p:cNvPr>
          <p:cNvGraphicFramePr>
            <a:graphicFrameLocks noGrp="1"/>
          </p:cNvGraphicFramePr>
          <p:nvPr>
            <p:ph idx="1"/>
            <p:extLst>
              <p:ext uri="{D42A27DB-BD31-4B8C-83A1-F6EECF244321}">
                <p14:modId xmlns:p14="http://schemas.microsoft.com/office/powerpoint/2010/main" val="1195454027"/>
              </p:ext>
            </p:extLst>
          </p:nvPr>
        </p:nvGraphicFramePr>
        <p:xfrm>
          <a:off x="838200" y="1825625"/>
          <a:ext cx="10515600" cy="36095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2" name="TextBox 11">
            <a:extLst>
              <a:ext uri="{FF2B5EF4-FFF2-40B4-BE49-F238E27FC236}">
                <a16:creationId xmlns:a16="http://schemas.microsoft.com/office/drawing/2014/main" id="{8558A932-A150-AAEB-AF28-D9156CC23D7C}"/>
              </a:ext>
            </a:extLst>
          </p:cNvPr>
          <p:cNvSpPr txBox="1"/>
          <p:nvPr/>
        </p:nvSpPr>
        <p:spPr>
          <a:xfrm>
            <a:off x="838200" y="1622855"/>
            <a:ext cx="10426908" cy="4247317"/>
          </a:xfrm>
          <a:prstGeom prst="rect">
            <a:avLst/>
          </a:prstGeom>
          <a:noFill/>
        </p:spPr>
        <p:txBody>
          <a:bodyPr wrap="square" rtlCol="0">
            <a:spAutoFit/>
          </a:bodyPr>
          <a:lstStyle/>
          <a:p>
            <a:pPr marL="285750" lvl="0" indent="-285750">
              <a:buFont typeface="Aptos" panose="020B0004020202020204" pitchFamily="34" charset="0"/>
              <a:buChar char="–"/>
            </a:pPr>
            <a:r>
              <a:rPr lang="en-US" dirty="0"/>
              <a:t>Defining a class</a:t>
            </a:r>
          </a:p>
          <a:p>
            <a:pPr marL="742950" lvl="1" indent="-285750">
              <a:buFont typeface="Aptos" panose="020B0004020202020204" pitchFamily="34" charset="0"/>
              <a:buChar char="–"/>
            </a:pPr>
            <a:r>
              <a:rPr lang="en-US" dirty="0"/>
              <a:t>Differentiating between public and private</a:t>
            </a:r>
          </a:p>
          <a:p>
            <a:pPr marL="742950" lvl="1" indent="-285750">
              <a:buFont typeface="Aptos" panose="020B0004020202020204" pitchFamily="34" charset="0"/>
              <a:buChar char="–"/>
            </a:pPr>
            <a:r>
              <a:rPr lang="en-US" dirty="0"/>
              <a:t>Drawing UML class diagrams for a single class</a:t>
            </a:r>
          </a:p>
          <a:p>
            <a:pPr marL="285750" lvl="0" indent="-285750">
              <a:buFont typeface="Aptos" panose="020B0004020202020204" pitchFamily="34" charset="0"/>
              <a:buChar char="–"/>
            </a:pPr>
            <a:r>
              <a:rPr lang="en-US" dirty="0"/>
              <a:t>Writing a class constructor</a:t>
            </a:r>
          </a:p>
          <a:p>
            <a:pPr marL="742950" lvl="1" indent="-285750">
              <a:buFont typeface="Aptos" panose="020B0004020202020204" pitchFamily="34" charset="0"/>
              <a:buChar char="–"/>
            </a:pPr>
            <a:r>
              <a:rPr lang="en-US" dirty="0"/>
              <a:t>Differentiating between objects and classes</a:t>
            </a:r>
          </a:p>
          <a:p>
            <a:pPr marL="285750" lvl="0" indent="-285750">
              <a:buFont typeface="Aptos" panose="020B0004020202020204" pitchFamily="34" charset="0"/>
              <a:buChar char="–"/>
            </a:pPr>
            <a:r>
              <a:rPr lang="en-US" dirty="0"/>
              <a:t>Providing accessor and mutator methods</a:t>
            </a:r>
          </a:p>
          <a:p>
            <a:pPr marL="742950" lvl="1" indent="-285750">
              <a:buFont typeface="Aptos" panose="020B0004020202020204" pitchFamily="34" charset="0"/>
              <a:buChar char="–"/>
            </a:pPr>
            <a:r>
              <a:rPr lang="en-US" dirty="0"/>
              <a:t>Preserving encapsulation</a:t>
            </a:r>
          </a:p>
          <a:p>
            <a:pPr marL="742950" lvl="1" indent="-285750">
              <a:buFont typeface="Aptos" panose="020B0004020202020204" pitchFamily="34" charset="0"/>
              <a:buChar char="–"/>
            </a:pPr>
            <a:r>
              <a:rPr lang="en-US" dirty="0"/>
              <a:t>Maintaining proper accessibility</a:t>
            </a:r>
          </a:p>
          <a:p>
            <a:pPr marL="285750" lvl="0" indent="-285750">
              <a:buFont typeface="Aptos" panose="020B0004020202020204" pitchFamily="34" charset="0"/>
              <a:buChar char="–"/>
            </a:pPr>
            <a:r>
              <a:rPr lang="en-US" dirty="0"/>
              <a:t>Utilizing this to refer to an object itself</a:t>
            </a:r>
          </a:p>
          <a:p>
            <a:pPr marL="742950" lvl="1" indent="-285750">
              <a:buFont typeface="Aptos" panose="020B0004020202020204" pitchFamily="34" charset="0"/>
              <a:buChar char="–"/>
            </a:pPr>
            <a:r>
              <a:rPr lang="en-US" dirty="0"/>
              <a:t>Differentiating between clones, aliases, and originals</a:t>
            </a:r>
          </a:p>
          <a:p>
            <a:pPr marL="285750" lvl="0" indent="-285750">
              <a:buFont typeface="Aptos" panose="020B0004020202020204" pitchFamily="34" charset="0"/>
              <a:buChar char="–"/>
            </a:pPr>
            <a:r>
              <a:rPr lang="en-US" dirty="0"/>
              <a:t>Tailoring additional instance methods</a:t>
            </a:r>
          </a:p>
          <a:p>
            <a:pPr marL="742950" lvl="1" indent="-285750">
              <a:buFont typeface="Aptos" panose="020B0004020202020204" pitchFamily="34" charset="0"/>
              <a:buChar char="–"/>
            </a:pPr>
            <a:r>
              <a:rPr lang="en-US" dirty="0"/>
              <a:t>Overriding an object’s </a:t>
            </a:r>
            <a:r>
              <a:rPr lang="en-US" dirty="0" err="1"/>
              <a:t>toString</a:t>
            </a:r>
            <a:r>
              <a:rPr lang="en-US" dirty="0"/>
              <a:t>() method</a:t>
            </a:r>
          </a:p>
          <a:p>
            <a:pPr marL="742950" lvl="1" indent="-285750">
              <a:buFont typeface="Aptos" panose="020B0004020202020204" pitchFamily="34" charset="0"/>
              <a:buChar char="–"/>
            </a:pPr>
            <a:r>
              <a:rPr lang="en-US" dirty="0"/>
              <a:t>Differentiating between referential and structural equality</a:t>
            </a:r>
          </a:p>
          <a:p>
            <a:pPr marL="742950" lvl="1" indent="-285750">
              <a:buFont typeface="Aptos" panose="020B0004020202020204" pitchFamily="34" charset="0"/>
              <a:buChar char="–"/>
            </a:pPr>
            <a:r>
              <a:rPr lang="en-US" dirty="0"/>
              <a:t>Overriding an object’s equals() method</a:t>
            </a:r>
          </a:p>
          <a:p>
            <a:pPr marL="285750" lvl="0" indent="-285750">
              <a:buFont typeface="Aptos" panose="020B0004020202020204" pitchFamily="34" charset="0"/>
              <a:buChar char="–"/>
            </a:pPr>
            <a:r>
              <a:rPr lang="en-US" dirty="0"/>
              <a:t>Case Study: Reverse Engineering Point2D</a:t>
            </a:r>
          </a:p>
        </p:txBody>
      </p:sp>
    </p:spTree>
    <p:extLst>
      <p:ext uri="{BB962C8B-B14F-4D97-AF65-F5344CB8AC3E}">
        <p14:creationId xmlns:p14="http://schemas.microsoft.com/office/powerpoint/2010/main" val="2717311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0A379-4975-80DB-8A99-0A8C6BBC9CFD}"/>
              </a:ext>
            </a:extLst>
          </p:cNvPr>
          <p:cNvSpPr>
            <a:spLocks noGrp="1"/>
          </p:cNvSpPr>
          <p:nvPr>
            <p:ph type="title"/>
          </p:nvPr>
        </p:nvSpPr>
        <p:spPr/>
        <p:txBody>
          <a:bodyPr/>
          <a:lstStyle/>
          <a:p>
            <a:r>
              <a:rPr lang="en-US" dirty="0"/>
              <a:t>2.1 What is a class?</a:t>
            </a:r>
          </a:p>
        </p:txBody>
      </p:sp>
      <p:sp>
        <p:nvSpPr>
          <p:cNvPr id="3" name="Content Placeholder 2">
            <a:extLst>
              <a:ext uri="{FF2B5EF4-FFF2-40B4-BE49-F238E27FC236}">
                <a16:creationId xmlns:a16="http://schemas.microsoft.com/office/drawing/2014/main" id="{45BADCC9-9A6A-D1F9-2528-5D4ED8E98C23}"/>
              </a:ext>
            </a:extLst>
          </p:cNvPr>
          <p:cNvSpPr>
            <a:spLocks noGrp="1"/>
          </p:cNvSpPr>
          <p:nvPr>
            <p:ph idx="1"/>
          </p:nvPr>
        </p:nvSpPr>
        <p:spPr>
          <a:xfrm>
            <a:off x="838200" y="1825625"/>
            <a:ext cx="9951720" cy="3321141"/>
          </a:xfrm>
        </p:spPr>
        <p:txBody>
          <a:bodyPr>
            <a:normAutofit/>
          </a:bodyPr>
          <a:lstStyle/>
          <a:p>
            <a:r>
              <a:rPr lang="en-US" dirty="0"/>
              <a:t>In Java, a class is such a user-defined data type</a:t>
            </a:r>
          </a:p>
          <a:p>
            <a:pPr lvl="1">
              <a:buFont typeface="Courier New" panose="02070309020205020404" pitchFamily="49" charset="0"/>
              <a:buChar char="o"/>
            </a:pPr>
            <a:r>
              <a:rPr lang="en-US" dirty="0"/>
              <a:t>like a blueprint for a category of objects which all share common attributes (or data members) and behaviors (or member methods)</a:t>
            </a:r>
          </a:p>
          <a:p>
            <a:pPr lvl="1">
              <a:buFont typeface="Courier New" panose="02070309020205020404" pitchFamily="49" charset="0"/>
              <a:buChar char="o"/>
            </a:pPr>
            <a:r>
              <a:rPr lang="en-US" dirty="0"/>
              <a:t>has two parts: </a:t>
            </a:r>
          </a:p>
          <a:p>
            <a:pPr lvl="2">
              <a:buFont typeface="Wingdings" panose="05000000000000000000" pitchFamily="2" charset="2"/>
              <a:buChar char="§"/>
            </a:pPr>
            <a:r>
              <a:rPr lang="en-US" dirty="0"/>
              <a:t>instance variables </a:t>
            </a:r>
          </a:p>
          <a:p>
            <a:pPr lvl="2">
              <a:buFont typeface="Wingdings" panose="05000000000000000000" pitchFamily="2" charset="2"/>
              <a:buChar char="§"/>
            </a:pPr>
            <a:r>
              <a:rPr lang="en-US" dirty="0"/>
              <a:t>instance methods</a:t>
            </a:r>
          </a:p>
          <a:p>
            <a:pPr lvl="1">
              <a:buFont typeface="Courier New" panose="02070309020205020404" pitchFamily="49" charset="0"/>
              <a:buChar char="o"/>
            </a:pPr>
            <a:endParaRPr lang="en-US" dirty="0"/>
          </a:p>
          <a:p>
            <a:endParaRPr lang="en-US" dirty="0"/>
          </a:p>
          <a:p>
            <a:endParaRPr lang="en-US" dirty="0"/>
          </a:p>
          <a:p>
            <a:endParaRPr lang="en-US" dirty="0"/>
          </a:p>
          <a:p>
            <a:pPr lvl="1"/>
            <a:endParaRPr lang="en-US" dirty="0"/>
          </a:p>
        </p:txBody>
      </p:sp>
      <p:pic>
        <p:nvPicPr>
          <p:cNvPr id="4" name="Picture 3">
            <a:extLst>
              <a:ext uri="{FF2B5EF4-FFF2-40B4-BE49-F238E27FC236}">
                <a16:creationId xmlns:a16="http://schemas.microsoft.com/office/drawing/2014/main" id="{A1D4AA88-5BCC-84A9-7F2A-E7FED02815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2316115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D1DEA-5E00-4395-36C9-4BEAE0767B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09638-EA48-B0DD-6D07-F4C755690865}"/>
              </a:ext>
            </a:extLst>
          </p:cNvPr>
          <p:cNvSpPr>
            <a:spLocks noGrp="1"/>
          </p:cNvSpPr>
          <p:nvPr>
            <p:ph type="title"/>
          </p:nvPr>
        </p:nvSpPr>
        <p:spPr/>
        <p:txBody>
          <a:bodyPr/>
          <a:lstStyle/>
          <a:p>
            <a:r>
              <a:rPr lang="en-US" dirty="0"/>
              <a:t>2.1 What is a class?</a:t>
            </a:r>
          </a:p>
        </p:txBody>
      </p:sp>
      <p:pic>
        <p:nvPicPr>
          <p:cNvPr id="4" name="Picture 3">
            <a:extLst>
              <a:ext uri="{FF2B5EF4-FFF2-40B4-BE49-F238E27FC236}">
                <a16:creationId xmlns:a16="http://schemas.microsoft.com/office/drawing/2014/main" id="{C5B2E29E-919C-D330-E91E-5B4326D862C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graphicFrame>
        <p:nvGraphicFramePr>
          <p:cNvPr id="5" name="Table 4">
            <a:extLst>
              <a:ext uri="{FF2B5EF4-FFF2-40B4-BE49-F238E27FC236}">
                <a16:creationId xmlns:a16="http://schemas.microsoft.com/office/drawing/2014/main" id="{807E925B-0D84-E4E7-E873-BB6DC906E0C3}"/>
              </a:ext>
            </a:extLst>
          </p:cNvPr>
          <p:cNvGraphicFramePr>
            <a:graphicFrameLocks noGrp="1"/>
          </p:cNvGraphicFramePr>
          <p:nvPr>
            <p:extLst>
              <p:ext uri="{D42A27DB-BD31-4B8C-83A1-F6EECF244321}">
                <p14:modId xmlns:p14="http://schemas.microsoft.com/office/powerpoint/2010/main" val="1901125309"/>
              </p:ext>
            </p:extLst>
          </p:nvPr>
        </p:nvGraphicFramePr>
        <p:xfrm>
          <a:off x="986245" y="1690688"/>
          <a:ext cx="7289075" cy="2743200"/>
        </p:xfrm>
        <a:graphic>
          <a:graphicData uri="http://schemas.openxmlformats.org/drawingml/2006/table">
            <a:tbl>
              <a:tblPr firstRow="1" firstCol="1" bandRow="1"/>
              <a:tblGrid>
                <a:gridCol w="7289075">
                  <a:extLst>
                    <a:ext uri="{9D8B030D-6E8A-4147-A177-3AD203B41FA5}">
                      <a16:colId xmlns:a16="http://schemas.microsoft.com/office/drawing/2014/main" val="221571778"/>
                    </a:ext>
                  </a:extLst>
                </a:gridCol>
              </a:tblGrid>
              <a:tr h="0">
                <a:tc>
                  <a:txBody>
                    <a:bodyPr/>
                    <a:lstStyle/>
                    <a:p>
                      <a:pPr marL="0" marR="0">
                        <a:buNone/>
                      </a:pPr>
                      <a:r>
                        <a:rPr lang="en-US" sz="1800" b="1">
                          <a:solidFill>
                            <a:srgbClr val="FFFFFF"/>
                          </a:solidFill>
                          <a:effectLst/>
                          <a:latin typeface="Times New Roman" panose="02020603050405020304" pitchFamily="18" charset="0"/>
                          <a:ea typeface="DengXian" panose="02010600030101010101" pitchFamily="2" charset="-122"/>
                          <a:cs typeface="Times New Roman" panose="02020603050405020304" pitchFamily="18" charset="0"/>
                        </a:rPr>
                        <a:t>Syntax: defining a class</a:t>
                      </a:r>
                      <a:endParaRPr lang="en-US" sz="18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70AD47"/>
                    </a:solidFill>
                  </a:tcPr>
                </a:tc>
                <a:extLst>
                  <a:ext uri="{0D108BD9-81ED-4DB2-BD59-A6C34878D82A}">
                    <a16:rowId xmlns:a16="http://schemas.microsoft.com/office/drawing/2014/main" val="3500717338"/>
                  </a:ext>
                </a:extLst>
              </a:tr>
              <a:tr h="0">
                <a:tc>
                  <a:txBody>
                    <a:bodyPr/>
                    <a:lstStyle/>
                    <a:p>
                      <a:pPr marL="0" marR="0">
                        <a:buNone/>
                      </a:pPr>
                      <a:r>
                        <a:rPr lang="en-US" sz="1800" b="1"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[public] class </a:t>
                      </a:r>
                      <a:r>
                        <a:rPr lang="en-US" sz="1800" b="1" dirty="0" err="1">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nameOfClass</a:t>
                      </a:r>
                      <a:r>
                        <a:rPr lang="en-US" sz="1800" b="1"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 {</a:t>
                      </a:r>
                      <a:endParaRPr lang="en-US" sz="1800"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endParaRPr>
                    </a:p>
                    <a:p>
                      <a:pPr marL="0" marR="0" indent="281305">
                        <a:buNone/>
                      </a:pPr>
                      <a:r>
                        <a:rPr lang="en-US" sz="1800" b="1"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[private] &lt;type&gt; </a:t>
                      </a:r>
                      <a:r>
                        <a:rPr lang="en-US" sz="1800" b="1" dirty="0" err="1">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instanceVariableName</a:t>
                      </a:r>
                      <a:r>
                        <a:rPr lang="en-US" sz="1800" b="1"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a:t>
                      </a:r>
                      <a:endParaRPr lang="en-US" sz="1800"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endParaRPr>
                    </a:p>
                    <a:p>
                      <a:pPr marL="0" marR="0" indent="281305">
                        <a:buNone/>
                      </a:pPr>
                      <a:r>
                        <a:rPr lang="en-US" sz="1800" b="1"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[public] </a:t>
                      </a:r>
                      <a:r>
                        <a:rPr lang="en-US" sz="1800" b="1" dirty="0" err="1">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nameOfClass</a:t>
                      </a:r>
                      <a:r>
                        <a:rPr lang="en-US" sz="1800" b="1"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(optional parameters) {</a:t>
                      </a:r>
                      <a:endParaRPr lang="en-US" sz="1800"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endParaRPr>
                    </a:p>
                    <a:p>
                      <a:pPr marL="0" marR="0" indent="281305">
                        <a:buNone/>
                      </a:pPr>
                      <a:r>
                        <a:rPr lang="en-US" sz="1800" b="1"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    // initialize instance variables</a:t>
                      </a:r>
                      <a:endParaRPr lang="en-US" sz="1800"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endParaRPr>
                    </a:p>
                    <a:p>
                      <a:pPr marL="0" marR="0" indent="281305">
                        <a:buNone/>
                      </a:pPr>
                      <a:r>
                        <a:rPr lang="en-US" sz="1800" b="1"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a:t>
                      </a:r>
                      <a:endParaRPr lang="en-US" sz="1800"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endParaRPr>
                    </a:p>
                    <a:p>
                      <a:pPr marL="0" marR="0" indent="281305">
                        <a:buNone/>
                      </a:pPr>
                      <a:r>
                        <a:rPr lang="en-US" sz="1800" b="1"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[public] &lt;</a:t>
                      </a:r>
                      <a:r>
                        <a:rPr lang="en-US" sz="1800" b="1" dirty="0" err="1">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returnType</a:t>
                      </a:r>
                      <a:r>
                        <a:rPr lang="en-US" sz="1800" b="1"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&gt; </a:t>
                      </a:r>
                      <a:r>
                        <a:rPr lang="en-US" sz="1800" b="1" dirty="0" err="1">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instanceMethodName</a:t>
                      </a:r>
                      <a:r>
                        <a:rPr lang="en-US" sz="1800" b="1"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(parameters) {</a:t>
                      </a:r>
                      <a:endParaRPr lang="en-US" sz="1800"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endParaRPr>
                    </a:p>
                    <a:p>
                      <a:pPr marL="0" marR="0" indent="281305">
                        <a:buNone/>
                      </a:pPr>
                      <a:r>
                        <a:rPr lang="en-US" sz="1800" b="1"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    // do something</a:t>
                      </a:r>
                      <a:endParaRPr lang="en-US" sz="1800"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endParaRPr>
                    </a:p>
                    <a:p>
                      <a:pPr marL="0" marR="0" indent="281305">
                        <a:buNone/>
                      </a:pPr>
                      <a:r>
                        <a:rPr lang="en-US" sz="1800" b="1"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a:t>
                      </a:r>
                      <a:endParaRPr lang="en-US" sz="1800"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endParaRPr>
                    </a:p>
                    <a:p>
                      <a:pPr marL="0" marR="0">
                        <a:buNone/>
                      </a:pPr>
                      <a:r>
                        <a:rPr lang="en-US" sz="1800" b="1"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a:t>
                      </a:r>
                      <a:endParaRPr lang="en-US" sz="1800"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FFFFFF"/>
                    </a:solidFill>
                  </a:tcPr>
                </a:tc>
                <a:extLst>
                  <a:ext uri="{0D108BD9-81ED-4DB2-BD59-A6C34878D82A}">
                    <a16:rowId xmlns:a16="http://schemas.microsoft.com/office/drawing/2014/main" val="1235836653"/>
                  </a:ext>
                </a:extLst>
              </a:tr>
            </a:tbl>
          </a:graphicData>
        </a:graphic>
      </p:graphicFrame>
      <p:graphicFrame>
        <p:nvGraphicFramePr>
          <p:cNvPr id="9" name="Table 8">
            <a:extLst>
              <a:ext uri="{FF2B5EF4-FFF2-40B4-BE49-F238E27FC236}">
                <a16:creationId xmlns:a16="http://schemas.microsoft.com/office/drawing/2014/main" id="{2EC76C46-2083-F673-AEE5-22FE9EE83B6E}"/>
              </a:ext>
            </a:extLst>
          </p:cNvPr>
          <p:cNvGraphicFramePr>
            <a:graphicFrameLocks noGrp="1"/>
          </p:cNvGraphicFramePr>
          <p:nvPr>
            <p:extLst>
              <p:ext uri="{D42A27DB-BD31-4B8C-83A1-F6EECF244321}">
                <p14:modId xmlns:p14="http://schemas.microsoft.com/office/powerpoint/2010/main" val="733268203"/>
              </p:ext>
            </p:extLst>
          </p:nvPr>
        </p:nvGraphicFramePr>
        <p:xfrm>
          <a:off x="986245" y="4609443"/>
          <a:ext cx="7204166" cy="1325563"/>
        </p:xfrm>
        <a:graphic>
          <a:graphicData uri="http://schemas.openxmlformats.org/drawingml/2006/table">
            <a:tbl>
              <a:tblPr firstRow="1" firstCol="1" bandRow="1"/>
              <a:tblGrid>
                <a:gridCol w="7204166">
                  <a:extLst>
                    <a:ext uri="{9D8B030D-6E8A-4147-A177-3AD203B41FA5}">
                      <a16:colId xmlns:a16="http://schemas.microsoft.com/office/drawing/2014/main" val="447668332"/>
                    </a:ext>
                  </a:extLst>
                </a:gridCol>
              </a:tblGrid>
              <a:tr h="331391">
                <a:tc>
                  <a:txBody>
                    <a:bodyPr/>
                    <a:lstStyle/>
                    <a:p>
                      <a:pPr marL="0" marR="0">
                        <a:buNone/>
                      </a:pPr>
                      <a:r>
                        <a:rPr lang="en-US" sz="2000" b="1" dirty="0">
                          <a:solidFill>
                            <a:srgbClr val="FFFFFF"/>
                          </a:solidFill>
                          <a:effectLst/>
                          <a:latin typeface="Times New Roman" panose="02020603050405020304" pitchFamily="18" charset="0"/>
                          <a:ea typeface="DengXian" panose="02010600030101010101" pitchFamily="2" charset="-122"/>
                          <a:cs typeface="Times New Roman" panose="02020603050405020304" pitchFamily="18" charset="0"/>
                        </a:rPr>
                        <a:t>Core Concept: contents of a class</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solidFill>
                  </a:tcPr>
                </a:tc>
                <a:extLst>
                  <a:ext uri="{0D108BD9-81ED-4DB2-BD59-A6C34878D82A}">
                    <a16:rowId xmlns:a16="http://schemas.microsoft.com/office/drawing/2014/main" val="3549423392"/>
                  </a:ext>
                </a:extLst>
              </a:tr>
              <a:tr h="994172">
                <a:tc>
                  <a:txBody>
                    <a:bodyPr/>
                    <a:lstStyle/>
                    <a:p>
                      <a:pPr marL="342900" marR="0" lvl="0" indent="-342900">
                        <a:buSzPts val="1000"/>
                        <a:buFont typeface="Times New Roman" panose="02020603050405020304" pitchFamily="18" charset="0"/>
                        <a:buChar char="►"/>
                      </a:pPr>
                      <a:r>
                        <a:rPr lang="en-US" sz="2000" b="1"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Instance variable(s):</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important characteristics of the class</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SzPts val="1000"/>
                        <a:buFont typeface="Times New Roman" panose="02020603050405020304" pitchFamily="18" charset="0"/>
                        <a:buChar char="►"/>
                      </a:pPr>
                      <a:r>
                        <a:rPr lang="en-US" sz="2000" b="1"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Constructor(s):</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initializes the class’s instance variables</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SzPts val="1000"/>
                        <a:buFont typeface="Times New Roman" panose="02020603050405020304" pitchFamily="18" charset="0"/>
                        <a:buChar char="►"/>
                      </a:pPr>
                      <a:r>
                        <a:rPr lang="en-US" sz="2000" b="1"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Instance method(s):</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actions using the class’s instance variables</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473902602"/>
                  </a:ext>
                </a:extLst>
              </a:tr>
            </a:tbl>
          </a:graphicData>
        </a:graphic>
      </p:graphicFrame>
    </p:spTree>
    <p:extLst>
      <p:ext uri="{BB962C8B-B14F-4D97-AF65-F5344CB8AC3E}">
        <p14:creationId xmlns:p14="http://schemas.microsoft.com/office/powerpoint/2010/main" val="846388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68FBE-BA34-A78D-DFC1-C48FB731D2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4C550F-3004-4B6A-0550-C0EBD971BB86}"/>
              </a:ext>
            </a:extLst>
          </p:cNvPr>
          <p:cNvSpPr>
            <a:spLocks noGrp="1"/>
          </p:cNvSpPr>
          <p:nvPr>
            <p:ph type="title"/>
          </p:nvPr>
        </p:nvSpPr>
        <p:spPr/>
        <p:txBody>
          <a:bodyPr/>
          <a:lstStyle/>
          <a:p>
            <a:r>
              <a:rPr lang="en-US" dirty="0"/>
              <a:t>2.1 What is a class?</a:t>
            </a:r>
          </a:p>
        </p:txBody>
      </p:sp>
      <p:pic>
        <p:nvPicPr>
          <p:cNvPr id="4" name="Picture 3">
            <a:extLst>
              <a:ext uri="{FF2B5EF4-FFF2-40B4-BE49-F238E27FC236}">
                <a16:creationId xmlns:a16="http://schemas.microsoft.com/office/drawing/2014/main" id="{6EC87FCD-DAED-E8EE-7244-6EA284BFE92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graphicFrame>
        <p:nvGraphicFramePr>
          <p:cNvPr id="3" name="Table 2">
            <a:extLst>
              <a:ext uri="{FF2B5EF4-FFF2-40B4-BE49-F238E27FC236}">
                <a16:creationId xmlns:a16="http://schemas.microsoft.com/office/drawing/2014/main" id="{BAAB0454-75BF-D57A-9CF9-28892E2D7CFD}"/>
              </a:ext>
            </a:extLst>
          </p:cNvPr>
          <p:cNvGraphicFramePr>
            <a:graphicFrameLocks noGrp="1"/>
          </p:cNvGraphicFramePr>
          <p:nvPr>
            <p:extLst>
              <p:ext uri="{D42A27DB-BD31-4B8C-83A1-F6EECF244321}">
                <p14:modId xmlns:p14="http://schemas.microsoft.com/office/powerpoint/2010/main" val="1403566739"/>
              </p:ext>
            </p:extLst>
          </p:nvPr>
        </p:nvGraphicFramePr>
        <p:xfrm>
          <a:off x="968829" y="1690688"/>
          <a:ext cx="9409611" cy="1274581"/>
        </p:xfrm>
        <a:graphic>
          <a:graphicData uri="http://schemas.openxmlformats.org/drawingml/2006/table">
            <a:tbl>
              <a:tblPr firstRow="1" firstCol="1" bandRow="1"/>
              <a:tblGrid>
                <a:gridCol w="9409611">
                  <a:extLst>
                    <a:ext uri="{9D8B030D-6E8A-4147-A177-3AD203B41FA5}">
                      <a16:colId xmlns:a16="http://schemas.microsoft.com/office/drawing/2014/main" val="2646198145"/>
                    </a:ext>
                  </a:extLst>
                </a:gridCol>
              </a:tblGrid>
              <a:tr h="364391">
                <a:tc>
                  <a:txBody>
                    <a:bodyPr/>
                    <a:lstStyle/>
                    <a:p>
                      <a:pPr marL="0" marR="0">
                        <a:buNone/>
                      </a:pPr>
                      <a:r>
                        <a:rPr lang="en-US" sz="2000" b="1">
                          <a:solidFill>
                            <a:srgbClr val="FFFFFF"/>
                          </a:solidFill>
                          <a:effectLst/>
                          <a:latin typeface="Times New Roman" panose="02020603050405020304" pitchFamily="18" charset="0"/>
                          <a:ea typeface="DengXian" panose="02010600030101010101" pitchFamily="2" charset="-122"/>
                          <a:cs typeface="Times New Roman" panose="02020603050405020304" pitchFamily="18" charset="0"/>
                        </a:rPr>
                        <a:t>Core Concept: accessibility</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solidFill>
                  </a:tcPr>
                </a:tc>
                <a:extLst>
                  <a:ext uri="{0D108BD9-81ED-4DB2-BD59-A6C34878D82A}">
                    <a16:rowId xmlns:a16="http://schemas.microsoft.com/office/drawing/2014/main" val="274748367"/>
                  </a:ext>
                </a:extLst>
              </a:tr>
              <a:tr h="910190">
                <a:tc>
                  <a:txBody>
                    <a:bodyPr/>
                    <a:lstStyle/>
                    <a:p>
                      <a:pPr marL="342900" marR="0" lvl="0" indent="-342900">
                        <a:buSzPts val="1000"/>
                        <a:buFont typeface="Times New Roman" panose="02020603050405020304" pitchFamily="18" charset="0"/>
                        <a:buChar char="►"/>
                      </a:pPr>
                      <a:r>
                        <a:rPr lang="en-US" sz="2000" b="1" dirty="0">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public</a:t>
                      </a:r>
                      <a:r>
                        <a:rPr lang="en-US" sz="2000" b="1"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allows access to internal (within-class) and external (outside-of-class) users</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SzPts val="1000"/>
                        <a:buFont typeface="Times New Roman" panose="02020603050405020304" pitchFamily="18" charset="0"/>
                        <a:buChar char="►"/>
                      </a:pPr>
                      <a:r>
                        <a:rPr lang="en-US" sz="2000" b="1" dirty="0">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private</a:t>
                      </a:r>
                      <a:r>
                        <a:rPr lang="en-US" sz="2000" b="1"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allows access </a:t>
                      </a:r>
                      <a:r>
                        <a:rPr lang="en-US" sz="2000" i="1"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ONLY</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to internal users</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2807921981"/>
                  </a:ext>
                </a:extLst>
              </a:tr>
            </a:tbl>
          </a:graphicData>
        </a:graphic>
      </p:graphicFrame>
      <p:graphicFrame>
        <p:nvGraphicFramePr>
          <p:cNvPr id="6" name="Table 5">
            <a:extLst>
              <a:ext uri="{FF2B5EF4-FFF2-40B4-BE49-F238E27FC236}">
                <a16:creationId xmlns:a16="http://schemas.microsoft.com/office/drawing/2014/main" id="{5F1CAC66-8328-F9DE-B0C4-8C0467EB6865}"/>
              </a:ext>
            </a:extLst>
          </p:cNvPr>
          <p:cNvGraphicFramePr>
            <a:graphicFrameLocks noGrp="1"/>
          </p:cNvGraphicFramePr>
          <p:nvPr>
            <p:extLst>
              <p:ext uri="{D42A27DB-BD31-4B8C-83A1-F6EECF244321}">
                <p14:modId xmlns:p14="http://schemas.microsoft.com/office/powerpoint/2010/main" val="3421998598"/>
              </p:ext>
            </p:extLst>
          </p:nvPr>
        </p:nvGraphicFramePr>
        <p:xfrm>
          <a:off x="968829" y="3429000"/>
          <a:ext cx="9409611" cy="1274580"/>
        </p:xfrm>
        <a:graphic>
          <a:graphicData uri="http://schemas.openxmlformats.org/drawingml/2006/table">
            <a:tbl>
              <a:tblPr firstRow="1" firstCol="1" bandRow="1"/>
              <a:tblGrid>
                <a:gridCol w="9409611">
                  <a:extLst>
                    <a:ext uri="{9D8B030D-6E8A-4147-A177-3AD203B41FA5}">
                      <a16:colId xmlns:a16="http://schemas.microsoft.com/office/drawing/2014/main" val="3629065655"/>
                    </a:ext>
                  </a:extLst>
                </a:gridCol>
              </a:tblGrid>
              <a:tr h="424860">
                <a:tc>
                  <a:txBody>
                    <a:bodyPr/>
                    <a:lstStyle/>
                    <a:p>
                      <a:pPr marL="0" marR="0">
                        <a:buNone/>
                      </a:pPr>
                      <a:r>
                        <a:rPr lang="en-US" sz="2000" b="1">
                          <a:solidFill>
                            <a:srgbClr val="FFFFFF"/>
                          </a:solidFill>
                          <a:effectLst/>
                          <a:latin typeface="Times New Roman" panose="02020603050405020304" pitchFamily="18" charset="0"/>
                          <a:ea typeface="DengXian" panose="02010600030101010101" pitchFamily="2" charset="-122"/>
                          <a:cs typeface="Times New Roman" panose="02020603050405020304" pitchFamily="18" charset="0"/>
                        </a:rPr>
                        <a:t>Core Concept: encapsulation</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solidFill>
                  </a:tcPr>
                </a:tc>
                <a:extLst>
                  <a:ext uri="{0D108BD9-81ED-4DB2-BD59-A6C34878D82A}">
                    <a16:rowId xmlns:a16="http://schemas.microsoft.com/office/drawing/2014/main" val="1748773368"/>
                  </a:ext>
                </a:extLst>
              </a:tr>
              <a:tr h="849720">
                <a:tc>
                  <a:txBody>
                    <a:bodyPr/>
                    <a:lstStyle/>
                    <a:p>
                      <a:pPr marL="0" marR="0">
                        <a:buNone/>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Do not let external users directly access instance variables.</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Font typeface="Wingdings" panose="05000000000000000000" pitchFamily="2" charset="2"/>
                        <a:buChar char=""/>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Keep these instance variables </a:t>
                      </a:r>
                      <a:r>
                        <a:rPr lang="en-US" sz="2000" dirty="0">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private</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1278683373"/>
                  </a:ext>
                </a:extLst>
              </a:tr>
            </a:tbl>
          </a:graphicData>
        </a:graphic>
      </p:graphicFrame>
    </p:spTree>
    <p:extLst>
      <p:ext uri="{BB962C8B-B14F-4D97-AF65-F5344CB8AC3E}">
        <p14:creationId xmlns:p14="http://schemas.microsoft.com/office/powerpoint/2010/main" val="3903279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EE1D9-E73F-9A0C-318D-6C0C8D8B28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0DBFEA-6B72-4704-AFCE-0AFBC077C2D2}"/>
              </a:ext>
            </a:extLst>
          </p:cNvPr>
          <p:cNvSpPr>
            <a:spLocks noGrp="1"/>
          </p:cNvSpPr>
          <p:nvPr>
            <p:ph type="title"/>
          </p:nvPr>
        </p:nvSpPr>
        <p:spPr/>
        <p:txBody>
          <a:bodyPr/>
          <a:lstStyle/>
          <a:p>
            <a:r>
              <a:rPr lang="en-US" dirty="0"/>
              <a:t>2.1 What is a class?</a:t>
            </a:r>
          </a:p>
        </p:txBody>
      </p:sp>
      <p:pic>
        <p:nvPicPr>
          <p:cNvPr id="4" name="Picture 3">
            <a:extLst>
              <a:ext uri="{FF2B5EF4-FFF2-40B4-BE49-F238E27FC236}">
                <a16:creationId xmlns:a16="http://schemas.microsoft.com/office/drawing/2014/main" id="{D8915440-BE98-4675-6E56-6D516B4C1C8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graphicFrame>
        <p:nvGraphicFramePr>
          <p:cNvPr id="5" name="Table 4">
            <a:extLst>
              <a:ext uri="{FF2B5EF4-FFF2-40B4-BE49-F238E27FC236}">
                <a16:creationId xmlns:a16="http://schemas.microsoft.com/office/drawing/2014/main" id="{2398E873-32BB-F387-0041-10ACE024C6CB}"/>
              </a:ext>
            </a:extLst>
          </p:cNvPr>
          <p:cNvGraphicFramePr>
            <a:graphicFrameLocks noGrp="1"/>
          </p:cNvGraphicFramePr>
          <p:nvPr>
            <p:extLst>
              <p:ext uri="{D42A27DB-BD31-4B8C-83A1-F6EECF244321}">
                <p14:modId xmlns:p14="http://schemas.microsoft.com/office/powerpoint/2010/main" val="3830588530"/>
              </p:ext>
            </p:extLst>
          </p:nvPr>
        </p:nvGraphicFramePr>
        <p:xfrm>
          <a:off x="955765" y="1690688"/>
          <a:ext cx="9657806" cy="2822530"/>
        </p:xfrm>
        <a:graphic>
          <a:graphicData uri="http://schemas.openxmlformats.org/drawingml/2006/table">
            <a:tbl>
              <a:tblPr firstRow="1" firstCol="1" bandRow="1"/>
              <a:tblGrid>
                <a:gridCol w="9657806">
                  <a:extLst>
                    <a:ext uri="{9D8B030D-6E8A-4147-A177-3AD203B41FA5}">
                      <a16:colId xmlns:a16="http://schemas.microsoft.com/office/drawing/2014/main" val="1079890579"/>
                    </a:ext>
                  </a:extLst>
                </a:gridCol>
              </a:tblGrid>
              <a:tr h="543483">
                <a:tc>
                  <a:txBody>
                    <a:bodyPr/>
                    <a:lstStyle/>
                    <a:p>
                      <a:pPr marL="0" marR="0">
                        <a:buNone/>
                      </a:pPr>
                      <a:r>
                        <a:rPr lang="en-US" sz="2000" b="1">
                          <a:solidFill>
                            <a:srgbClr val="FFFFFF"/>
                          </a:solidFill>
                          <a:effectLst/>
                          <a:latin typeface="Times New Roman" panose="02020603050405020304" pitchFamily="18" charset="0"/>
                          <a:ea typeface="DengXian" panose="02010600030101010101" pitchFamily="2" charset="-122"/>
                          <a:cs typeface="Times New Roman" panose="02020603050405020304" pitchFamily="18" charset="0"/>
                        </a:rPr>
                        <a:t>Syntax: sketching a UML class diagram</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70AD47"/>
                    </a:solidFill>
                  </a:tcPr>
                </a:tc>
                <a:extLst>
                  <a:ext uri="{0D108BD9-81ED-4DB2-BD59-A6C34878D82A}">
                    <a16:rowId xmlns:a16="http://schemas.microsoft.com/office/drawing/2014/main" val="2404351906"/>
                  </a:ext>
                </a:extLst>
              </a:tr>
              <a:tr h="452902">
                <a:tc>
                  <a:txBody>
                    <a:bodyPr/>
                    <a:lstStyle/>
                    <a:p>
                      <a:pPr marL="0" marR="0" algn="ctr">
                        <a:buNone/>
                      </a:pPr>
                      <a:r>
                        <a:rPr lang="en-US" sz="2000" b="1">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nameOfClass</a:t>
                      </a:r>
                      <a:endParaRPr lang="en-US" sz="2000">
                        <a:solidFill>
                          <a:srgbClr val="538135"/>
                        </a:solidFill>
                        <a:effectLst/>
                        <a:latin typeface="Consolas" panose="020B0609020204030204" pitchFamily="49"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FFFFFF"/>
                    </a:solidFill>
                  </a:tcPr>
                </a:tc>
                <a:extLst>
                  <a:ext uri="{0D108BD9-81ED-4DB2-BD59-A6C34878D82A}">
                    <a16:rowId xmlns:a16="http://schemas.microsoft.com/office/drawing/2014/main" val="2599625031"/>
                  </a:ext>
                </a:extLst>
              </a:tr>
              <a:tr h="905805">
                <a:tc>
                  <a:txBody>
                    <a:bodyPr/>
                    <a:lstStyle/>
                    <a:p>
                      <a:pPr marL="0" marR="0">
                        <a:buNone/>
                      </a:pPr>
                      <a:r>
                        <a:rPr lang="en-US" sz="2000" b="1">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 instanceVariableName: type</a:t>
                      </a:r>
                      <a:endParaRPr lang="en-US" sz="2000">
                        <a:solidFill>
                          <a:srgbClr val="538135"/>
                        </a:solidFill>
                        <a:effectLst/>
                        <a:latin typeface="Consolas" panose="020B0609020204030204" pitchFamily="49" charset="0"/>
                        <a:ea typeface="DengXian" panose="02010600030101010101" pitchFamily="2" charset="-122"/>
                        <a:cs typeface="Times New Roman" panose="02020603050405020304" pitchFamily="18" charset="0"/>
                      </a:endParaRPr>
                    </a:p>
                    <a:p>
                      <a:pPr marL="0" marR="0">
                        <a:buNone/>
                      </a:pPr>
                      <a:r>
                        <a:rPr lang="en-US" sz="2000" b="1">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 (more instance variables)</a:t>
                      </a:r>
                      <a:endParaRPr lang="en-US" sz="2000">
                        <a:solidFill>
                          <a:srgbClr val="538135"/>
                        </a:solidFill>
                        <a:effectLst/>
                        <a:latin typeface="Consolas" panose="020B0609020204030204" pitchFamily="49"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FFFFFF"/>
                    </a:solidFill>
                  </a:tcPr>
                </a:tc>
                <a:extLst>
                  <a:ext uri="{0D108BD9-81ED-4DB2-BD59-A6C34878D82A}">
                    <a16:rowId xmlns:a16="http://schemas.microsoft.com/office/drawing/2014/main" val="3982105955"/>
                  </a:ext>
                </a:extLst>
              </a:tr>
              <a:tr h="920340">
                <a:tc>
                  <a:txBody>
                    <a:bodyPr/>
                    <a:lstStyle/>
                    <a:p>
                      <a:pPr marL="0" marR="0">
                        <a:buNone/>
                      </a:pPr>
                      <a:r>
                        <a:rPr lang="en-US" sz="2000" b="1"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 </a:t>
                      </a:r>
                      <a:r>
                        <a:rPr lang="en-US" sz="2000" b="1" dirty="0" err="1">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instanceMethodName</a:t>
                      </a:r>
                      <a:r>
                        <a:rPr lang="en-US" sz="2000" b="1"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(&lt;type&gt; parameter1, ...): </a:t>
                      </a:r>
                      <a:r>
                        <a:rPr lang="en-US" sz="2000" b="1" dirty="0" err="1">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returnType</a:t>
                      </a:r>
                      <a:endParaRPr lang="en-US" sz="2000"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endParaRPr>
                    </a:p>
                    <a:p>
                      <a:pPr marL="0" marR="0">
                        <a:buNone/>
                      </a:pPr>
                      <a:r>
                        <a:rPr lang="en-US" sz="2000" b="1"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 (more instance methods)</a:t>
                      </a:r>
                      <a:endParaRPr lang="en-US" sz="2000"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FFFFFF"/>
                    </a:solidFill>
                  </a:tcPr>
                </a:tc>
                <a:extLst>
                  <a:ext uri="{0D108BD9-81ED-4DB2-BD59-A6C34878D82A}">
                    <a16:rowId xmlns:a16="http://schemas.microsoft.com/office/drawing/2014/main" val="2138185867"/>
                  </a:ext>
                </a:extLst>
              </a:tr>
            </a:tbl>
          </a:graphicData>
        </a:graphic>
      </p:graphicFrame>
    </p:spTree>
    <p:extLst>
      <p:ext uri="{BB962C8B-B14F-4D97-AF65-F5344CB8AC3E}">
        <p14:creationId xmlns:p14="http://schemas.microsoft.com/office/powerpoint/2010/main" val="3442500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E9895-0687-9228-2A1C-8890D9FF8A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6FD16F-C3A4-2E6B-AC8F-18C614A8AB8D}"/>
              </a:ext>
            </a:extLst>
          </p:cNvPr>
          <p:cNvSpPr>
            <a:spLocks noGrp="1"/>
          </p:cNvSpPr>
          <p:nvPr>
            <p:ph type="title"/>
          </p:nvPr>
        </p:nvSpPr>
        <p:spPr/>
        <p:txBody>
          <a:bodyPr/>
          <a:lstStyle/>
          <a:p>
            <a:r>
              <a:rPr lang="en-US" dirty="0"/>
              <a:t>2.1 What is a class?</a:t>
            </a:r>
          </a:p>
        </p:txBody>
      </p:sp>
      <p:pic>
        <p:nvPicPr>
          <p:cNvPr id="4" name="Picture 3">
            <a:extLst>
              <a:ext uri="{FF2B5EF4-FFF2-40B4-BE49-F238E27FC236}">
                <a16:creationId xmlns:a16="http://schemas.microsoft.com/office/drawing/2014/main" id="{CF79C6FD-F950-FF12-9793-507FAF32407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3" name="Picture 2" descr="UML diagram for Person Class:&#10;minus sign: private instance variables&#10;plus sign: public instance methods">
            <a:extLst>
              <a:ext uri="{FF2B5EF4-FFF2-40B4-BE49-F238E27FC236}">
                <a16:creationId xmlns:a16="http://schemas.microsoft.com/office/drawing/2014/main" id="{E0559C9D-692B-99D9-0E76-929882055975}"/>
              </a:ext>
            </a:extLst>
          </p:cNvPr>
          <p:cNvPicPr>
            <a:picLocks noChangeAspect="1"/>
          </p:cNvPicPr>
          <p:nvPr/>
        </p:nvPicPr>
        <p:blipFill rotWithShape="1">
          <a:blip r:embed="rId3">
            <a:extLst>
              <a:ext uri="{28A0092B-C50C-407E-A947-70E740481C1C}">
                <a14:useLocalDpi xmlns:a14="http://schemas.microsoft.com/office/drawing/2010/main" val="0"/>
              </a:ext>
            </a:extLst>
          </a:blip>
          <a:srcRect l="16115" t="9791" r="21210" b="31456"/>
          <a:stretch/>
        </p:blipFill>
        <p:spPr bwMode="auto">
          <a:xfrm>
            <a:off x="2621280" y="1443081"/>
            <a:ext cx="6783977" cy="3576244"/>
          </a:xfrm>
          <a:prstGeom prst="rect">
            <a:avLst/>
          </a:prstGeom>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B0561DAF-46F9-6A50-2F3A-87A8B61033A3}"/>
              </a:ext>
            </a:extLst>
          </p:cNvPr>
          <p:cNvSpPr txBox="1"/>
          <p:nvPr/>
        </p:nvSpPr>
        <p:spPr>
          <a:xfrm>
            <a:off x="3525338" y="5230253"/>
            <a:ext cx="6097088" cy="369332"/>
          </a:xfrm>
          <a:prstGeom prst="rect">
            <a:avLst/>
          </a:prstGeom>
          <a:noFill/>
        </p:spPr>
        <p:txBody>
          <a:bodyPr wrap="square">
            <a:spAutoFit/>
          </a:bodyPr>
          <a:lstStyle/>
          <a:p>
            <a:r>
              <a:rPr lang="en-US" dirty="0"/>
              <a:t>Figure 2 1 UML diagram for Person class</a:t>
            </a:r>
          </a:p>
        </p:txBody>
      </p:sp>
    </p:spTree>
    <p:extLst>
      <p:ext uri="{BB962C8B-B14F-4D97-AF65-F5344CB8AC3E}">
        <p14:creationId xmlns:p14="http://schemas.microsoft.com/office/powerpoint/2010/main" val="3023231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5F109-BF89-87B6-6CE8-C48B261FB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D3A520-8486-26F4-BA73-ABCDEB532377}"/>
              </a:ext>
            </a:extLst>
          </p:cNvPr>
          <p:cNvSpPr>
            <a:spLocks noGrp="1"/>
          </p:cNvSpPr>
          <p:nvPr>
            <p:ph type="title"/>
          </p:nvPr>
        </p:nvSpPr>
        <p:spPr/>
        <p:txBody>
          <a:bodyPr/>
          <a:lstStyle/>
          <a:p>
            <a:r>
              <a:rPr lang="en-US" dirty="0"/>
              <a:t>2.2 Constructors</a:t>
            </a:r>
          </a:p>
        </p:txBody>
      </p:sp>
      <p:sp>
        <p:nvSpPr>
          <p:cNvPr id="3" name="Content Placeholder 2">
            <a:extLst>
              <a:ext uri="{FF2B5EF4-FFF2-40B4-BE49-F238E27FC236}">
                <a16:creationId xmlns:a16="http://schemas.microsoft.com/office/drawing/2014/main" id="{A761B738-22A0-DD3B-3A74-4F27CE808FBF}"/>
              </a:ext>
            </a:extLst>
          </p:cNvPr>
          <p:cNvSpPr>
            <a:spLocks noGrp="1"/>
          </p:cNvSpPr>
          <p:nvPr>
            <p:ph idx="1"/>
          </p:nvPr>
        </p:nvSpPr>
        <p:spPr>
          <a:xfrm>
            <a:off x="838200" y="1825625"/>
            <a:ext cx="9951720" cy="3321141"/>
          </a:xfrm>
        </p:spPr>
        <p:txBody>
          <a:bodyPr>
            <a:normAutofit/>
          </a:bodyPr>
          <a:lstStyle/>
          <a:p>
            <a:r>
              <a:rPr lang="en-US" dirty="0"/>
              <a:t>A constructor “sets up” a class by initializing values of its instance variable </a:t>
            </a:r>
          </a:p>
          <a:p>
            <a:pPr lvl="1">
              <a:buFont typeface="Courier New" panose="02070309020205020404" pitchFamily="49" charset="0"/>
              <a:buChar char="o"/>
            </a:pPr>
            <a:r>
              <a:rPr lang="en-US" dirty="0"/>
              <a:t>Constructors are also instance methods</a:t>
            </a:r>
          </a:p>
          <a:p>
            <a:pPr lvl="1">
              <a:buFont typeface="Courier New" panose="02070309020205020404" pitchFamily="49" charset="0"/>
              <a:buChar char="o"/>
            </a:pPr>
            <a:r>
              <a:rPr lang="en-US" dirty="0"/>
              <a:t>must have the same name as the class</a:t>
            </a:r>
          </a:p>
          <a:p>
            <a:pPr lvl="1">
              <a:buFont typeface="Courier New" panose="02070309020205020404" pitchFamily="49" charset="0"/>
              <a:buChar char="o"/>
            </a:pPr>
            <a:r>
              <a:rPr lang="en-US" dirty="0"/>
              <a:t>do not have a return type</a:t>
            </a:r>
          </a:p>
          <a:p>
            <a:pPr lvl="1">
              <a:buFont typeface="Courier New" panose="02070309020205020404" pitchFamily="49" charset="0"/>
              <a:buChar char="o"/>
            </a:pPr>
            <a:endParaRPr lang="en-US" dirty="0"/>
          </a:p>
          <a:p>
            <a:endParaRPr lang="en-US" dirty="0"/>
          </a:p>
          <a:p>
            <a:endParaRPr lang="en-US" dirty="0"/>
          </a:p>
          <a:p>
            <a:endParaRPr lang="en-US" dirty="0"/>
          </a:p>
          <a:p>
            <a:pPr lvl="1"/>
            <a:endParaRPr lang="en-US" dirty="0"/>
          </a:p>
        </p:txBody>
      </p:sp>
      <p:pic>
        <p:nvPicPr>
          <p:cNvPr id="4" name="Picture 3">
            <a:extLst>
              <a:ext uri="{FF2B5EF4-FFF2-40B4-BE49-F238E27FC236}">
                <a16:creationId xmlns:a16="http://schemas.microsoft.com/office/drawing/2014/main" id="{3B6327D3-30FE-6D7D-73EF-BC4E77F1EB5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785692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A6A30-E3C0-877F-12BF-EC582A89B2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F0AA13-F314-0E9B-8357-3BBC36FFEC63}"/>
              </a:ext>
            </a:extLst>
          </p:cNvPr>
          <p:cNvSpPr>
            <a:spLocks noGrp="1"/>
          </p:cNvSpPr>
          <p:nvPr>
            <p:ph type="title"/>
          </p:nvPr>
        </p:nvSpPr>
        <p:spPr/>
        <p:txBody>
          <a:bodyPr/>
          <a:lstStyle/>
          <a:p>
            <a:r>
              <a:rPr lang="en-US" dirty="0"/>
              <a:t>2.2 Constructors</a:t>
            </a:r>
          </a:p>
        </p:txBody>
      </p:sp>
      <p:sp>
        <p:nvSpPr>
          <p:cNvPr id="3" name="Content Placeholder 2">
            <a:extLst>
              <a:ext uri="{FF2B5EF4-FFF2-40B4-BE49-F238E27FC236}">
                <a16:creationId xmlns:a16="http://schemas.microsoft.com/office/drawing/2014/main" id="{FCE675C5-3ED5-9BFB-E319-1D9064949752}"/>
              </a:ext>
            </a:extLst>
          </p:cNvPr>
          <p:cNvSpPr>
            <a:spLocks noGrp="1"/>
          </p:cNvSpPr>
          <p:nvPr>
            <p:ph idx="1"/>
          </p:nvPr>
        </p:nvSpPr>
        <p:spPr>
          <a:xfrm>
            <a:off x="838200" y="1825625"/>
            <a:ext cx="9951720" cy="3321141"/>
          </a:xfrm>
        </p:spPr>
        <p:txBody>
          <a:bodyPr>
            <a:normAutofit/>
          </a:bodyPr>
          <a:lstStyle/>
          <a:p>
            <a:r>
              <a:rPr lang="en-US" dirty="0"/>
              <a:t>Constructors</a:t>
            </a:r>
          </a:p>
          <a:p>
            <a:pPr lvl="1">
              <a:buFont typeface="Courier New" panose="02070309020205020404" pitchFamily="49" charset="0"/>
              <a:buChar char="o"/>
            </a:pPr>
            <a:r>
              <a:rPr lang="en-US" dirty="0"/>
              <a:t>without parameters: A default constructor is a constructor without any parameters, and it typically sets all instance variables to certain default values </a:t>
            </a:r>
          </a:p>
          <a:p>
            <a:pPr lvl="1">
              <a:buFont typeface="Courier New" panose="02070309020205020404" pitchFamily="49" charset="0"/>
              <a:buChar char="o"/>
            </a:pPr>
            <a:r>
              <a:rPr lang="en-US" dirty="0"/>
              <a:t>with parameters: An explicit-value constructor has parameters, and it typically sets the values of all instance variables to the values of the respective parameters</a:t>
            </a:r>
          </a:p>
          <a:p>
            <a:pPr lvl="1">
              <a:buFont typeface="Courier New" panose="02070309020205020404" pitchFamily="49" charset="0"/>
              <a:buChar char="o"/>
            </a:pPr>
            <a:endParaRPr lang="en-US" dirty="0"/>
          </a:p>
          <a:p>
            <a:endParaRPr lang="en-US" dirty="0"/>
          </a:p>
          <a:p>
            <a:endParaRPr lang="en-US" dirty="0"/>
          </a:p>
          <a:p>
            <a:endParaRPr lang="en-US" dirty="0"/>
          </a:p>
          <a:p>
            <a:pPr lvl="1"/>
            <a:endParaRPr lang="en-US" dirty="0"/>
          </a:p>
        </p:txBody>
      </p:sp>
      <p:pic>
        <p:nvPicPr>
          <p:cNvPr id="4" name="Picture 3">
            <a:extLst>
              <a:ext uri="{FF2B5EF4-FFF2-40B4-BE49-F238E27FC236}">
                <a16:creationId xmlns:a16="http://schemas.microsoft.com/office/drawing/2014/main" id="{824817DB-353C-2E84-D67D-4E072A38B90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034351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42B04-EF85-22CA-9584-91E01742C3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5834F3-D3B9-0F26-3148-90EEA0ACCEB7}"/>
              </a:ext>
            </a:extLst>
          </p:cNvPr>
          <p:cNvSpPr>
            <a:spLocks noGrp="1"/>
          </p:cNvSpPr>
          <p:nvPr>
            <p:ph type="title"/>
          </p:nvPr>
        </p:nvSpPr>
        <p:spPr/>
        <p:txBody>
          <a:bodyPr/>
          <a:lstStyle/>
          <a:p>
            <a:r>
              <a:rPr lang="en-US" dirty="0"/>
              <a:t>2.2 Constructors</a:t>
            </a:r>
          </a:p>
        </p:txBody>
      </p:sp>
      <p:sp>
        <p:nvSpPr>
          <p:cNvPr id="3" name="Content Placeholder 2">
            <a:extLst>
              <a:ext uri="{FF2B5EF4-FFF2-40B4-BE49-F238E27FC236}">
                <a16:creationId xmlns:a16="http://schemas.microsoft.com/office/drawing/2014/main" id="{89D0FA05-231E-5A28-6BCB-2F9FD643B53D}"/>
              </a:ext>
            </a:extLst>
          </p:cNvPr>
          <p:cNvSpPr>
            <a:spLocks noGrp="1"/>
          </p:cNvSpPr>
          <p:nvPr>
            <p:ph idx="1"/>
          </p:nvPr>
        </p:nvSpPr>
        <p:spPr>
          <a:xfrm>
            <a:off x="838199" y="1825625"/>
            <a:ext cx="10515599" cy="4098381"/>
          </a:xfrm>
        </p:spPr>
        <p:txBody>
          <a:bodyPr>
            <a:normAutofit/>
          </a:bodyPr>
          <a:lstStyle/>
          <a:p>
            <a:r>
              <a:rPr lang="en-US" dirty="0"/>
              <a:t>Class vs. Object</a:t>
            </a:r>
          </a:p>
          <a:p>
            <a:pPr lvl="1">
              <a:buFont typeface="Courier New" panose="02070309020205020404" pitchFamily="49" charset="0"/>
              <a:buChar char="o"/>
            </a:pPr>
            <a:r>
              <a:rPr lang="en-US" dirty="0"/>
              <a:t>a class is like a blueprint for a category of objects which all share common attributes and behaviors; it’s just a “plan.” The class does not create any physical entity. </a:t>
            </a:r>
          </a:p>
          <a:p>
            <a:pPr lvl="1">
              <a:buFont typeface="Courier New" panose="02070309020205020404" pitchFamily="49" charset="0"/>
              <a:buChar char="o"/>
            </a:pPr>
            <a:r>
              <a:rPr lang="en-US" dirty="0"/>
              <a:t>an object is an instance of the class; it is the actual physical entity that you can work with, examine, and manipulate. </a:t>
            </a:r>
          </a:p>
          <a:p>
            <a:pPr lvl="1">
              <a:buFont typeface="Courier New" panose="02070309020205020404" pitchFamily="49" charset="0"/>
              <a:buChar char="o"/>
            </a:pPr>
            <a:r>
              <a:rPr lang="en-US" dirty="0"/>
              <a:t>Classes are defined inside the library, while applications of those classes, such as invocations of a class’s instance (or member) methods within a main() method belong to the client program or driver.</a:t>
            </a:r>
          </a:p>
          <a:p>
            <a:endParaRPr lang="en-US" dirty="0"/>
          </a:p>
          <a:p>
            <a:endParaRPr lang="en-US" dirty="0"/>
          </a:p>
          <a:p>
            <a:endParaRPr lang="en-US" dirty="0"/>
          </a:p>
          <a:p>
            <a:pPr lvl="1"/>
            <a:endParaRPr lang="en-US" dirty="0"/>
          </a:p>
        </p:txBody>
      </p:sp>
      <p:pic>
        <p:nvPicPr>
          <p:cNvPr id="4" name="Picture 3">
            <a:extLst>
              <a:ext uri="{FF2B5EF4-FFF2-40B4-BE49-F238E27FC236}">
                <a16:creationId xmlns:a16="http://schemas.microsoft.com/office/drawing/2014/main" id="{42189EE4-6BA3-CB83-14BF-D9E0878060F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3292992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F989D-43EF-B57B-5FF8-5E5E7535AE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8E8C56-63EA-7158-328C-9EB95E4440E8}"/>
              </a:ext>
            </a:extLst>
          </p:cNvPr>
          <p:cNvSpPr>
            <a:spLocks noGrp="1"/>
          </p:cNvSpPr>
          <p:nvPr>
            <p:ph type="title"/>
          </p:nvPr>
        </p:nvSpPr>
        <p:spPr/>
        <p:txBody>
          <a:bodyPr/>
          <a:lstStyle/>
          <a:p>
            <a:r>
              <a:rPr lang="en-US" dirty="0"/>
              <a:t>2.2 Constructors</a:t>
            </a:r>
          </a:p>
        </p:txBody>
      </p:sp>
      <p:pic>
        <p:nvPicPr>
          <p:cNvPr id="4" name="Picture 3">
            <a:extLst>
              <a:ext uri="{FF2B5EF4-FFF2-40B4-BE49-F238E27FC236}">
                <a16:creationId xmlns:a16="http://schemas.microsoft.com/office/drawing/2014/main" id="{3466D6A4-EB96-1294-2C19-ED831E70672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7" name="Picture 6" descr="Object created on heap memory:&#10;p1 is object of Person, and it reference to the memory allocated on heap for a Person object">
            <a:extLst>
              <a:ext uri="{FF2B5EF4-FFF2-40B4-BE49-F238E27FC236}">
                <a16:creationId xmlns:a16="http://schemas.microsoft.com/office/drawing/2014/main" id="{0E6949FC-4AB3-A40E-6D14-FB0FBE079D4B}"/>
              </a:ext>
            </a:extLst>
          </p:cNvPr>
          <p:cNvPicPr>
            <a:picLocks noChangeAspect="1"/>
          </p:cNvPicPr>
          <p:nvPr/>
        </p:nvPicPr>
        <p:blipFill>
          <a:blip r:embed="rId3"/>
          <a:stretch>
            <a:fillRect/>
          </a:stretch>
        </p:blipFill>
        <p:spPr>
          <a:xfrm>
            <a:off x="1897250" y="1527857"/>
            <a:ext cx="8397499" cy="3849930"/>
          </a:xfrm>
          <a:prstGeom prst="rect">
            <a:avLst/>
          </a:prstGeom>
        </p:spPr>
      </p:pic>
      <p:sp>
        <p:nvSpPr>
          <p:cNvPr id="9" name="TextBox 8">
            <a:extLst>
              <a:ext uri="{FF2B5EF4-FFF2-40B4-BE49-F238E27FC236}">
                <a16:creationId xmlns:a16="http://schemas.microsoft.com/office/drawing/2014/main" id="{E681027D-86D8-F341-7E1C-CD2A69F298F7}"/>
              </a:ext>
            </a:extLst>
          </p:cNvPr>
          <p:cNvSpPr txBox="1"/>
          <p:nvPr/>
        </p:nvSpPr>
        <p:spPr>
          <a:xfrm>
            <a:off x="3198767" y="5518433"/>
            <a:ext cx="6097088" cy="369332"/>
          </a:xfrm>
          <a:prstGeom prst="rect">
            <a:avLst/>
          </a:prstGeom>
          <a:noFill/>
        </p:spPr>
        <p:txBody>
          <a:bodyPr wrap="square">
            <a:spAutoFit/>
          </a:bodyPr>
          <a:lstStyle/>
          <a:p>
            <a:r>
              <a:rPr lang="en-US" dirty="0"/>
              <a:t>Figure 2 2 Object created on heap memory</a:t>
            </a:r>
          </a:p>
        </p:txBody>
      </p:sp>
    </p:spTree>
    <p:extLst>
      <p:ext uri="{BB962C8B-B14F-4D97-AF65-F5344CB8AC3E}">
        <p14:creationId xmlns:p14="http://schemas.microsoft.com/office/powerpoint/2010/main" val="2361114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863C2-3CC6-EB8B-3920-61E982854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C3EBE-31CB-02B7-F5F9-1CB8C85AE597}"/>
              </a:ext>
            </a:extLst>
          </p:cNvPr>
          <p:cNvSpPr>
            <a:spLocks noGrp="1"/>
          </p:cNvSpPr>
          <p:nvPr>
            <p:ph type="title"/>
          </p:nvPr>
        </p:nvSpPr>
        <p:spPr/>
        <p:txBody>
          <a:bodyPr/>
          <a:lstStyle/>
          <a:p>
            <a:r>
              <a:rPr lang="en-US" dirty="0"/>
              <a:t>2.3 Providing accessor and mutator methods</a:t>
            </a:r>
          </a:p>
        </p:txBody>
      </p:sp>
      <p:sp>
        <p:nvSpPr>
          <p:cNvPr id="3" name="Content Placeholder 2">
            <a:extLst>
              <a:ext uri="{FF2B5EF4-FFF2-40B4-BE49-F238E27FC236}">
                <a16:creationId xmlns:a16="http://schemas.microsoft.com/office/drawing/2014/main" id="{048365B0-194F-E8B8-1F70-C50247BDDA5F}"/>
              </a:ext>
            </a:extLst>
          </p:cNvPr>
          <p:cNvSpPr>
            <a:spLocks noGrp="1"/>
          </p:cNvSpPr>
          <p:nvPr>
            <p:ph idx="1"/>
          </p:nvPr>
        </p:nvSpPr>
        <p:spPr>
          <a:xfrm>
            <a:off x="838200" y="1825626"/>
            <a:ext cx="10310950" cy="2138952"/>
          </a:xfrm>
        </p:spPr>
        <p:txBody>
          <a:bodyPr>
            <a:normAutofit/>
          </a:bodyPr>
          <a:lstStyle/>
          <a:p>
            <a:r>
              <a:rPr lang="en-US" dirty="0"/>
              <a:t>Accessors or “Get” Methods</a:t>
            </a:r>
          </a:p>
          <a:p>
            <a:pPr lvl="1">
              <a:buFont typeface="Courier New" panose="02070309020205020404" pitchFamily="49" charset="0"/>
              <a:buChar char="o"/>
            </a:pPr>
            <a:r>
              <a:rPr lang="en-US" dirty="0"/>
              <a:t>are instance methods that retrieve the values of the instance variables but do not modify the values of the instance variables </a:t>
            </a:r>
          </a:p>
          <a:p>
            <a:pPr lvl="1">
              <a:buFont typeface="Courier New" panose="02070309020205020404" pitchFamily="49" charset="0"/>
              <a:buChar char="o"/>
            </a:pPr>
            <a:r>
              <a:rPr lang="en-US" dirty="0"/>
              <a:t>allows to safely expose value of the encapsulated variables outside of the class definition</a:t>
            </a:r>
          </a:p>
          <a:p>
            <a:endParaRPr lang="en-US" dirty="0"/>
          </a:p>
          <a:p>
            <a:endParaRPr lang="en-US" dirty="0"/>
          </a:p>
          <a:p>
            <a:pPr lvl="1"/>
            <a:endParaRPr lang="en-US" dirty="0"/>
          </a:p>
        </p:txBody>
      </p:sp>
      <p:pic>
        <p:nvPicPr>
          <p:cNvPr id="4" name="Picture 3">
            <a:extLst>
              <a:ext uri="{FF2B5EF4-FFF2-40B4-BE49-F238E27FC236}">
                <a16:creationId xmlns:a16="http://schemas.microsoft.com/office/drawing/2014/main" id="{509124D4-0570-7D65-07B7-58CE9310784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graphicFrame>
        <p:nvGraphicFramePr>
          <p:cNvPr id="5" name="Table 4">
            <a:extLst>
              <a:ext uri="{FF2B5EF4-FFF2-40B4-BE49-F238E27FC236}">
                <a16:creationId xmlns:a16="http://schemas.microsoft.com/office/drawing/2014/main" id="{E4A8316E-07FE-943F-63A5-2D922534751F}"/>
              </a:ext>
            </a:extLst>
          </p:cNvPr>
          <p:cNvGraphicFramePr>
            <a:graphicFrameLocks noGrp="1"/>
          </p:cNvGraphicFramePr>
          <p:nvPr>
            <p:extLst>
              <p:ext uri="{D42A27DB-BD31-4B8C-83A1-F6EECF244321}">
                <p14:modId xmlns:p14="http://schemas.microsoft.com/office/powerpoint/2010/main" val="3874565691"/>
              </p:ext>
            </p:extLst>
          </p:nvPr>
        </p:nvGraphicFramePr>
        <p:xfrm>
          <a:off x="1169126" y="3879620"/>
          <a:ext cx="7759337" cy="744583"/>
        </p:xfrm>
        <a:graphic>
          <a:graphicData uri="http://schemas.openxmlformats.org/drawingml/2006/table">
            <a:tbl>
              <a:tblPr firstRow="1" firstCol="1" bandRow="1"/>
              <a:tblGrid>
                <a:gridCol w="7759337">
                  <a:extLst>
                    <a:ext uri="{9D8B030D-6E8A-4147-A177-3AD203B41FA5}">
                      <a16:colId xmlns:a16="http://schemas.microsoft.com/office/drawing/2014/main" val="2425662672"/>
                    </a:ext>
                  </a:extLst>
                </a:gridCol>
              </a:tblGrid>
              <a:tr h="385220">
                <a:tc>
                  <a:txBody>
                    <a:bodyPr/>
                    <a:lstStyle/>
                    <a:p>
                      <a:pPr marL="0" marR="0">
                        <a:buNone/>
                      </a:pPr>
                      <a:r>
                        <a:rPr lang="en-US" sz="2000" b="1">
                          <a:solidFill>
                            <a:srgbClr val="FFFFFF"/>
                          </a:solidFill>
                          <a:effectLst/>
                          <a:latin typeface="Times New Roman" panose="02020603050405020304" pitchFamily="18" charset="0"/>
                          <a:ea typeface="DengXian" panose="02010600030101010101" pitchFamily="2" charset="-122"/>
                          <a:cs typeface="Times New Roman" panose="02020603050405020304" pitchFamily="18" charset="0"/>
                        </a:rPr>
                        <a:t>Syntax: invoking an object’s instance method </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70AD47"/>
                    </a:solidFill>
                  </a:tcPr>
                </a:tc>
                <a:extLst>
                  <a:ext uri="{0D108BD9-81ED-4DB2-BD59-A6C34878D82A}">
                    <a16:rowId xmlns:a16="http://schemas.microsoft.com/office/drawing/2014/main" val="1490361738"/>
                  </a:ext>
                </a:extLst>
              </a:tr>
              <a:tr h="359363">
                <a:tc>
                  <a:txBody>
                    <a:bodyPr/>
                    <a:lstStyle/>
                    <a:p>
                      <a:pPr marL="0" marR="0">
                        <a:buNone/>
                      </a:pPr>
                      <a:r>
                        <a:rPr lang="en-US" sz="2000" b="1" dirty="0" err="1">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objectName.instanceMethodName</a:t>
                      </a:r>
                      <a:r>
                        <a:rPr lang="en-US" sz="2000" b="1"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rPr>
                        <a:t>( . . . );</a:t>
                      </a:r>
                      <a:endParaRPr lang="en-US" sz="2000" dirty="0">
                        <a:solidFill>
                          <a:srgbClr val="538135"/>
                        </a:solidFill>
                        <a:effectLst/>
                        <a:latin typeface="Consolas" panose="020B0609020204030204" pitchFamily="49"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FFFFFF"/>
                    </a:solidFill>
                  </a:tcPr>
                </a:tc>
                <a:extLst>
                  <a:ext uri="{0D108BD9-81ED-4DB2-BD59-A6C34878D82A}">
                    <a16:rowId xmlns:a16="http://schemas.microsoft.com/office/drawing/2014/main" val="4113862682"/>
                  </a:ext>
                </a:extLst>
              </a:tr>
            </a:tbl>
          </a:graphicData>
        </a:graphic>
      </p:graphicFrame>
    </p:spTree>
    <p:extLst>
      <p:ext uri="{BB962C8B-B14F-4D97-AF65-F5344CB8AC3E}">
        <p14:creationId xmlns:p14="http://schemas.microsoft.com/office/powerpoint/2010/main" val="2004211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F4F5A-6194-FF12-3DC5-E07BEA65E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8BEB6E-081D-6A44-7D45-BCDDC87E79AF}"/>
              </a:ext>
            </a:extLst>
          </p:cNvPr>
          <p:cNvSpPr>
            <a:spLocks noGrp="1"/>
          </p:cNvSpPr>
          <p:nvPr>
            <p:ph type="title"/>
          </p:nvPr>
        </p:nvSpPr>
        <p:spPr/>
        <p:txBody>
          <a:bodyPr/>
          <a:lstStyle/>
          <a:p>
            <a:r>
              <a:rPr lang="en-US" dirty="0"/>
              <a:t>2.3 Providing accessor and mutator methods</a:t>
            </a:r>
          </a:p>
        </p:txBody>
      </p:sp>
      <p:sp>
        <p:nvSpPr>
          <p:cNvPr id="3" name="Content Placeholder 2">
            <a:extLst>
              <a:ext uri="{FF2B5EF4-FFF2-40B4-BE49-F238E27FC236}">
                <a16:creationId xmlns:a16="http://schemas.microsoft.com/office/drawing/2014/main" id="{184220B2-5B37-B164-293F-9825F26CA308}"/>
              </a:ext>
            </a:extLst>
          </p:cNvPr>
          <p:cNvSpPr>
            <a:spLocks noGrp="1"/>
          </p:cNvSpPr>
          <p:nvPr>
            <p:ph idx="1"/>
          </p:nvPr>
        </p:nvSpPr>
        <p:spPr>
          <a:xfrm>
            <a:off x="838199" y="1825626"/>
            <a:ext cx="10448109" cy="1694814"/>
          </a:xfrm>
        </p:spPr>
        <p:txBody>
          <a:bodyPr>
            <a:normAutofit/>
          </a:bodyPr>
          <a:lstStyle/>
          <a:p>
            <a:r>
              <a:rPr lang="en-US" dirty="0"/>
              <a:t>Accessors and Safe Encapsulation</a:t>
            </a:r>
          </a:p>
          <a:p>
            <a:pPr lvl="1">
              <a:buFont typeface="Courier New" panose="02070309020205020404" pitchFamily="49" charset="0"/>
              <a:buChar char="o"/>
            </a:pPr>
            <a:r>
              <a:rPr lang="en-US" dirty="0"/>
              <a:t>make sure that the accessor methods do not allow external users to directly modify the values of the instance variables by switching around the instance variables’ references or its reference values</a:t>
            </a:r>
          </a:p>
          <a:p>
            <a:endParaRPr lang="en-US" dirty="0"/>
          </a:p>
          <a:p>
            <a:pPr lvl="1"/>
            <a:endParaRPr lang="en-US" dirty="0"/>
          </a:p>
        </p:txBody>
      </p:sp>
      <p:pic>
        <p:nvPicPr>
          <p:cNvPr id="4" name="Picture 3">
            <a:extLst>
              <a:ext uri="{FF2B5EF4-FFF2-40B4-BE49-F238E27FC236}">
                <a16:creationId xmlns:a16="http://schemas.microsoft.com/office/drawing/2014/main" id="{3D7B4F24-68EC-BC55-2BDF-5176ACCEDBE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31683672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E06E0-4248-52CF-EC89-50EFED0F5D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23A6B9-8011-3B56-6A77-A6679ACDAB39}"/>
              </a:ext>
            </a:extLst>
          </p:cNvPr>
          <p:cNvSpPr>
            <a:spLocks noGrp="1"/>
          </p:cNvSpPr>
          <p:nvPr>
            <p:ph type="title"/>
          </p:nvPr>
        </p:nvSpPr>
        <p:spPr/>
        <p:txBody>
          <a:bodyPr/>
          <a:lstStyle/>
          <a:p>
            <a:r>
              <a:rPr lang="en-US" dirty="0"/>
              <a:t>2.3 Providing accessor and mutator methods</a:t>
            </a:r>
          </a:p>
        </p:txBody>
      </p:sp>
      <p:sp>
        <p:nvSpPr>
          <p:cNvPr id="3" name="Content Placeholder 2">
            <a:extLst>
              <a:ext uri="{FF2B5EF4-FFF2-40B4-BE49-F238E27FC236}">
                <a16:creationId xmlns:a16="http://schemas.microsoft.com/office/drawing/2014/main" id="{8B6EBC7B-E591-8352-281A-00CFF9ACCC37}"/>
              </a:ext>
            </a:extLst>
          </p:cNvPr>
          <p:cNvSpPr>
            <a:spLocks noGrp="1"/>
          </p:cNvSpPr>
          <p:nvPr>
            <p:ph idx="1"/>
          </p:nvPr>
        </p:nvSpPr>
        <p:spPr>
          <a:xfrm>
            <a:off x="838200" y="1825626"/>
            <a:ext cx="10075818" cy="566977"/>
          </a:xfrm>
        </p:spPr>
        <p:txBody>
          <a:bodyPr>
            <a:normAutofit/>
          </a:bodyPr>
          <a:lstStyle/>
          <a:p>
            <a:r>
              <a:rPr lang="en-US" dirty="0"/>
              <a:t>Accessors and Safe Encapsulation</a:t>
            </a:r>
          </a:p>
          <a:p>
            <a:endParaRPr lang="en-US" dirty="0"/>
          </a:p>
          <a:p>
            <a:pPr lvl="1"/>
            <a:endParaRPr lang="en-US" dirty="0"/>
          </a:p>
        </p:txBody>
      </p:sp>
      <p:pic>
        <p:nvPicPr>
          <p:cNvPr id="4" name="Picture 3">
            <a:extLst>
              <a:ext uri="{FF2B5EF4-FFF2-40B4-BE49-F238E27FC236}">
                <a16:creationId xmlns:a16="http://schemas.microsoft.com/office/drawing/2014/main" id="{2A1A97B7-B839-7D2D-16F9-EE7D45A92E9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5" name="Picture 4" descr="Safe Encapsulation in the example of JavaClassEx1_Person">
            <a:extLst>
              <a:ext uri="{FF2B5EF4-FFF2-40B4-BE49-F238E27FC236}">
                <a16:creationId xmlns:a16="http://schemas.microsoft.com/office/drawing/2014/main" id="{363E532E-EC53-8E94-3673-4F8DF915F00A}"/>
              </a:ext>
            </a:extLst>
          </p:cNvPr>
          <p:cNvPicPr>
            <a:picLocks noChangeAspect="1"/>
          </p:cNvPicPr>
          <p:nvPr/>
        </p:nvPicPr>
        <p:blipFill>
          <a:blip r:embed="rId3"/>
          <a:stretch>
            <a:fillRect/>
          </a:stretch>
        </p:blipFill>
        <p:spPr>
          <a:xfrm>
            <a:off x="2542645" y="2392603"/>
            <a:ext cx="5944115" cy="2749534"/>
          </a:xfrm>
          <a:prstGeom prst="rect">
            <a:avLst/>
          </a:prstGeom>
        </p:spPr>
      </p:pic>
      <p:sp>
        <p:nvSpPr>
          <p:cNvPr id="7" name="TextBox 6">
            <a:extLst>
              <a:ext uri="{FF2B5EF4-FFF2-40B4-BE49-F238E27FC236}">
                <a16:creationId xmlns:a16="http://schemas.microsoft.com/office/drawing/2014/main" id="{BB757133-AE44-A470-803A-E6E245F4D784}"/>
              </a:ext>
            </a:extLst>
          </p:cNvPr>
          <p:cNvSpPr txBox="1"/>
          <p:nvPr/>
        </p:nvSpPr>
        <p:spPr>
          <a:xfrm>
            <a:off x="2891790" y="5189361"/>
            <a:ext cx="6097088" cy="646331"/>
          </a:xfrm>
          <a:prstGeom prst="rect">
            <a:avLst/>
          </a:prstGeom>
          <a:noFill/>
        </p:spPr>
        <p:txBody>
          <a:bodyPr wrap="square">
            <a:spAutoFit/>
          </a:bodyPr>
          <a:lstStyle/>
          <a:p>
            <a:r>
              <a:rPr lang="en-US" dirty="0"/>
              <a:t>Figure 2 3a Directly modifying an instance variable reference—IMPOSSIBLE because </a:t>
            </a:r>
            <a:r>
              <a:rPr lang="en-US" dirty="0" err="1"/>
              <a:t>mName</a:t>
            </a:r>
            <a:r>
              <a:rPr lang="en-US" dirty="0"/>
              <a:t> is private</a:t>
            </a:r>
          </a:p>
        </p:txBody>
      </p:sp>
    </p:spTree>
    <p:extLst>
      <p:ext uri="{BB962C8B-B14F-4D97-AF65-F5344CB8AC3E}">
        <p14:creationId xmlns:p14="http://schemas.microsoft.com/office/powerpoint/2010/main" val="3363273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DD950-CA33-3E66-4109-A9D3DBB61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536134-D4B1-DA42-B1DA-0E47614566E7}"/>
              </a:ext>
            </a:extLst>
          </p:cNvPr>
          <p:cNvSpPr>
            <a:spLocks noGrp="1"/>
          </p:cNvSpPr>
          <p:nvPr>
            <p:ph type="title"/>
          </p:nvPr>
        </p:nvSpPr>
        <p:spPr/>
        <p:txBody>
          <a:bodyPr/>
          <a:lstStyle/>
          <a:p>
            <a:r>
              <a:rPr lang="en-US" dirty="0"/>
              <a:t>2.3 Providing accessor and mutator methods</a:t>
            </a:r>
          </a:p>
        </p:txBody>
      </p:sp>
      <p:sp>
        <p:nvSpPr>
          <p:cNvPr id="3" name="Content Placeholder 2">
            <a:extLst>
              <a:ext uri="{FF2B5EF4-FFF2-40B4-BE49-F238E27FC236}">
                <a16:creationId xmlns:a16="http://schemas.microsoft.com/office/drawing/2014/main" id="{891BDB8B-4F77-0FBA-9918-244CFFDCA648}"/>
              </a:ext>
            </a:extLst>
          </p:cNvPr>
          <p:cNvSpPr>
            <a:spLocks noGrp="1"/>
          </p:cNvSpPr>
          <p:nvPr>
            <p:ph idx="1"/>
          </p:nvPr>
        </p:nvSpPr>
        <p:spPr>
          <a:xfrm>
            <a:off x="838200" y="1825626"/>
            <a:ext cx="10075818" cy="566977"/>
          </a:xfrm>
        </p:spPr>
        <p:txBody>
          <a:bodyPr>
            <a:normAutofit/>
          </a:bodyPr>
          <a:lstStyle/>
          <a:p>
            <a:r>
              <a:rPr lang="en-US" dirty="0"/>
              <a:t>Accessors and Safe Encapsulation</a:t>
            </a:r>
          </a:p>
          <a:p>
            <a:endParaRPr lang="en-US" dirty="0"/>
          </a:p>
          <a:p>
            <a:pPr lvl="1"/>
            <a:endParaRPr lang="en-US" dirty="0"/>
          </a:p>
        </p:txBody>
      </p:sp>
      <p:pic>
        <p:nvPicPr>
          <p:cNvPr id="4" name="Picture 3">
            <a:extLst>
              <a:ext uri="{FF2B5EF4-FFF2-40B4-BE49-F238E27FC236}">
                <a16:creationId xmlns:a16="http://schemas.microsoft.com/office/drawing/2014/main" id="{D21A4CC4-9ED7-731A-DF2C-25D34FC7F90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7" name="TextBox 6">
            <a:extLst>
              <a:ext uri="{FF2B5EF4-FFF2-40B4-BE49-F238E27FC236}">
                <a16:creationId xmlns:a16="http://schemas.microsoft.com/office/drawing/2014/main" id="{1AEE7349-F474-02FE-C510-BEC5BE2A74EA}"/>
              </a:ext>
            </a:extLst>
          </p:cNvPr>
          <p:cNvSpPr txBox="1"/>
          <p:nvPr/>
        </p:nvSpPr>
        <p:spPr>
          <a:xfrm>
            <a:off x="1585505" y="5150172"/>
            <a:ext cx="5167992" cy="646331"/>
          </a:xfrm>
          <a:prstGeom prst="rect">
            <a:avLst/>
          </a:prstGeom>
          <a:noFill/>
        </p:spPr>
        <p:txBody>
          <a:bodyPr wrap="square">
            <a:spAutoFit/>
          </a:bodyPr>
          <a:lstStyle/>
          <a:p>
            <a:r>
              <a:rPr lang="en-US" dirty="0"/>
              <a:t>Figure 2 3d Changing the String creates a new reference to a new String</a:t>
            </a:r>
          </a:p>
        </p:txBody>
      </p:sp>
      <p:pic>
        <p:nvPicPr>
          <p:cNvPr id="6" name="Picture 5" descr="In JavaClassEx1_Person example, String-type objects are immutable">
            <a:extLst>
              <a:ext uri="{FF2B5EF4-FFF2-40B4-BE49-F238E27FC236}">
                <a16:creationId xmlns:a16="http://schemas.microsoft.com/office/drawing/2014/main" id="{227E5FDE-01EA-284C-A326-A2D32F7F66DE}"/>
              </a:ext>
            </a:extLst>
          </p:cNvPr>
          <p:cNvPicPr>
            <a:picLocks noChangeAspect="1"/>
          </p:cNvPicPr>
          <p:nvPr/>
        </p:nvPicPr>
        <p:blipFill>
          <a:blip r:embed="rId3"/>
          <a:stretch>
            <a:fillRect/>
          </a:stretch>
        </p:blipFill>
        <p:spPr>
          <a:xfrm>
            <a:off x="981634" y="2430142"/>
            <a:ext cx="5944115" cy="2676376"/>
          </a:xfrm>
          <a:prstGeom prst="rect">
            <a:avLst/>
          </a:prstGeom>
        </p:spPr>
      </p:pic>
      <p:sp>
        <p:nvSpPr>
          <p:cNvPr id="9" name="TextBox 8">
            <a:extLst>
              <a:ext uri="{FF2B5EF4-FFF2-40B4-BE49-F238E27FC236}">
                <a16:creationId xmlns:a16="http://schemas.microsoft.com/office/drawing/2014/main" id="{B06ED5DB-DFCB-B09B-7949-F35924C8AC7F}"/>
              </a:ext>
            </a:extLst>
          </p:cNvPr>
          <p:cNvSpPr txBox="1"/>
          <p:nvPr/>
        </p:nvSpPr>
        <p:spPr>
          <a:xfrm>
            <a:off x="6925749" y="2624511"/>
            <a:ext cx="3933552" cy="923330"/>
          </a:xfrm>
          <a:prstGeom prst="rect">
            <a:avLst/>
          </a:prstGeom>
          <a:noFill/>
        </p:spPr>
        <p:txBody>
          <a:bodyPr wrap="square">
            <a:spAutoFit/>
          </a:bodyPr>
          <a:lstStyle/>
          <a:p>
            <a:r>
              <a:rPr lang="en-US" dirty="0"/>
              <a:t>String </a:t>
            </a:r>
            <a:r>
              <a:rPr lang="en-US" dirty="0" err="1"/>
              <a:t>changeName</a:t>
            </a:r>
            <a:r>
              <a:rPr lang="en-US" dirty="0"/>
              <a:t> = p1.getName();</a:t>
            </a:r>
          </a:p>
          <a:p>
            <a:r>
              <a:rPr lang="en-US" dirty="0" err="1"/>
              <a:t>changeName</a:t>
            </a:r>
            <a:r>
              <a:rPr lang="en-US" dirty="0"/>
              <a:t> = </a:t>
            </a:r>
            <a:r>
              <a:rPr lang="en-US" dirty="0" err="1"/>
              <a:t>changeName</a:t>
            </a:r>
            <a:r>
              <a:rPr lang="en-US" dirty="0"/>
              <a:t> + “BAD”;</a:t>
            </a:r>
          </a:p>
        </p:txBody>
      </p:sp>
      <p:sp>
        <p:nvSpPr>
          <p:cNvPr id="11" name="TextBox 10">
            <a:extLst>
              <a:ext uri="{FF2B5EF4-FFF2-40B4-BE49-F238E27FC236}">
                <a16:creationId xmlns:a16="http://schemas.microsoft.com/office/drawing/2014/main" id="{FC86E6B2-D7AB-18F0-B835-6D375C29839A}"/>
              </a:ext>
            </a:extLst>
          </p:cNvPr>
          <p:cNvSpPr txBox="1"/>
          <p:nvPr/>
        </p:nvSpPr>
        <p:spPr>
          <a:xfrm>
            <a:off x="6925749" y="3824121"/>
            <a:ext cx="3720480" cy="369332"/>
          </a:xfrm>
          <a:prstGeom prst="rect">
            <a:avLst/>
          </a:prstGeom>
          <a:noFill/>
        </p:spPr>
        <p:txBody>
          <a:bodyPr wrap="square">
            <a:spAutoFit/>
          </a:bodyPr>
          <a:lstStyle/>
          <a:p>
            <a:r>
              <a:rPr lang="en-US" b="1" dirty="0">
                <a:highlight>
                  <a:srgbClr val="FFFF00"/>
                </a:highlight>
              </a:rPr>
              <a:t>String-type objects are immutable</a:t>
            </a:r>
          </a:p>
        </p:txBody>
      </p:sp>
    </p:spTree>
    <p:extLst>
      <p:ext uri="{BB962C8B-B14F-4D97-AF65-F5344CB8AC3E}">
        <p14:creationId xmlns:p14="http://schemas.microsoft.com/office/powerpoint/2010/main" val="3076814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A92CF-D440-1068-5662-C7F9363DD3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1664B1-6763-3BAD-5D7C-E3F8411E622E}"/>
              </a:ext>
            </a:extLst>
          </p:cNvPr>
          <p:cNvSpPr>
            <a:spLocks noGrp="1"/>
          </p:cNvSpPr>
          <p:nvPr>
            <p:ph type="title"/>
          </p:nvPr>
        </p:nvSpPr>
        <p:spPr/>
        <p:txBody>
          <a:bodyPr/>
          <a:lstStyle/>
          <a:p>
            <a:r>
              <a:rPr lang="en-US" dirty="0"/>
              <a:t>2.3 Providing accessor and mutator methods</a:t>
            </a:r>
          </a:p>
        </p:txBody>
      </p:sp>
      <p:pic>
        <p:nvPicPr>
          <p:cNvPr id="4" name="Picture 3">
            <a:extLst>
              <a:ext uri="{FF2B5EF4-FFF2-40B4-BE49-F238E27FC236}">
                <a16:creationId xmlns:a16="http://schemas.microsoft.com/office/drawing/2014/main" id="{BEA392A8-2F01-5DCE-DAFC-158CD0A1512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graphicFrame>
        <p:nvGraphicFramePr>
          <p:cNvPr id="7" name="Table 6">
            <a:extLst>
              <a:ext uri="{FF2B5EF4-FFF2-40B4-BE49-F238E27FC236}">
                <a16:creationId xmlns:a16="http://schemas.microsoft.com/office/drawing/2014/main" id="{3FB80389-1CE2-E411-BD54-384A45C75BC7}"/>
              </a:ext>
            </a:extLst>
          </p:cNvPr>
          <p:cNvGraphicFramePr>
            <a:graphicFrameLocks noGrp="1"/>
          </p:cNvGraphicFramePr>
          <p:nvPr>
            <p:extLst>
              <p:ext uri="{D42A27DB-BD31-4B8C-83A1-F6EECF244321}">
                <p14:modId xmlns:p14="http://schemas.microsoft.com/office/powerpoint/2010/main" val="192423096"/>
              </p:ext>
            </p:extLst>
          </p:nvPr>
        </p:nvGraphicFramePr>
        <p:xfrm>
          <a:off x="981892" y="1664988"/>
          <a:ext cx="9997439" cy="3383805"/>
        </p:xfrm>
        <a:graphic>
          <a:graphicData uri="http://schemas.openxmlformats.org/drawingml/2006/table">
            <a:tbl>
              <a:tblPr firstRow="1" firstCol="1" bandRow="1"/>
              <a:tblGrid>
                <a:gridCol w="9997439">
                  <a:extLst>
                    <a:ext uri="{9D8B030D-6E8A-4147-A177-3AD203B41FA5}">
                      <a16:colId xmlns:a16="http://schemas.microsoft.com/office/drawing/2014/main" val="2330426784"/>
                    </a:ext>
                  </a:extLst>
                </a:gridCol>
              </a:tblGrid>
              <a:tr h="422976">
                <a:tc>
                  <a:txBody>
                    <a:bodyPr/>
                    <a:lstStyle/>
                    <a:p>
                      <a:pPr marL="0" marR="0">
                        <a:buNone/>
                      </a:pPr>
                      <a:r>
                        <a:rPr lang="en-US" sz="2000" b="1" dirty="0">
                          <a:solidFill>
                            <a:srgbClr val="FFFFFF"/>
                          </a:solidFill>
                          <a:effectLst/>
                          <a:latin typeface="Times New Roman" panose="02020603050405020304" pitchFamily="18" charset="0"/>
                          <a:ea typeface="DengXian" panose="02010600030101010101" pitchFamily="2" charset="-122"/>
                          <a:cs typeface="Times New Roman" panose="02020603050405020304" pitchFamily="18" charset="0"/>
                        </a:rPr>
                        <a:t>Core Concept: encapsulation</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solidFill>
                  </a:tcPr>
                </a:tc>
                <a:extLst>
                  <a:ext uri="{0D108BD9-81ED-4DB2-BD59-A6C34878D82A}">
                    <a16:rowId xmlns:a16="http://schemas.microsoft.com/office/drawing/2014/main" val="3964366877"/>
                  </a:ext>
                </a:extLst>
              </a:tr>
              <a:tr h="845951">
                <a:tc>
                  <a:txBody>
                    <a:bodyPr/>
                    <a:lstStyle/>
                    <a:p>
                      <a:pPr marL="0" marR="0">
                        <a:buNone/>
                      </a:pP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Do not let external users directly access instance variables.</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Font typeface="Wingdings" panose="05000000000000000000" pitchFamily="2" charset="2"/>
                        <a:buChar char=""/>
                      </a:pP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Keep these instance variables </a:t>
                      </a:r>
                      <a:r>
                        <a:rPr lang="en-US" sz="2000">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private</a:t>
                      </a: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620409245"/>
                  </a:ext>
                </a:extLst>
              </a:tr>
              <a:tr h="845951">
                <a:tc>
                  <a:txBody>
                    <a:bodyPr/>
                    <a:lstStyle/>
                    <a:p>
                      <a:pPr marL="0" marR="0">
                        <a:buNone/>
                      </a:pP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Safely encapsulate an object’s state.</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SzPts val="1000"/>
                        <a:buFont typeface="Times New Roman" panose="02020603050405020304" pitchFamily="18" charset="0"/>
                        <a:buChar char="►"/>
                      </a:pPr>
                      <a:r>
                        <a:rPr lang="en-US" sz="2000" b="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Safe encapsulation:</a:t>
                      </a: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external users cannot </a:t>
                      </a:r>
                      <a:r>
                        <a:rPr lang="en-US" sz="2000" i="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DIRECTLY</a:t>
                      </a: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access instance variables.</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905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2649731624"/>
                  </a:ext>
                </a:extLst>
              </a:tr>
              <a:tr h="1268927">
                <a:tc>
                  <a:txBody>
                    <a:bodyPr/>
                    <a:lstStyle/>
                    <a:p>
                      <a:pPr marL="0" marR="0">
                        <a:buNone/>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Safe </a:t>
                      </a:r>
                      <a:r>
                        <a:rPr lang="en-US" sz="2000" i="1"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access</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of instance variables:</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Font typeface="Wingdings" panose="05000000000000000000" pitchFamily="2" charset="2"/>
                        <a:buChar char=""/>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Create </a:t>
                      </a:r>
                      <a:r>
                        <a:rPr lang="en-US" sz="2000" dirty="0">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public</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t>
                      </a:r>
                      <a:r>
                        <a:rPr lang="en-US" sz="2000" b="1"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accessor methods</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Font typeface="Wingdings" panose="05000000000000000000" pitchFamily="2" charset="2"/>
                        <a:buChar char=""/>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…but only for those instance variables that you want users to </a:t>
                      </a:r>
                      <a:r>
                        <a:rPr lang="en-US" sz="2000" i="1"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see</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9050" cap="flat" cmpd="sng" algn="ctr">
                      <a:solidFill>
                        <a:srgbClr val="4472C4"/>
                      </a:solidFill>
                      <a:prstDash val="solid"/>
                      <a:round/>
                      <a:headEnd type="none" w="med" len="med"/>
                      <a:tailEnd type="none" w="med" len="med"/>
                    </a:lnL>
                    <a:lnR w="19050" cap="flat" cmpd="sng" algn="ctr">
                      <a:solidFill>
                        <a:srgbClr val="4472C4"/>
                      </a:solidFill>
                      <a:prstDash val="solid"/>
                      <a:round/>
                      <a:headEnd type="none" w="med" len="med"/>
                      <a:tailEnd type="none" w="med" len="med"/>
                    </a:lnR>
                    <a:lnT w="19050" cap="flat" cmpd="sng" algn="ctr">
                      <a:solidFill>
                        <a:srgbClr val="4472C4"/>
                      </a:solidFill>
                      <a:prstDash val="solid"/>
                      <a:round/>
                      <a:headEnd type="none" w="med" len="med"/>
                      <a:tailEnd type="none" w="med" len="med"/>
                    </a:lnT>
                    <a:lnB w="1905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933595270"/>
                  </a:ext>
                </a:extLst>
              </a:tr>
            </a:tbl>
          </a:graphicData>
        </a:graphic>
      </p:graphicFrame>
    </p:spTree>
    <p:extLst>
      <p:ext uri="{BB962C8B-B14F-4D97-AF65-F5344CB8AC3E}">
        <p14:creationId xmlns:p14="http://schemas.microsoft.com/office/powerpoint/2010/main" val="282033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06AE3-E4D0-0660-E81F-21737CDE8B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8631CE-019C-3FCE-F810-2C692C2D2F3F}"/>
              </a:ext>
            </a:extLst>
          </p:cNvPr>
          <p:cNvSpPr>
            <a:spLocks noGrp="1"/>
          </p:cNvSpPr>
          <p:nvPr>
            <p:ph type="title"/>
          </p:nvPr>
        </p:nvSpPr>
        <p:spPr/>
        <p:txBody>
          <a:bodyPr/>
          <a:lstStyle/>
          <a:p>
            <a:r>
              <a:rPr lang="en-US" dirty="0"/>
              <a:t>2.3 Providing accessor and mutator methods</a:t>
            </a:r>
          </a:p>
        </p:txBody>
      </p:sp>
      <p:sp>
        <p:nvSpPr>
          <p:cNvPr id="3" name="Content Placeholder 2">
            <a:extLst>
              <a:ext uri="{FF2B5EF4-FFF2-40B4-BE49-F238E27FC236}">
                <a16:creationId xmlns:a16="http://schemas.microsoft.com/office/drawing/2014/main" id="{0F48DC88-D169-1A1E-C513-578B42ECFB4B}"/>
              </a:ext>
            </a:extLst>
          </p:cNvPr>
          <p:cNvSpPr>
            <a:spLocks noGrp="1"/>
          </p:cNvSpPr>
          <p:nvPr>
            <p:ph idx="1"/>
          </p:nvPr>
        </p:nvSpPr>
        <p:spPr>
          <a:xfrm>
            <a:off x="838200" y="1825626"/>
            <a:ext cx="10310950" cy="2138952"/>
          </a:xfrm>
        </p:spPr>
        <p:txBody>
          <a:bodyPr>
            <a:normAutofit/>
          </a:bodyPr>
          <a:lstStyle/>
          <a:p>
            <a:r>
              <a:rPr lang="en-US" dirty="0"/>
              <a:t>Mutators or “Set” Methods</a:t>
            </a:r>
          </a:p>
          <a:p>
            <a:pPr lvl="1">
              <a:buFont typeface="Courier New" panose="02070309020205020404" pitchFamily="49" charset="0"/>
              <a:buChar char="o"/>
            </a:pPr>
            <a:r>
              <a:rPr lang="en-US" dirty="0"/>
              <a:t>are instance methods that allow users to modify the value of an instance variable</a:t>
            </a:r>
          </a:p>
          <a:p>
            <a:pPr lvl="1">
              <a:buFont typeface="Courier New" panose="02070309020205020404" pitchFamily="49" charset="0"/>
              <a:buChar char="o"/>
            </a:pPr>
            <a:r>
              <a:rPr lang="en-US" dirty="0"/>
              <a:t>be mindful of preserving a “correct” state for objects</a:t>
            </a:r>
          </a:p>
          <a:p>
            <a:endParaRPr lang="en-US" dirty="0"/>
          </a:p>
          <a:p>
            <a:pPr lvl="1"/>
            <a:endParaRPr lang="en-US" dirty="0"/>
          </a:p>
        </p:txBody>
      </p:sp>
      <p:pic>
        <p:nvPicPr>
          <p:cNvPr id="4" name="Picture 3">
            <a:extLst>
              <a:ext uri="{FF2B5EF4-FFF2-40B4-BE49-F238E27FC236}">
                <a16:creationId xmlns:a16="http://schemas.microsoft.com/office/drawing/2014/main" id="{B760AD23-C96B-C8D7-B4D6-CC33E5B71CC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3316299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5D2FC-13C6-FD04-60CC-82A2E9DF0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DF021E-6392-D9CB-E0DA-33ACAB4C42D7}"/>
              </a:ext>
            </a:extLst>
          </p:cNvPr>
          <p:cNvSpPr>
            <a:spLocks noGrp="1"/>
          </p:cNvSpPr>
          <p:nvPr>
            <p:ph type="title"/>
          </p:nvPr>
        </p:nvSpPr>
        <p:spPr/>
        <p:txBody>
          <a:bodyPr/>
          <a:lstStyle/>
          <a:p>
            <a:r>
              <a:rPr lang="en-US" dirty="0"/>
              <a:t>2.3 Providing accessor and mutator methods</a:t>
            </a:r>
          </a:p>
        </p:txBody>
      </p:sp>
      <p:sp>
        <p:nvSpPr>
          <p:cNvPr id="3" name="Content Placeholder 2">
            <a:extLst>
              <a:ext uri="{FF2B5EF4-FFF2-40B4-BE49-F238E27FC236}">
                <a16:creationId xmlns:a16="http://schemas.microsoft.com/office/drawing/2014/main" id="{7443099C-2548-1BF5-4DA9-839953356CAF}"/>
              </a:ext>
            </a:extLst>
          </p:cNvPr>
          <p:cNvSpPr>
            <a:spLocks noGrp="1"/>
          </p:cNvSpPr>
          <p:nvPr>
            <p:ph idx="1"/>
          </p:nvPr>
        </p:nvSpPr>
        <p:spPr>
          <a:xfrm>
            <a:off x="838199" y="1825625"/>
            <a:ext cx="3812177" cy="4065723"/>
          </a:xfrm>
          <a:ln>
            <a:solidFill>
              <a:schemeClr val="accent1"/>
            </a:solidFill>
          </a:ln>
        </p:spPr>
        <p:txBody>
          <a:bodyPr>
            <a:normAutofit lnSpcReduction="10000"/>
          </a:bodyPr>
          <a:lstStyle/>
          <a:p>
            <a:r>
              <a:rPr lang="en-US" dirty="0"/>
              <a:t>Mutators and Safe Encapsulation</a:t>
            </a:r>
          </a:p>
          <a:p>
            <a:pPr lvl="1">
              <a:buFont typeface="Courier New" panose="02070309020205020404" pitchFamily="49" charset="0"/>
              <a:buChar char="o"/>
            </a:pPr>
            <a:r>
              <a:rPr lang="en-US" dirty="0"/>
              <a:t>To make sure that users will not either maliciously or erroneously change an object’s instance variable to an illogical or “bad” value, perform checks in the mutator on the user’s input</a:t>
            </a:r>
          </a:p>
          <a:p>
            <a:pPr lvl="1"/>
            <a:endParaRPr lang="en-US" dirty="0"/>
          </a:p>
        </p:txBody>
      </p:sp>
      <p:pic>
        <p:nvPicPr>
          <p:cNvPr id="4" name="Picture 3">
            <a:extLst>
              <a:ext uri="{FF2B5EF4-FFF2-40B4-BE49-F238E27FC236}">
                <a16:creationId xmlns:a16="http://schemas.microsoft.com/office/drawing/2014/main" id="{B13C0EC1-E428-AD52-5A3F-E0FAB4FBB58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07D49453-AF32-3F37-BF01-164C8A40B8B5}"/>
                  </a:ext>
                </a:extLst>
              </p:cNvPr>
              <p:cNvGraphicFramePr>
                <a:graphicFrameLocks noGrp="1"/>
              </p:cNvGraphicFramePr>
              <p:nvPr>
                <p:extLst>
                  <p:ext uri="{D42A27DB-BD31-4B8C-83A1-F6EECF244321}">
                    <p14:modId xmlns:p14="http://schemas.microsoft.com/office/powerpoint/2010/main" val="2146900733"/>
                  </p:ext>
                </p:extLst>
              </p:nvPr>
            </p:nvGraphicFramePr>
            <p:xfrm>
              <a:off x="4892040" y="1825625"/>
              <a:ext cx="6327956" cy="4124717"/>
            </p:xfrm>
            <a:graphic>
              <a:graphicData uri="http://schemas.openxmlformats.org/drawingml/2006/table">
                <a:tbl>
                  <a:tblPr firstRow="1" firstCol="1" bandRow="1"/>
                  <a:tblGrid>
                    <a:gridCol w="2189405">
                      <a:extLst>
                        <a:ext uri="{9D8B030D-6E8A-4147-A177-3AD203B41FA5}">
                          <a16:colId xmlns:a16="http://schemas.microsoft.com/office/drawing/2014/main" val="3166874380"/>
                        </a:ext>
                      </a:extLst>
                    </a:gridCol>
                    <a:gridCol w="4138551">
                      <a:extLst>
                        <a:ext uri="{9D8B030D-6E8A-4147-A177-3AD203B41FA5}">
                          <a16:colId xmlns:a16="http://schemas.microsoft.com/office/drawing/2014/main" val="4052394007"/>
                        </a:ext>
                      </a:extLst>
                    </a:gridCol>
                  </a:tblGrid>
                  <a:tr h="284237">
                    <a:tc>
                      <a:txBody>
                        <a:bodyPr/>
                        <a:lstStyle/>
                        <a:p>
                          <a:pPr marL="0" marR="0">
                            <a:buNone/>
                          </a:pPr>
                          <a:r>
                            <a:rPr lang="en-US" sz="1800" b="1">
                              <a:effectLst/>
                              <a:latin typeface="Times New Roman" panose="02020603050405020304" pitchFamily="18" charset="0"/>
                              <a:ea typeface="DengXian" panose="02010600030101010101" pitchFamily="2" charset="-122"/>
                              <a:cs typeface="Times New Roman" panose="02020603050405020304" pitchFamily="18" charset="0"/>
                            </a:rPr>
                            <a:t>Type</a:t>
                          </a:r>
                          <a:endParaRPr lang="en-US" sz="18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800" b="1">
                              <a:effectLst/>
                              <a:latin typeface="Times New Roman" panose="02020603050405020304" pitchFamily="18" charset="0"/>
                              <a:ea typeface="DengXian" panose="02010600030101010101" pitchFamily="2" charset="-122"/>
                              <a:cs typeface="Times New Roman" panose="02020603050405020304" pitchFamily="18" charset="0"/>
                            </a:rPr>
                            <a:t>Common “bad” values</a:t>
                          </a:r>
                          <a:endParaRPr lang="en-US" sz="18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7317948"/>
                      </a:ext>
                    </a:extLst>
                  </a:tr>
                  <a:tr h="1989661">
                    <a:tc>
                      <a:txBody>
                        <a:bodyPr/>
                        <a:lstStyle/>
                        <a:p>
                          <a:pPr marL="0" marR="0">
                            <a:buNone/>
                          </a:pPr>
                          <a:r>
                            <a:rPr lang="en-US" sz="1800" dirty="0">
                              <a:effectLst/>
                              <a:latin typeface="Times New Roman" panose="02020603050405020304" pitchFamily="18" charset="0"/>
                              <a:ea typeface="DengXian" panose="02010600030101010101" pitchFamily="2" charset="-122"/>
                              <a:cs typeface="Times New Roman" panose="02020603050405020304" pitchFamily="18" charset="0"/>
                            </a:rPr>
                            <a:t>Numerical </a:t>
                          </a:r>
                        </a:p>
                        <a:p>
                          <a:pPr marL="0" marR="0">
                            <a:buNone/>
                          </a:pPr>
                          <a:r>
                            <a:rPr lang="en-US" sz="1800" dirty="0">
                              <a:effectLst/>
                              <a:latin typeface="Times New Roman" panose="02020603050405020304" pitchFamily="18" charset="0"/>
                              <a:ea typeface="DengXian" panose="02010600030101010101" pitchFamily="2" charset="-122"/>
                              <a:cs typeface="Times New Roman" panose="02020603050405020304" pitchFamily="18" charset="0"/>
                            </a:rPr>
                            <a:t>(</a:t>
                          </a:r>
                          <a:r>
                            <a:rPr lang="en-US" sz="1800" dirty="0">
                              <a:effectLst/>
                              <a:latin typeface="Consolas" panose="020B0609020204030204" pitchFamily="49" charset="0"/>
                              <a:ea typeface="DengXian" panose="02010600030101010101" pitchFamily="2" charset="-122"/>
                              <a:cs typeface="Times New Roman" panose="02020603050405020304" pitchFamily="18" charset="0"/>
                            </a:rPr>
                            <a:t>int, double, long, float</a:t>
                          </a:r>
                          <a:r>
                            <a:rPr lang="en-US" sz="1800" dirty="0">
                              <a:effectLst/>
                              <a:latin typeface="Times New Roman" panose="02020603050405020304" pitchFamily="18" charset="0"/>
                              <a:ea typeface="DengXian" panose="02010600030101010101" pitchFamily="2" charset="-122"/>
                              <a:cs typeface="Times New Roman" panose="02020603050405020304"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800">
                              <a:effectLst/>
                              <a:latin typeface="Times New Roman" panose="02020603050405020304" pitchFamily="18" charset="0"/>
                              <a:ea typeface="DengXian" panose="02010600030101010101" pitchFamily="2" charset="-122"/>
                              <a:cs typeface="Times New Roman" panose="02020603050405020304" pitchFamily="18" charset="0"/>
                            </a:rPr>
                            <a:t>+</a:t>
                          </a:r>
                          <a14:m>
                            <m:oMath xmlns:m="http://schemas.openxmlformats.org/officeDocument/2006/math">
                              <m:r>
                                <a:rPr lang="en-US" sz="1800"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US" sz="1800">
                              <a:effectLst/>
                              <a:latin typeface="Times New Roman" panose="02020603050405020304" pitchFamily="18" charset="0"/>
                              <a:ea typeface="DengXian" panose="02010600030101010101" pitchFamily="2" charset="-122"/>
                              <a:cs typeface="Times New Roman" panose="02020603050405020304" pitchFamily="18" charset="0"/>
                            </a:rPr>
                            <a:t> (e.g. </a:t>
                          </a:r>
                          <a:r>
                            <a:rPr lang="en-US" sz="1800">
                              <a:effectLst/>
                              <a:latin typeface="Consolas" panose="020B0609020204030204" pitchFamily="49" charset="0"/>
                              <a:ea typeface="DengXian" panose="02010600030101010101" pitchFamily="2" charset="-122"/>
                              <a:cs typeface="Times New Roman" panose="02020603050405020304" pitchFamily="18" charset="0"/>
                            </a:rPr>
                            <a:t>Integer.MAX_VALUE</a:t>
                          </a:r>
                          <a:r>
                            <a:rPr lang="en-US" sz="1800">
                              <a:effectLst/>
                              <a:latin typeface="Times New Roman" panose="02020603050405020304" pitchFamily="18" charset="0"/>
                              <a:ea typeface="DengXian" panose="02010600030101010101" pitchFamily="2" charset="-122"/>
                              <a:cs typeface="Times New Roman" panose="02020603050405020304" pitchFamily="18" charset="0"/>
                            </a:rPr>
                            <a:t>)</a:t>
                          </a:r>
                        </a:p>
                        <a:p>
                          <a:pPr marL="0" marR="0">
                            <a:buNone/>
                          </a:pPr>
                          <a:r>
                            <a:rPr lang="en-US" sz="1800">
                              <a:effectLst/>
                              <a:latin typeface="Times New Roman" panose="02020603050405020304" pitchFamily="18" charset="0"/>
                              <a:ea typeface="DengXian" panose="02010600030101010101" pitchFamily="2" charset="-122"/>
                              <a:cs typeface="Times New Roman" panose="02020603050405020304" pitchFamily="18" charset="0"/>
                            </a:rPr>
                            <a:t>–</a:t>
                          </a:r>
                          <a14:m>
                            <m:oMath xmlns:m="http://schemas.openxmlformats.org/officeDocument/2006/math">
                              <m:r>
                                <a:rPr lang="en-US" sz="1800"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US" sz="1800">
                              <a:effectLst/>
                              <a:latin typeface="Times New Roman" panose="02020603050405020304" pitchFamily="18" charset="0"/>
                              <a:ea typeface="DengXian" panose="02010600030101010101" pitchFamily="2" charset="-122"/>
                              <a:cs typeface="Times New Roman" panose="02020603050405020304" pitchFamily="18" charset="0"/>
                            </a:rPr>
                            <a:t> (e.g. </a:t>
                          </a:r>
                          <a:r>
                            <a:rPr lang="en-US" sz="1800">
                              <a:effectLst/>
                              <a:latin typeface="Consolas" panose="020B0609020204030204" pitchFamily="49" charset="0"/>
                              <a:ea typeface="DengXian" panose="02010600030101010101" pitchFamily="2" charset="-122"/>
                              <a:cs typeface="Times New Roman" panose="02020603050405020304" pitchFamily="18" charset="0"/>
                            </a:rPr>
                            <a:t>Integer.MIN_VALUE</a:t>
                          </a:r>
                          <a:r>
                            <a:rPr lang="en-US" sz="1800">
                              <a:effectLst/>
                              <a:latin typeface="Times New Roman" panose="02020603050405020304" pitchFamily="18" charset="0"/>
                              <a:ea typeface="DengXian" panose="02010600030101010101" pitchFamily="2" charset="-122"/>
                              <a:cs typeface="Times New Roman" panose="02020603050405020304" pitchFamily="18" charset="0"/>
                            </a:rPr>
                            <a:t>)</a:t>
                          </a:r>
                        </a:p>
                        <a:p>
                          <a:pPr marL="0" marR="0">
                            <a:buNone/>
                          </a:pPr>
                          <a:r>
                            <a:rPr lang="en-US" sz="1800">
                              <a:effectLst/>
                              <a:latin typeface="Times New Roman" panose="02020603050405020304" pitchFamily="18" charset="0"/>
                              <a:ea typeface="DengXian" panose="02010600030101010101" pitchFamily="2" charset="-122"/>
                              <a:cs typeface="Times New Roman" panose="02020603050405020304" pitchFamily="18" charset="0"/>
                            </a:rPr>
                            <a:t>Illogically zero values </a:t>
                          </a:r>
                        </a:p>
                        <a:p>
                          <a:pPr marL="216535" marR="0">
                            <a:buNone/>
                          </a:pPr>
                          <a:r>
                            <a:rPr lang="en-US" sz="1800">
                              <a:effectLst/>
                              <a:latin typeface="Times New Roman" panose="02020603050405020304" pitchFamily="18" charset="0"/>
                              <a:ea typeface="DengXian" panose="02010600030101010101" pitchFamily="2" charset="-122"/>
                              <a:cs typeface="Times New Roman" panose="02020603050405020304" pitchFamily="18" charset="0"/>
                            </a:rPr>
                            <a:t>(e.g. if the number represents the daily number of calories required by a living organism)</a:t>
                          </a:r>
                        </a:p>
                        <a:p>
                          <a:pPr marL="0" marR="0">
                            <a:buNone/>
                          </a:pPr>
                          <a:r>
                            <a:rPr lang="en-US" sz="1800">
                              <a:effectLst/>
                              <a:latin typeface="Times New Roman" panose="02020603050405020304" pitchFamily="18" charset="0"/>
                              <a:ea typeface="DengXian" panose="02010600030101010101" pitchFamily="2" charset="-122"/>
                              <a:cs typeface="Times New Roman" panose="02020603050405020304" pitchFamily="18" charset="0"/>
                            </a:rPr>
                            <a:t>Illogically negative values </a:t>
                          </a:r>
                        </a:p>
                        <a:p>
                          <a:pPr marL="216535" marR="0">
                            <a:buNone/>
                          </a:pPr>
                          <a:r>
                            <a:rPr lang="en-US" sz="1800">
                              <a:effectLst/>
                              <a:latin typeface="Times New Roman" panose="02020603050405020304" pitchFamily="18" charset="0"/>
                              <a:ea typeface="DengXian" panose="02010600030101010101" pitchFamily="2" charset="-122"/>
                              <a:cs typeface="Times New Roman" panose="02020603050405020304" pitchFamily="18" charset="0"/>
                            </a:rPr>
                            <a:t>(e.g. if the number represents an age)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522246"/>
                      </a:ext>
                    </a:extLst>
                  </a:tr>
                  <a:tr h="521102">
                    <a:tc>
                      <a:txBody>
                        <a:bodyPr/>
                        <a:lstStyle/>
                        <a:p>
                          <a:pPr marL="0" marR="0">
                            <a:buNone/>
                          </a:pPr>
                          <a:r>
                            <a:rPr lang="en-US" sz="1800">
                              <a:effectLst/>
                              <a:latin typeface="Times New Roman" panose="02020603050405020304" pitchFamily="18" charset="0"/>
                              <a:ea typeface="DengXian" panose="02010600030101010101" pitchFamily="2" charset="-122"/>
                              <a:cs typeface="Times New Roman" panose="02020603050405020304" pitchFamily="18" charset="0"/>
                            </a:rPr>
                            <a:t>String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800">
                              <a:effectLst/>
                              <a:latin typeface="Consolas" panose="020B0609020204030204" pitchFamily="49" charset="0"/>
                              <a:ea typeface="DengXian" panose="02010600030101010101" pitchFamily="2" charset="-122"/>
                              <a:cs typeface="Times New Roman" panose="02020603050405020304" pitchFamily="18" charset="0"/>
                            </a:rPr>
                            <a:t>null</a:t>
                          </a:r>
                        </a:p>
                        <a:p>
                          <a:pPr marL="0" marR="0">
                            <a:buNone/>
                          </a:pPr>
                          <a:r>
                            <a:rPr lang="en-US" sz="1800">
                              <a:effectLst/>
                              <a:latin typeface="Times New Roman" panose="02020603050405020304" pitchFamily="18" charset="0"/>
                              <a:ea typeface="DengXian" panose="02010600030101010101" pitchFamily="2" charset="-122"/>
                              <a:cs typeface="Times New Roman" panose="02020603050405020304" pitchFamily="18" charset="0"/>
                            </a:rPr>
                            <a:t>empty (</a:t>
                          </a:r>
                          <a:r>
                            <a:rPr lang="en-US" sz="1800">
                              <a:effectLst/>
                              <a:latin typeface="Consolas" panose="020B0609020204030204" pitchFamily="49" charset="0"/>
                              <a:ea typeface="DengXian" panose="02010600030101010101" pitchFamily="2" charset="-122"/>
                              <a:cs typeface="Times New Roman" panose="02020603050405020304" pitchFamily="18" charset="0"/>
                            </a:rPr>
                            <a:t>“”</a:t>
                          </a:r>
                          <a:r>
                            <a:rPr lang="en-US" sz="1800">
                              <a:effectLst/>
                              <a:latin typeface="Times New Roman" panose="02020603050405020304" pitchFamily="18" charset="0"/>
                              <a:ea typeface="DengXian" panose="02010600030101010101" pitchFamily="2" charset="-122"/>
                              <a:cs typeface="Times New Roman" panose="02020603050405020304"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5734390"/>
                      </a:ext>
                    </a:extLst>
                  </a:tr>
                  <a:tr h="852712">
                    <a:tc>
                      <a:txBody>
                        <a:bodyPr/>
                        <a:lstStyle/>
                        <a:p>
                          <a:pPr marL="0" marR="0">
                            <a:buNone/>
                          </a:pPr>
                          <a:r>
                            <a:rPr lang="en-US" sz="1800">
                              <a:effectLst/>
                              <a:latin typeface="Times New Roman" panose="02020603050405020304" pitchFamily="18" charset="0"/>
                              <a:ea typeface="DengXian" panose="02010600030101010101" pitchFamily="2" charset="-122"/>
                              <a:cs typeface="Times New Roman" panose="02020603050405020304" pitchFamily="18" charset="0"/>
                            </a:rPr>
                            <a:t>Objects </a:t>
                          </a:r>
                        </a:p>
                        <a:p>
                          <a:pPr marL="0" marR="0">
                            <a:buNone/>
                          </a:pPr>
                          <a:r>
                            <a:rPr lang="en-US" sz="1800">
                              <a:effectLst/>
                              <a:latin typeface="Times New Roman" panose="02020603050405020304" pitchFamily="18" charset="0"/>
                              <a:ea typeface="DengXian" panose="02010600030101010101" pitchFamily="2" charset="-122"/>
                              <a:cs typeface="Times New Roman" panose="02020603050405020304" pitchFamily="18" charset="0"/>
                            </a:rPr>
                            <a:t>(e.g. arrays, </a:t>
                          </a:r>
                        </a:p>
                        <a:p>
                          <a:pPr marL="0" marR="0">
                            <a:buNone/>
                          </a:pPr>
                          <a:r>
                            <a:rPr lang="en-US" sz="1800">
                              <a:effectLst/>
                              <a:latin typeface="Times New Roman" panose="02020603050405020304" pitchFamily="18" charset="0"/>
                              <a:ea typeface="DengXian" panose="02010600030101010101" pitchFamily="2" charset="-122"/>
                              <a:cs typeface="Times New Roman" panose="02020603050405020304" pitchFamily="18" charset="0"/>
                            </a:rPr>
                            <a:t>        other user-defined types)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8772270"/>
                      </a:ext>
                    </a:extLst>
                  </a:tr>
                </a:tbl>
              </a:graphicData>
            </a:graphic>
          </p:graphicFrame>
        </mc:Choice>
        <mc:Fallback xmlns="">
          <p:graphicFrame>
            <p:nvGraphicFramePr>
              <p:cNvPr id="6" name="Table 5">
                <a:extLst>
                  <a:ext uri="{FF2B5EF4-FFF2-40B4-BE49-F238E27FC236}">
                    <a16:creationId xmlns:a16="http://schemas.microsoft.com/office/drawing/2014/main" id="{07D49453-AF32-3F37-BF01-164C8A40B8B5}"/>
                  </a:ext>
                </a:extLst>
              </p:cNvPr>
              <p:cNvGraphicFramePr>
                <a:graphicFrameLocks noGrp="1"/>
              </p:cNvGraphicFramePr>
              <p:nvPr>
                <p:extLst>
                  <p:ext uri="{D42A27DB-BD31-4B8C-83A1-F6EECF244321}">
                    <p14:modId xmlns:p14="http://schemas.microsoft.com/office/powerpoint/2010/main" val="2146900733"/>
                  </p:ext>
                </p:extLst>
              </p:nvPr>
            </p:nvGraphicFramePr>
            <p:xfrm>
              <a:off x="4892040" y="1825625"/>
              <a:ext cx="6327956" cy="4124717"/>
            </p:xfrm>
            <a:graphic>
              <a:graphicData uri="http://schemas.openxmlformats.org/drawingml/2006/table">
                <a:tbl>
                  <a:tblPr firstRow="1" firstCol="1" bandRow="1"/>
                  <a:tblGrid>
                    <a:gridCol w="2189405">
                      <a:extLst>
                        <a:ext uri="{9D8B030D-6E8A-4147-A177-3AD203B41FA5}">
                          <a16:colId xmlns:a16="http://schemas.microsoft.com/office/drawing/2014/main" val="3166874380"/>
                        </a:ext>
                      </a:extLst>
                    </a:gridCol>
                    <a:gridCol w="4138551">
                      <a:extLst>
                        <a:ext uri="{9D8B030D-6E8A-4147-A177-3AD203B41FA5}">
                          <a16:colId xmlns:a16="http://schemas.microsoft.com/office/drawing/2014/main" val="4052394007"/>
                        </a:ext>
                      </a:extLst>
                    </a:gridCol>
                  </a:tblGrid>
                  <a:tr h="284237">
                    <a:tc>
                      <a:txBody>
                        <a:bodyPr/>
                        <a:lstStyle/>
                        <a:p>
                          <a:pPr marL="0" marR="0">
                            <a:buNone/>
                          </a:pPr>
                          <a:r>
                            <a:rPr lang="en-US" sz="1800" b="1">
                              <a:effectLst/>
                              <a:latin typeface="Times New Roman" panose="02020603050405020304" pitchFamily="18" charset="0"/>
                              <a:ea typeface="DengXian" panose="02010600030101010101" pitchFamily="2" charset="-122"/>
                              <a:cs typeface="Times New Roman" panose="02020603050405020304" pitchFamily="18" charset="0"/>
                            </a:rPr>
                            <a:t>Type</a:t>
                          </a:r>
                          <a:endParaRPr lang="en-US" sz="18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800" b="1">
                              <a:effectLst/>
                              <a:latin typeface="Times New Roman" panose="02020603050405020304" pitchFamily="18" charset="0"/>
                              <a:ea typeface="DengXian" panose="02010600030101010101" pitchFamily="2" charset="-122"/>
                              <a:cs typeface="Times New Roman" panose="02020603050405020304" pitchFamily="18" charset="0"/>
                            </a:rPr>
                            <a:t>Common “bad” values</a:t>
                          </a:r>
                          <a:endParaRPr lang="en-US" sz="18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57317948"/>
                      </a:ext>
                    </a:extLst>
                  </a:tr>
                  <a:tr h="2194560">
                    <a:tc>
                      <a:txBody>
                        <a:bodyPr/>
                        <a:lstStyle/>
                        <a:p>
                          <a:pPr marL="0" marR="0">
                            <a:buNone/>
                          </a:pPr>
                          <a:r>
                            <a:rPr lang="en-US" sz="1800" dirty="0">
                              <a:effectLst/>
                              <a:latin typeface="Times New Roman" panose="02020603050405020304" pitchFamily="18" charset="0"/>
                              <a:ea typeface="DengXian" panose="02010600030101010101" pitchFamily="2" charset="-122"/>
                              <a:cs typeface="Times New Roman" panose="02020603050405020304" pitchFamily="18" charset="0"/>
                            </a:rPr>
                            <a:t>Numerical </a:t>
                          </a:r>
                        </a:p>
                        <a:p>
                          <a:pPr marL="0" marR="0">
                            <a:buNone/>
                          </a:pPr>
                          <a:r>
                            <a:rPr lang="en-US" sz="1800" dirty="0">
                              <a:effectLst/>
                              <a:latin typeface="Times New Roman" panose="02020603050405020304" pitchFamily="18" charset="0"/>
                              <a:ea typeface="DengXian" panose="02010600030101010101" pitchFamily="2" charset="-122"/>
                              <a:cs typeface="Times New Roman" panose="02020603050405020304" pitchFamily="18" charset="0"/>
                            </a:rPr>
                            <a:t>(</a:t>
                          </a:r>
                          <a:r>
                            <a:rPr lang="en-US" sz="1800" dirty="0">
                              <a:effectLst/>
                              <a:latin typeface="Consolas" panose="020B0609020204030204" pitchFamily="49" charset="0"/>
                              <a:ea typeface="DengXian" panose="02010600030101010101" pitchFamily="2" charset="-122"/>
                              <a:cs typeface="Times New Roman" panose="02020603050405020304" pitchFamily="18" charset="0"/>
                            </a:rPr>
                            <a:t>int, double, long, float</a:t>
                          </a:r>
                          <a:r>
                            <a:rPr lang="en-US" sz="1800" dirty="0">
                              <a:effectLst/>
                              <a:latin typeface="Times New Roman" panose="02020603050405020304" pitchFamily="18" charset="0"/>
                              <a:ea typeface="DengXian" panose="02010600030101010101" pitchFamily="2" charset="-122"/>
                              <a:cs typeface="Times New Roman" panose="02020603050405020304"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2941" t="-16389" r="-294" b="-81667"/>
                          </a:stretch>
                        </a:blipFill>
                      </a:tcPr>
                    </a:tc>
                    <a:extLst>
                      <a:ext uri="{0D108BD9-81ED-4DB2-BD59-A6C34878D82A}">
                        <a16:rowId xmlns:a16="http://schemas.microsoft.com/office/drawing/2014/main" val="184522246"/>
                      </a:ext>
                    </a:extLst>
                  </a:tr>
                  <a:tr h="548640">
                    <a:tc>
                      <a:txBody>
                        <a:bodyPr/>
                        <a:lstStyle/>
                        <a:p>
                          <a:pPr marL="0" marR="0">
                            <a:buNone/>
                          </a:pPr>
                          <a:r>
                            <a:rPr lang="en-US" sz="1800">
                              <a:effectLst/>
                              <a:latin typeface="Times New Roman" panose="02020603050405020304" pitchFamily="18" charset="0"/>
                              <a:ea typeface="DengXian" panose="02010600030101010101" pitchFamily="2" charset="-122"/>
                              <a:cs typeface="Times New Roman" panose="02020603050405020304" pitchFamily="18" charset="0"/>
                            </a:rPr>
                            <a:t>String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800">
                              <a:effectLst/>
                              <a:latin typeface="Consolas" panose="020B0609020204030204" pitchFamily="49" charset="0"/>
                              <a:ea typeface="DengXian" panose="02010600030101010101" pitchFamily="2" charset="-122"/>
                              <a:cs typeface="Times New Roman" panose="02020603050405020304" pitchFamily="18" charset="0"/>
                            </a:rPr>
                            <a:t>null</a:t>
                          </a:r>
                        </a:p>
                        <a:p>
                          <a:pPr marL="0" marR="0">
                            <a:buNone/>
                          </a:pPr>
                          <a:r>
                            <a:rPr lang="en-US" sz="1800">
                              <a:effectLst/>
                              <a:latin typeface="Times New Roman" panose="02020603050405020304" pitchFamily="18" charset="0"/>
                              <a:ea typeface="DengXian" panose="02010600030101010101" pitchFamily="2" charset="-122"/>
                              <a:cs typeface="Times New Roman" panose="02020603050405020304" pitchFamily="18" charset="0"/>
                            </a:rPr>
                            <a:t>empty (</a:t>
                          </a:r>
                          <a:r>
                            <a:rPr lang="en-US" sz="1800">
                              <a:effectLst/>
                              <a:latin typeface="Consolas" panose="020B0609020204030204" pitchFamily="49" charset="0"/>
                              <a:ea typeface="DengXian" panose="02010600030101010101" pitchFamily="2" charset="-122"/>
                              <a:cs typeface="Times New Roman" panose="02020603050405020304" pitchFamily="18" charset="0"/>
                            </a:rPr>
                            <a:t>“”</a:t>
                          </a:r>
                          <a:r>
                            <a:rPr lang="en-US" sz="1800">
                              <a:effectLst/>
                              <a:latin typeface="Times New Roman" panose="02020603050405020304" pitchFamily="18" charset="0"/>
                              <a:ea typeface="DengXian" panose="02010600030101010101" pitchFamily="2" charset="-122"/>
                              <a:cs typeface="Times New Roman" panose="02020603050405020304" pitchFamily="18"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5734390"/>
                      </a:ext>
                    </a:extLst>
                  </a:tr>
                  <a:tr h="1097280">
                    <a:tc>
                      <a:txBody>
                        <a:bodyPr/>
                        <a:lstStyle/>
                        <a:p>
                          <a:pPr marL="0" marR="0">
                            <a:buNone/>
                          </a:pPr>
                          <a:r>
                            <a:rPr lang="en-US" sz="1800">
                              <a:effectLst/>
                              <a:latin typeface="Times New Roman" panose="02020603050405020304" pitchFamily="18" charset="0"/>
                              <a:ea typeface="DengXian" panose="02010600030101010101" pitchFamily="2" charset="-122"/>
                              <a:cs typeface="Times New Roman" panose="02020603050405020304" pitchFamily="18" charset="0"/>
                            </a:rPr>
                            <a:t>Objects </a:t>
                          </a:r>
                        </a:p>
                        <a:p>
                          <a:pPr marL="0" marR="0">
                            <a:buNone/>
                          </a:pPr>
                          <a:r>
                            <a:rPr lang="en-US" sz="1800">
                              <a:effectLst/>
                              <a:latin typeface="Times New Roman" panose="02020603050405020304" pitchFamily="18" charset="0"/>
                              <a:ea typeface="DengXian" panose="02010600030101010101" pitchFamily="2" charset="-122"/>
                              <a:cs typeface="Times New Roman" panose="02020603050405020304" pitchFamily="18" charset="0"/>
                            </a:rPr>
                            <a:t>(e.g. arrays, </a:t>
                          </a:r>
                        </a:p>
                        <a:p>
                          <a:pPr marL="0" marR="0">
                            <a:buNone/>
                          </a:pPr>
                          <a:r>
                            <a:rPr lang="en-US" sz="1800">
                              <a:effectLst/>
                              <a:latin typeface="Times New Roman" panose="02020603050405020304" pitchFamily="18" charset="0"/>
                              <a:ea typeface="DengXian" panose="02010600030101010101" pitchFamily="2" charset="-122"/>
                              <a:cs typeface="Times New Roman" panose="02020603050405020304" pitchFamily="18" charset="0"/>
                            </a:rPr>
                            <a:t>        other user-defined types)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800" dirty="0">
                              <a:effectLst/>
                              <a:latin typeface="Consolas" panose="020B0609020204030204" pitchFamily="49" charset="0"/>
                              <a:ea typeface="DengXian" panose="02010600030101010101" pitchFamily="2" charset="-122"/>
                              <a:cs typeface="Times New Roman" panose="02020603050405020304" pitchFamily="18" charset="0"/>
                            </a:rPr>
                            <a:t>null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8772270"/>
                      </a:ext>
                    </a:extLst>
                  </a:tr>
                </a:tbl>
              </a:graphicData>
            </a:graphic>
          </p:graphicFrame>
        </mc:Fallback>
      </mc:AlternateContent>
    </p:spTree>
    <p:extLst>
      <p:ext uri="{BB962C8B-B14F-4D97-AF65-F5344CB8AC3E}">
        <p14:creationId xmlns:p14="http://schemas.microsoft.com/office/powerpoint/2010/main" val="1695013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9C158-5A6A-4090-5023-179CF05B3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46FD0-9EB3-A585-78A3-012B8A08BCA0}"/>
              </a:ext>
            </a:extLst>
          </p:cNvPr>
          <p:cNvSpPr>
            <a:spLocks noGrp="1"/>
          </p:cNvSpPr>
          <p:nvPr>
            <p:ph type="title"/>
          </p:nvPr>
        </p:nvSpPr>
        <p:spPr/>
        <p:txBody>
          <a:bodyPr/>
          <a:lstStyle/>
          <a:p>
            <a:r>
              <a:rPr lang="en-US" dirty="0"/>
              <a:t>2.3 Providing accessor and mutator methods</a:t>
            </a:r>
          </a:p>
        </p:txBody>
      </p:sp>
      <p:pic>
        <p:nvPicPr>
          <p:cNvPr id="4" name="Picture 3">
            <a:extLst>
              <a:ext uri="{FF2B5EF4-FFF2-40B4-BE49-F238E27FC236}">
                <a16:creationId xmlns:a16="http://schemas.microsoft.com/office/drawing/2014/main" id="{718E961F-EC6E-575A-3516-86CA22DBCE5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7" name="Picture 6" descr="In JavaClassEx1_Person example, when setName() is called to update mName, garbage collection will gather up the untethered String objects">
            <a:extLst>
              <a:ext uri="{FF2B5EF4-FFF2-40B4-BE49-F238E27FC236}">
                <a16:creationId xmlns:a16="http://schemas.microsoft.com/office/drawing/2014/main" id="{B5A7A50F-0BB8-CAD3-20BA-56942F3914F0}"/>
              </a:ext>
            </a:extLst>
          </p:cNvPr>
          <p:cNvPicPr>
            <a:picLocks noChangeAspect="1"/>
          </p:cNvPicPr>
          <p:nvPr/>
        </p:nvPicPr>
        <p:blipFill>
          <a:blip r:embed="rId3"/>
          <a:stretch>
            <a:fillRect/>
          </a:stretch>
        </p:blipFill>
        <p:spPr>
          <a:xfrm>
            <a:off x="570154" y="1455954"/>
            <a:ext cx="7364372" cy="3383835"/>
          </a:xfrm>
          <a:prstGeom prst="rect">
            <a:avLst/>
          </a:prstGeom>
        </p:spPr>
      </p:pic>
      <p:sp>
        <p:nvSpPr>
          <p:cNvPr id="9" name="TextBox 8">
            <a:extLst>
              <a:ext uri="{FF2B5EF4-FFF2-40B4-BE49-F238E27FC236}">
                <a16:creationId xmlns:a16="http://schemas.microsoft.com/office/drawing/2014/main" id="{F653C787-B61B-6719-1D75-2D642C6D033D}"/>
              </a:ext>
            </a:extLst>
          </p:cNvPr>
          <p:cNvSpPr txBox="1"/>
          <p:nvPr/>
        </p:nvSpPr>
        <p:spPr>
          <a:xfrm>
            <a:off x="7934526" y="1783047"/>
            <a:ext cx="3032215" cy="369332"/>
          </a:xfrm>
          <a:prstGeom prst="rect">
            <a:avLst/>
          </a:prstGeom>
          <a:noFill/>
          <a:ln>
            <a:solidFill>
              <a:schemeClr val="accent1"/>
            </a:solidFill>
          </a:ln>
        </p:spPr>
        <p:txBody>
          <a:bodyPr wrap="square">
            <a:spAutoFit/>
          </a:bodyPr>
          <a:lstStyle/>
          <a:p>
            <a:r>
              <a:rPr lang="en-US" dirty="0"/>
              <a:t>p1.setName(name);</a:t>
            </a:r>
          </a:p>
        </p:txBody>
      </p:sp>
      <p:sp>
        <p:nvSpPr>
          <p:cNvPr id="11" name="TextBox 10">
            <a:extLst>
              <a:ext uri="{FF2B5EF4-FFF2-40B4-BE49-F238E27FC236}">
                <a16:creationId xmlns:a16="http://schemas.microsoft.com/office/drawing/2014/main" id="{23E15125-84E6-0DCD-2B85-75588227974D}"/>
              </a:ext>
            </a:extLst>
          </p:cNvPr>
          <p:cNvSpPr txBox="1"/>
          <p:nvPr/>
        </p:nvSpPr>
        <p:spPr>
          <a:xfrm>
            <a:off x="7918197" y="2556144"/>
            <a:ext cx="3032214" cy="1200329"/>
          </a:xfrm>
          <a:prstGeom prst="rect">
            <a:avLst/>
          </a:prstGeom>
          <a:noFill/>
          <a:ln>
            <a:solidFill>
              <a:schemeClr val="accent1"/>
            </a:solidFill>
          </a:ln>
        </p:spPr>
        <p:txBody>
          <a:bodyPr wrap="square">
            <a:spAutoFit/>
          </a:bodyPr>
          <a:lstStyle/>
          <a:p>
            <a:r>
              <a:rPr lang="en-US" dirty="0"/>
              <a:t>Java garbage collection will gather up the untethered “default” String object to free up computer memory.</a:t>
            </a:r>
          </a:p>
        </p:txBody>
      </p:sp>
    </p:spTree>
    <p:extLst>
      <p:ext uri="{BB962C8B-B14F-4D97-AF65-F5344CB8AC3E}">
        <p14:creationId xmlns:p14="http://schemas.microsoft.com/office/powerpoint/2010/main" val="3905975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6275C-508D-5CA2-33D4-CA7924B24F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E248F2-9EA3-B5CB-5CA9-0864B7A6D755}"/>
              </a:ext>
            </a:extLst>
          </p:cNvPr>
          <p:cNvSpPr>
            <a:spLocks noGrp="1"/>
          </p:cNvSpPr>
          <p:nvPr>
            <p:ph type="title"/>
          </p:nvPr>
        </p:nvSpPr>
        <p:spPr/>
        <p:txBody>
          <a:bodyPr/>
          <a:lstStyle/>
          <a:p>
            <a:r>
              <a:rPr lang="en-US" dirty="0"/>
              <a:t>2.3 Providing accessor and mutator methods</a:t>
            </a:r>
          </a:p>
        </p:txBody>
      </p:sp>
      <p:pic>
        <p:nvPicPr>
          <p:cNvPr id="4" name="Picture 3">
            <a:extLst>
              <a:ext uri="{FF2B5EF4-FFF2-40B4-BE49-F238E27FC236}">
                <a16:creationId xmlns:a16="http://schemas.microsoft.com/office/drawing/2014/main" id="{31C14989-7A75-8776-62E8-BB7BFAF6792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graphicFrame>
        <p:nvGraphicFramePr>
          <p:cNvPr id="7" name="Table 6">
            <a:extLst>
              <a:ext uri="{FF2B5EF4-FFF2-40B4-BE49-F238E27FC236}">
                <a16:creationId xmlns:a16="http://schemas.microsoft.com/office/drawing/2014/main" id="{8CD9200F-2865-753C-5F30-80624AF4943F}"/>
              </a:ext>
            </a:extLst>
          </p:cNvPr>
          <p:cNvGraphicFramePr>
            <a:graphicFrameLocks noGrp="1"/>
          </p:cNvGraphicFramePr>
          <p:nvPr>
            <p:extLst>
              <p:ext uri="{D42A27DB-BD31-4B8C-83A1-F6EECF244321}">
                <p14:modId xmlns:p14="http://schemas.microsoft.com/office/powerpoint/2010/main" val="2922210591"/>
              </p:ext>
            </p:extLst>
          </p:nvPr>
        </p:nvGraphicFramePr>
        <p:xfrm>
          <a:off x="1047205" y="1749469"/>
          <a:ext cx="9736183" cy="3841433"/>
        </p:xfrm>
        <a:graphic>
          <a:graphicData uri="http://schemas.openxmlformats.org/drawingml/2006/table">
            <a:tbl>
              <a:tblPr firstRow="1" firstCol="1" bandRow="1"/>
              <a:tblGrid>
                <a:gridCol w="9736183">
                  <a:extLst>
                    <a:ext uri="{9D8B030D-6E8A-4147-A177-3AD203B41FA5}">
                      <a16:colId xmlns:a16="http://schemas.microsoft.com/office/drawing/2014/main" val="2743383507"/>
                    </a:ext>
                  </a:extLst>
                </a:gridCol>
              </a:tblGrid>
              <a:tr h="320119">
                <a:tc>
                  <a:txBody>
                    <a:bodyPr/>
                    <a:lstStyle/>
                    <a:p>
                      <a:pPr marL="0" marR="0">
                        <a:buNone/>
                      </a:pPr>
                      <a:r>
                        <a:rPr lang="en-US" sz="2000" b="1">
                          <a:solidFill>
                            <a:srgbClr val="FFFFFF"/>
                          </a:solidFill>
                          <a:effectLst/>
                          <a:latin typeface="Times New Roman" panose="02020603050405020304" pitchFamily="18" charset="0"/>
                          <a:ea typeface="DengXian" panose="02010600030101010101" pitchFamily="2" charset="-122"/>
                          <a:cs typeface="Times New Roman" panose="02020603050405020304" pitchFamily="18" charset="0"/>
                        </a:rPr>
                        <a:t>Core Concept: encapsulation</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solidFill>
                  </a:tcPr>
                </a:tc>
                <a:extLst>
                  <a:ext uri="{0D108BD9-81ED-4DB2-BD59-A6C34878D82A}">
                    <a16:rowId xmlns:a16="http://schemas.microsoft.com/office/drawing/2014/main" val="1233327189"/>
                  </a:ext>
                </a:extLst>
              </a:tr>
              <a:tr h="640239">
                <a:tc>
                  <a:txBody>
                    <a:bodyPr/>
                    <a:lstStyle/>
                    <a:p>
                      <a:pPr marL="0" marR="0">
                        <a:buNone/>
                      </a:pP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Do not let external users directly access instance variables.</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Font typeface="Wingdings" panose="05000000000000000000" pitchFamily="2" charset="2"/>
                        <a:buChar char=""/>
                      </a:pP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Keep these instance variables </a:t>
                      </a:r>
                      <a:r>
                        <a:rPr lang="en-US" sz="2000">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private</a:t>
                      </a: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2857649027"/>
                  </a:ext>
                </a:extLst>
              </a:tr>
              <a:tr h="640239">
                <a:tc>
                  <a:txBody>
                    <a:bodyPr/>
                    <a:lstStyle/>
                    <a:p>
                      <a:pPr marL="0" marR="0">
                        <a:buNone/>
                      </a:pP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Safely encapsulate an object’s state.</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SzPts val="1000"/>
                        <a:buFont typeface="Times New Roman" panose="02020603050405020304" pitchFamily="18" charset="0"/>
                        <a:buChar char="►"/>
                      </a:pPr>
                      <a:r>
                        <a:rPr lang="en-US" sz="2000" b="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Safe encapsulation:</a:t>
                      </a: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external users cannot </a:t>
                      </a:r>
                      <a:r>
                        <a:rPr lang="en-US" sz="2000" i="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DIRECTLY</a:t>
                      </a: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access instance variables.</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3803646862"/>
                  </a:ext>
                </a:extLst>
              </a:tr>
              <a:tr h="960358">
                <a:tc>
                  <a:txBody>
                    <a:bodyPr/>
                    <a:lstStyle/>
                    <a:p>
                      <a:pPr marL="0" marR="0">
                        <a:buNone/>
                      </a:pP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Safe </a:t>
                      </a:r>
                      <a:r>
                        <a:rPr lang="en-US" sz="2000" i="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access</a:t>
                      </a: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of instance variables:</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Font typeface="Wingdings" panose="05000000000000000000" pitchFamily="2" charset="2"/>
                        <a:buChar char=""/>
                      </a:pP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Create </a:t>
                      </a:r>
                      <a:r>
                        <a:rPr lang="en-US" sz="2000">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public</a:t>
                      </a: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t>
                      </a:r>
                      <a:r>
                        <a:rPr lang="en-US" sz="2000" b="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accessor</a:t>
                      </a: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t>
                      </a:r>
                      <a:r>
                        <a:rPr lang="en-US" sz="2000" b="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methods</a:t>
                      </a: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Font typeface="Wingdings" panose="05000000000000000000" pitchFamily="2" charset="2"/>
                        <a:buChar char=""/>
                      </a:pP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…but only for those instance variables that you want users to </a:t>
                      </a:r>
                      <a:r>
                        <a:rPr lang="en-US" sz="2000" i="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see</a:t>
                      </a:r>
                      <a:r>
                        <a:rPr lang="en-US" sz="200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905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3697276648"/>
                  </a:ext>
                </a:extLst>
              </a:tr>
              <a:tr h="1280478">
                <a:tc>
                  <a:txBody>
                    <a:bodyPr/>
                    <a:lstStyle/>
                    <a:p>
                      <a:pPr marL="0" marR="0">
                        <a:buNone/>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Safe </a:t>
                      </a:r>
                      <a:r>
                        <a:rPr lang="en-US" sz="2000" i="1"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changes</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to instance variables:</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Font typeface="Wingdings" panose="05000000000000000000" pitchFamily="2" charset="2"/>
                        <a:buChar char=""/>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Create </a:t>
                      </a:r>
                      <a:r>
                        <a:rPr lang="en-US" sz="2000" b="1" dirty="0">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public</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 </a:t>
                      </a:r>
                      <a:r>
                        <a:rPr lang="en-US" sz="2000" b="1"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mutator methods</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Font typeface="Wingdings" panose="05000000000000000000" pitchFamily="2" charset="2"/>
                        <a:buChar char=""/>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…that check for “bad” input values first…</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p>
                      <a:pPr marL="342900" marR="0" lvl="0" indent="-342900">
                        <a:buFont typeface="Wingdings" panose="05000000000000000000" pitchFamily="2" charset="2"/>
                        <a:buChar char=""/>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…but only for those instance variables that you want users to </a:t>
                      </a:r>
                      <a:r>
                        <a:rPr lang="en-US" sz="2000" i="1"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update</a:t>
                      </a: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9050" cap="flat" cmpd="sng" algn="ctr">
                      <a:solidFill>
                        <a:srgbClr val="4472C4"/>
                      </a:solidFill>
                      <a:prstDash val="solid"/>
                      <a:round/>
                      <a:headEnd type="none" w="med" len="med"/>
                      <a:tailEnd type="none" w="med" len="med"/>
                    </a:lnL>
                    <a:lnR w="19050" cap="flat" cmpd="sng" algn="ctr">
                      <a:solidFill>
                        <a:srgbClr val="4472C4"/>
                      </a:solidFill>
                      <a:prstDash val="solid"/>
                      <a:round/>
                      <a:headEnd type="none" w="med" len="med"/>
                      <a:tailEnd type="none" w="med" len="med"/>
                    </a:lnR>
                    <a:lnT w="19050" cap="flat" cmpd="sng" algn="ctr">
                      <a:solidFill>
                        <a:srgbClr val="4472C4"/>
                      </a:solidFill>
                      <a:prstDash val="solid"/>
                      <a:round/>
                      <a:headEnd type="none" w="med" len="med"/>
                      <a:tailEnd type="none" w="med" len="med"/>
                    </a:lnT>
                    <a:lnB w="1905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327890564"/>
                  </a:ext>
                </a:extLst>
              </a:tr>
            </a:tbl>
          </a:graphicData>
        </a:graphic>
      </p:graphicFrame>
    </p:spTree>
    <p:extLst>
      <p:ext uri="{BB962C8B-B14F-4D97-AF65-F5344CB8AC3E}">
        <p14:creationId xmlns:p14="http://schemas.microsoft.com/office/powerpoint/2010/main" val="27191799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65F58-29A5-A00D-1484-C09EF13C9C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3E17F6-2B4C-0533-8A84-76EAEFACB2B1}"/>
              </a:ext>
            </a:extLst>
          </p:cNvPr>
          <p:cNvSpPr>
            <a:spLocks noGrp="1"/>
          </p:cNvSpPr>
          <p:nvPr>
            <p:ph type="title"/>
          </p:nvPr>
        </p:nvSpPr>
        <p:spPr/>
        <p:txBody>
          <a:bodyPr/>
          <a:lstStyle/>
          <a:p>
            <a:r>
              <a:rPr lang="en-US" dirty="0"/>
              <a:t>2.4 this—an Object Itself</a:t>
            </a:r>
          </a:p>
        </p:txBody>
      </p:sp>
      <p:sp>
        <p:nvSpPr>
          <p:cNvPr id="3" name="Content Placeholder 2">
            <a:extLst>
              <a:ext uri="{FF2B5EF4-FFF2-40B4-BE49-F238E27FC236}">
                <a16:creationId xmlns:a16="http://schemas.microsoft.com/office/drawing/2014/main" id="{D2589E42-0396-7BC0-0AA3-24D5873DF852}"/>
              </a:ext>
            </a:extLst>
          </p:cNvPr>
          <p:cNvSpPr>
            <a:spLocks noGrp="1"/>
          </p:cNvSpPr>
          <p:nvPr>
            <p:ph idx="1"/>
          </p:nvPr>
        </p:nvSpPr>
        <p:spPr>
          <a:xfrm>
            <a:off x="838200" y="1825626"/>
            <a:ext cx="10062754" cy="1688284"/>
          </a:xfrm>
        </p:spPr>
        <p:txBody>
          <a:bodyPr>
            <a:normAutofit/>
          </a:bodyPr>
          <a:lstStyle/>
          <a:p>
            <a:r>
              <a:rPr lang="en-US" dirty="0"/>
              <a:t>“this” is a keyword used to refer to an object itself</a:t>
            </a:r>
          </a:p>
          <a:p>
            <a:pPr lvl="1">
              <a:buFont typeface="Courier New" panose="02070309020205020404" pitchFamily="49" charset="0"/>
              <a:buChar char="o"/>
            </a:pPr>
            <a:r>
              <a:rPr lang="en-US" dirty="0"/>
              <a:t>Inside a class definition, all instance variables and instance methods can be accessed using this to specify that we want to refer to the object’s own members</a:t>
            </a:r>
          </a:p>
          <a:p>
            <a:pPr lvl="1">
              <a:buFont typeface="Courier New" panose="02070309020205020404" pitchFamily="49" charset="0"/>
              <a:buChar char="o"/>
            </a:pPr>
            <a:endParaRPr lang="en-US" dirty="0"/>
          </a:p>
          <a:p>
            <a:endParaRPr lang="en-US" dirty="0"/>
          </a:p>
          <a:p>
            <a:endParaRPr lang="en-US" dirty="0"/>
          </a:p>
          <a:p>
            <a:endParaRPr lang="en-US" dirty="0"/>
          </a:p>
          <a:p>
            <a:pPr lvl="1"/>
            <a:endParaRPr lang="en-US" dirty="0"/>
          </a:p>
        </p:txBody>
      </p:sp>
      <p:pic>
        <p:nvPicPr>
          <p:cNvPr id="4" name="Picture 3">
            <a:extLst>
              <a:ext uri="{FF2B5EF4-FFF2-40B4-BE49-F238E27FC236}">
                <a16:creationId xmlns:a16="http://schemas.microsoft.com/office/drawing/2014/main" id="{720C641C-F646-BC84-7C1A-1CC9B9F45FB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graphicFrame>
        <p:nvGraphicFramePr>
          <p:cNvPr id="5" name="Table 4">
            <a:extLst>
              <a:ext uri="{FF2B5EF4-FFF2-40B4-BE49-F238E27FC236}">
                <a16:creationId xmlns:a16="http://schemas.microsoft.com/office/drawing/2014/main" id="{0CDEA9AE-5B0A-EC18-BB40-FE13B2655198}"/>
              </a:ext>
            </a:extLst>
          </p:cNvPr>
          <p:cNvGraphicFramePr>
            <a:graphicFrameLocks noGrp="1"/>
          </p:cNvGraphicFramePr>
          <p:nvPr>
            <p:extLst>
              <p:ext uri="{D42A27DB-BD31-4B8C-83A1-F6EECF244321}">
                <p14:modId xmlns:p14="http://schemas.microsoft.com/office/powerpoint/2010/main" val="1315713087"/>
              </p:ext>
            </p:extLst>
          </p:nvPr>
        </p:nvGraphicFramePr>
        <p:xfrm>
          <a:off x="1177834" y="3648848"/>
          <a:ext cx="7815943" cy="2030804"/>
        </p:xfrm>
        <a:graphic>
          <a:graphicData uri="http://schemas.openxmlformats.org/drawingml/2006/table">
            <a:tbl>
              <a:tblPr firstRow="1" firstCol="1" bandRow="1"/>
              <a:tblGrid>
                <a:gridCol w="7815943">
                  <a:extLst>
                    <a:ext uri="{9D8B030D-6E8A-4147-A177-3AD203B41FA5}">
                      <a16:colId xmlns:a16="http://schemas.microsoft.com/office/drawing/2014/main" val="535560389"/>
                    </a:ext>
                  </a:extLst>
                </a:gridCol>
              </a:tblGrid>
              <a:tr h="506804">
                <a:tc>
                  <a:txBody>
                    <a:bodyPr/>
                    <a:lstStyle/>
                    <a:p>
                      <a:pPr marL="0" marR="0">
                        <a:buNone/>
                      </a:pPr>
                      <a:r>
                        <a:rPr lang="en-US" sz="2000" b="1">
                          <a:solidFill>
                            <a:srgbClr val="FFFFFF"/>
                          </a:solidFill>
                          <a:effectLst/>
                          <a:latin typeface="Times New Roman" panose="02020603050405020304" pitchFamily="18" charset="0"/>
                          <a:ea typeface="DengXian" panose="02010600030101010101" pitchFamily="2" charset="-122"/>
                          <a:cs typeface="Times New Roman" panose="02020603050405020304" pitchFamily="18" charset="0"/>
                        </a:rPr>
                        <a:t>Core Concept: </a:t>
                      </a:r>
                      <a:r>
                        <a:rPr lang="en-US" sz="2000" b="1">
                          <a:solidFill>
                            <a:srgbClr val="FFFFFF"/>
                          </a:solidFill>
                          <a:effectLst/>
                          <a:latin typeface="Consolas" panose="020B0609020204030204" pitchFamily="49" charset="0"/>
                          <a:ea typeface="DengXian" panose="02010600030101010101" pitchFamily="2" charset="-122"/>
                          <a:cs typeface="Times New Roman" panose="02020603050405020304" pitchFamily="18" charset="0"/>
                        </a:rPr>
                        <a:t>this</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solidFill>
                  </a:tcPr>
                </a:tc>
                <a:extLst>
                  <a:ext uri="{0D108BD9-81ED-4DB2-BD59-A6C34878D82A}">
                    <a16:rowId xmlns:a16="http://schemas.microsoft.com/office/drawing/2014/main" val="142511386"/>
                  </a:ext>
                </a:extLst>
              </a:tr>
              <a:tr h="1520411">
                <a:tc>
                  <a:txBody>
                    <a:bodyPr/>
                    <a:lstStyle/>
                    <a:p>
                      <a:pPr marL="0" marR="0">
                        <a:buNone/>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Refer to members of an object itself.</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p>
                      <a:pPr marL="742950" marR="0" lvl="1" indent="-285750">
                        <a:buSzPts val="1000"/>
                        <a:buFont typeface="Times New Roman" panose="02020603050405020304" pitchFamily="18" charset="0"/>
                        <a:buChar char="►"/>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Accessing an object’s own instance variables: </a:t>
                      </a:r>
                      <a:r>
                        <a:rPr lang="en-US" sz="2000" dirty="0" err="1">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this.instanceVariableName</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p>
                      <a:pPr marL="742950" marR="0" lvl="1" indent="-285750">
                        <a:buSzPts val="1000"/>
                        <a:buFont typeface="Times New Roman" panose="02020603050405020304" pitchFamily="18" charset="0"/>
                        <a:buChar char="►"/>
                      </a:pPr>
                      <a:r>
                        <a:rPr lang="en-US" sz="2000" dirty="0">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Invoking an object’s own instance method: </a:t>
                      </a:r>
                      <a:r>
                        <a:rPr lang="en-US" sz="2000" dirty="0" err="1">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this.instanceMethodName</a:t>
                      </a:r>
                      <a:r>
                        <a:rPr lang="en-US" sz="2000" dirty="0">
                          <a:solidFill>
                            <a:srgbClr val="000000"/>
                          </a:solidFill>
                          <a:effectLst/>
                          <a:latin typeface="Consolas" panose="020B0609020204030204" pitchFamily="49" charset="0"/>
                          <a:ea typeface="DengXian" panose="02010600030101010101" pitchFamily="2" charset="-122"/>
                          <a:cs typeface="Times New Roman" panose="02020603050405020304" pitchFamily="18" charset="0"/>
                        </a:rPr>
                        <a:t>()</a:t>
                      </a:r>
                      <a:endParaRPr lang="en-US" sz="2000" dirty="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1666499850"/>
                  </a:ext>
                </a:extLst>
              </a:tr>
            </a:tbl>
          </a:graphicData>
        </a:graphic>
      </p:graphicFrame>
    </p:spTree>
    <p:extLst>
      <p:ext uri="{BB962C8B-B14F-4D97-AF65-F5344CB8AC3E}">
        <p14:creationId xmlns:p14="http://schemas.microsoft.com/office/powerpoint/2010/main" val="257071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A5AA9-21B8-3377-8716-EEB71075A5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7BF5B6-7133-727D-C008-54FB5F3B32E0}"/>
              </a:ext>
            </a:extLst>
          </p:cNvPr>
          <p:cNvSpPr>
            <a:spLocks noGrp="1"/>
          </p:cNvSpPr>
          <p:nvPr>
            <p:ph type="title"/>
          </p:nvPr>
        </p:nvSpPr>
        <p:spPr/>
        <p:txBody>
          <a:bodyPr/>
          <a:lstStyle/>
          <a:p>
            <a:r>
              <a:rPr lang="en-US" dirty="0"/>
              <a:t>2.4 this—an Object Itself</a:t>
            </a:r>
          </a:p>
        </p:txBody>
      </p:sp>
      <p:sp>
        <p:nvSpPr>
          <p:cNvPr id="3" name="Content Placeholder 2">
            <a:extLst>
              <a:ext uri="{FF2B5EF4-FFF2-40B4-BE49-F238E27FC236}">
                <a16:creationId xmlns:a16="http://schemas.microsoft.com/office/drawing/2014/main" id="{2242EBA8-73C9-6147-9CDC-9F7DAEA592BF}"/>
              </a:ext>
            </a:extLst>
          </p:cNvPr>
          <p:cNvSpPr>
            <a:spLocks noGrp="1"/>
          </p:cNvSpPr>
          <p:nvPr>
            <p:ph idx="1"/>
          </p:nvPr>
        </p:nvSpPr>
        <p:spPr>
          <a:xfrm>
            <a:off x="838199" y="1825626"/>
            <a:ext cx="10461171" cy="3771808"/>
          </a:xfrm>
        </p:spPr>
        <p:txBody>
          <a:bodyPr>
            <a:normAutofit/>
          </a:bodyPr>
          <a:lstStyle/>
          <a:p>
            <a:r>
              <a:rPr lang="en-US" dirty="0"/>
              <a:t>Clones, Aliases, and Originals</a:t>
            </a:r>
          </a:p>
          <a:p>
            <a:pPr lvl="1">
              <a:buFont typeface="Courier New" panose="02070309020205020404" pitchFamily="49" charset="0"/>
              <a:buChar char="o"/>
            </a:pPr>
            <a:r>
              <a:rPr lang="en-US" dirty="0"/>
              <a:t>Cloning an object—making a “copy” of an original object that initially has identical state—creates another object in computer memory. The cloned object is a separate entity from the original object, and you can change its state without affecting the original object. </a:t>
            </a:r>
          </a:p>
          <a:p>
            <a:pPr lvl="1">
              <a:buFont typeface="Courier New" panose="02070309020205020404" pitchFamily="49" charset="0"/>
              <a:buChar char="o"/>
            </a:pPr>
            <a:r>
              <a:rPr lang="en-US" dirty="0"/>
              <a:t>Aliases refer to the same object in the heap </a:t>
            </a:r>
          </a:p>
          <a:p>
            <a:pPr lvl="1">
              <a:buFont typeface="Courier New" panose="02070309020205020404" pitchFamily="49" charset="0"/>
              <a:buChar char="o"/>
            </a:pPr>
            <a:endParaRPr lang="en-US" dirty="0"/>
          </a:p>
          <a:p>
            <a:endParaRPr lang="en-US" dirty="0"/>
          </a:p>
          <a:p>
            <a:endParaRPr lang="en-US" dirty="0"/>
          </a:p>
          <a:p>
            <a:endParaRPr lang="en-US" dirty="0"/>
          </a:p>
          <a:p>
            <a:pPr lvl="1"/>
            <a:endParaRPr lang="en-US" dirty="0"/>
          </a:p>
        </p:txBody>
      </p:sp>
      <p:pic>
        <p:nvPicPr>
          <p:cNvPr id="4" name="Picture 3">
            <a:extLst>
              <a:ext uri="{FF2B5EF4-FFF2-40B4-BE49-F238E27FC236}">
                <a16:creationId xmlns:a16="http://schemas.microsoft.com/office/drawing/2014/main" id="{CFA8C23A-0E0C-D548-2B79-664A42D1FA3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3249641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F9148-0695-2E0A-45AD-F3CF047E8B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6A3704-AA29-E4D9-60AA-CF4D38FA87F5}"/>
              </a:ext>
            </a:extLst>
          </p:cNvPr>
          <p:cNvSpPr>
            <a:spLocks noGrp="1"/>
          </p:cNvSpPr>
          <p:nvPr>
            <p:ph type="title"/>
          </p:nvPr>
        </p:nvSpPr>
        <p:spPr/>
        <p:txBody>
          <a:bodyPr/>
          <a:lstStyle/>
          <a:p>
            <a:r>
              <a:rPr lang="en-US" dirty="0"/>
              <a:t>2.4 this—an Object Itself</a:t>
            </a:r>
          </a:p>
        </p:txBody>
      </p:sp>
      <p:sp>
        <p:nvSpPr>
          <p:cNvPr id="3" name="Content Placeholder 2">
            <a:extLst>
              <a:ext uri="{FF2B5EF4-FFF2-40B4-BE49-F238E27FC236}">
                <a16:creationId xmlns:a16="http://schemas.microsoft.com/office/drawing/2014/main" id="{BEF75077-67C4-91E3-C576-94C475AF8C90}"/>
              </a:ext>
            </a:extLst>
          </p:cNvPr>
          <p:cNvSpPr>
            <a:spLocks noGrp="1"/>
          </p:cNvSpPr>
          <p:nvPr>
            <p:ph idx="1"/>
          </p:nvPr>
        </p:nvSpPr>
        <p:spPr>
          <a:xfrm>
            <a:off x="838200" y="1825626"/>
            <a:ext cx="8710750" cy="519157"/>
          </a:xfrm>
        </p:spPr>
        <p:txBody>
          <a:bodyPr>
            <a:normAutofit/>
          </a:bodyPr>
          <a:lstStyle/>
          <a:p>
            <a:r>
              <a:rPr lang="en-US" dirty="0"/>
              <a:t>Clones, Aliases, and Originals</a:t>
            </a:r>
          </a:p>
          <a:p>
            <a:pPr lvl="1">
              <a:buFont typeface="Courier New" panose="02070309020205020404" pitchFamily="49" charset="0"/>
              <a:buChar char="o"/>
            </a:pPr>
            <a:endParaRPr lang="en-US" dirty="0"/>
          </a:p>
          <a:p>
            <a:endParaRPr lang="en-US" dirty="0"/>
          </a:p>
          <a:p>
            <a:endParaRPr lang="en-US" dirty="0"/>
          </a:p>
          <a:p>
            <a:endParaRPr lang="en-US" dirty="0"/>
          </a:p>
          <a:p>
            <a:pPr lvl="1"/>
            <a:endParaRPr lang="en-US" dirty="0"/>
          </a:p>
        </p:txBody>
      </p:sp>
      <p:pic>
        <p:nvPicPr>
          <p:cNvPr id="4" name="Picture 3">
            <a:extLst>
              <a:ext uri="{FF2B5EF4-FFF2-40B4-BE49-F238E27FC236}">
                <a16:creationId xmlns:a16="http://schemas.microsoft.com/office/drawing/2014/main" id="{0B7DC103-ACC4-0F7E-86C8-C52AD45816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pic>
        <p:nvPicPr>
          <p:cNvPr id="5" name="Picture 4" descr="In JavaClassEx1_Person example, demo janeAlias vs janeClone">
            <a:extLst>
              <a:ext uri="{FF2B5EF4-FFF2-40B4-BE49-F238E27FC236}">
                <a16:creationId xmlns:a16="http://schemas.microsoft.com/office/drawing/2014/main" id="{49661923-847B-B94B-5C81-D59F84883E2A}"/>
              </a:ext>
            </a:extLst>
          </p:cNvPr>
          <p:cNvPicPr>
            <a:picLocks noChangeAspect="1"/>
          </p:cNvPicPr>
          <p:nvPr/>
        </p:nvPicPr>
        <p:blipFill>
          <a:blip r:embed="rId3"/>
          <a:stretch>
            <a:fillRect/>
          </a:stretch>
        </p:blipFill>
        <p:spPr>
          <a:xfrm>
            <a:off x="726908" y="2479721"/>
            <a:ext cx="6950576" cy="3222216"/>
          </a:xfrm>
          <a:prstGeom prst="rect">
            <a:avLst/>
          </a:prstGeom>
        </p:spPr>
      </p:pic>
      <p:sp>
        <p:nvSpPr>
          <p:cNvPr id="7" name="TextBox 6">
            <a:extLst>
              <a:ext uri="{FF2B5EF4-FFF2-40B4-BE49-F238E27FC236}">
                <a16:creationId xmlns:a16="http://schemas.microsoft.com/office/drawing/2014/main" id="{94D0E260-5A0E-F45B-A65B-2249E5C57153}"/>
              </a:ext>
            </a:extLst>
          </p:cNvPr>
          <p:cNvSpPr txBox="1"/>
          <p:nvPr/>
        </p:nvSpPr>
        <p:spPr>
          <a:xfrm>
            <a:off x="7463790" y="2487485"/>
            <a:ext cx="3162844" cy="646331"/>
          </a:xfrm>
          <a:prstGeom prst="rect">
            <a:avLst/>
          </a:prstGeom>
          <a:noFill/>
          <a:ln>
            <a:solidFill>
              <a:schemeClr val="accent1"/>
            </a:solidFill>
          </a:ln>
        </p:spPr>
        <p:txBody>
          <a:bodyPr wrap="square">
            <a:spAutoFit/>
          </a:bodyPr>
          <a:lstStyle/>
          <a:p>
            <a:r>
              <a:rPr lang="en-US" dirty="0"/>
              <a:t>The clone’s—and only the clone’s—age changes to 11</a:t>
            </a:r>
          </a:p>
        </p:txBody>
      </p:sp>
      <p:sp>
        <p:nvSpPr>
          <p:cNvPr id="9" name="TextBox 8">
            <a:extLst>
              <a:ext uri="{FF2B5EF4-FFF2-40B4-BE49-F238E27FC236}">
                <a16:creationId xmlns:a16="http://schemas.microsoft.com/office/drawing/2014/main" id="{5D400AD8-6FF9-8FE5-C327-E7BDB035E3EB}"/>
              </a:ext>
            </a:extLst>
          </p:cNvPr>
          <p:cNvSpPr txBox="1"/>
          <p:nvPr/>
        </p:nvSpPr>
        <p:spPr>
          <a:xfrm>
            <a:off x="7516041" y="3490217"/>
            <a:ext cx="3110593" cy="646331"/>
          </a:xfrm>
          <a:prstGeom prst="rect">
            <a:avLst/>
          </a:prstGeom>
          <a:noFill/>
          <a:ln>
            <a:solidFill>
              <a:schemeClr val="accent1"/>
            </a:solidFill>
          </a:ln>
        </p:spPr>
        <p:txBody>
          <a:bodyPr wrap="square">
            <a:spAutoFit/>
          </a:bodyPr>
          <a:lstStyle/>
          <a:p>
            <a:r>
              <a:rPr lang="en-US" dirty="0"/>
              <a:t>changing the alias’s age also changes the original’s age</a:t>
            </a:r>
          </a:p>
        </p:txBody>
      </p:sp>
    </p:spTree>
    <p:extLst>
      <p:ext uri="{BB962C8B-B14F-4D97-AF65-F5344CB8AC3E}">
        <p14:creationId xmlns:p14="http://schemas.microsoft.com/office/powerpoint/2010/main" val="17043763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F2329-AA05-7878-2988-8E915F77AF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96835B-F660-D742-38B8-39A3C0F1A93D}"/>
              </a:ext>
            </a:extLst>
          </p:cNvPr>
          <p:cNvSpPr>
            <a:spLocks noGrp="1"/>
          </p:cNvSpPr>
          <p:nvPr>
            <p:ph type="title"/>
          </p:nvPr>
        </p:nvSpPr>
        <p:spPr/>
        <p:txBody>
          <a:bodyPr/>
          <a:lstStyle/>
          <a:p>
            <a:r>
              <a:rPr lang="en-US" dirty="0"/>
              <a:t>2.4 this—an Object Itself</a:t>
            </a:r>
          </a:p>
        </p:txBody>
      </p:sp>
      <p:sp>
        <p:nvSpPr>
          <p:cNvPr id="3" name="Content Placeholder 2">
            <a:extLst>
              <a:ext uri="{FF2B5EF4-FFF2-40B4-BE49-F238E27FC236}">
                <a16:creationId xmlns:a16="http://schemas.microsoft.com/office/drawing/2014/main" id="{4F66C5F3-7EDD-FE1C-16D2-8F8E16792A56}"/>
              </a:ext>
            </a:extLst>
          </p:cNvPr>
          <p:cNvSpPr>
            <a:spLocks noGrp="1"/>
          </p:cNvSpPr>
          <p:nvPr>
            <p:ph idx="1"/>
          </p:nvPr>
        </p:nvSpPr>
        <p:spPr>
          <a:xfrm>
            <a:off x="838200" y="1825626"/>
            <a:ext cx="9984378" cy="623660"/>
          </a:xfrm>
        </p:spPr>
        <p:txBody>
          <a:bodyPr>
            <a:normAutofit/>
          </a:bodyPr>
          <a:lstStyle/>
          <a:p>
            <a:r>
              <a:rPr lang="en-US" dirty="0"/>
              <a:t>Clones, Aliases, and Originals</a:t>
            </a:r>
          </a:p>
          <a:p>
            <a:pPr lvl="1">
              <a:buFont typeface="Courier New" panose="02070309020205020404" pitchFamily="49" charset="0"/>
              <a:buChar char="o"/>
            </a:pPr>
            <a:endParaRPr lang="en-US" dirty="0"/>
          </a:p>
          <a:p>
            <a:endParaRPr lang="en-US" dirty="0"/>
          </a:p>
          <a:p>
            <a:endParaRPr lang="en-US" dirty="0"/>
          </a:p>
          <a:p>
            <a:endParaRPr lang="en-US" dirty="0"/>
          </a:p>
          <a:p>
            <a:pPr lvl="1"/>
            <a:endParaRPr lang="en-US" dirty="0"/>
          </a:p>
        </p:txBody>
      </p:sp>
      <p:pic>
        <p:nvPicPr>
          <p:cNvPr id="4" name="Picture 3">
            <a:extLst>
              <a:ext uri="{FF2B5EF4-FFF2-40B4-BE49-F238E27FC236}">
                <a16:creationId xmlns:a16="http://schemas.microsoft.com/office/drawing/2014/main" id="{2CB8CE3B-C1FD-72AD-2F0E-AB88AF24BDB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graphicFrame>
        <p:nvGraphicFramePr>
          <p:cNvPr id="5" name="Table 4">
            <a:extLst>
              <a:ext uri="{FF2B5EF4-FFF2-40B4-BE49-F238E27FC236}">
                <a16:creationId xmlns:a16="http://schemas.microsoft.com/office/drawing/2014/main" id="{100B8B13-7D1F-8377-3E8E-D2A57ECDD5D9}"/>
              </a:ext>
            </a:extLst>
          </p:cNvPr>
          <p:cNvGraphicFramePr>
            <a:graphicFrameLocks noGrp="1"/>
          </p:cNvGraphicFramePr>
          <p:nvPr>
            <p:extLst>
              <p:ext uri="{D42A27DB-BD31-4B8C-83A1-F6EECF244321}">
                <p14:modId xmlns:p14="http://schemas.microsoft.com/office/powerpoint/2010/main" val="2363419716"/>
              </p:ext>
            </p:extLst>
          </p:nvPr>
        </p:nvGraphicFramePr>
        <p:xfrm>
          <a:off x="1213665" y="2449286"/>
          <a:ext cx="8309157" cy="3035559"/>
        </p:xfrm>
        <a:graphic>
          <a:graphicData uri="http://schemas.openxmlformats.org/drawingml/2006/table">
            <a:tbl>
              <a:tblPr firstRow="1" firstCol="1" bandRow="1"/>
              <a:tblGrid>
                <a:gridCol w="1995086">
                  <a:extLst>
                    <a:ext uri="{9D8B030D-6E8A-4147-A177-3AD203B41FA5}">
                      <a16:colId xmlns:a16="http://schemas.microsoft.com/office/drawing/2014/main" val="263467254"/>
                    </a:ext>
                  </a:extLst>
                </a:gridCol>
                <a:gridCol w="3156591">
                  <a:extLst>
                    <a:ext uri="{9D8B030D-6E8A-4147-A177-3AD203B41FA5}">
                      <a16:colId xmlns:a16="http://schemas.microsoft.com/office/drawing/2014/main" val="350300586"/>
                    </a:ext>
                  </a:extLst>
                </a:gridCol>
                <a:gridCol w="3157480">
                  <a:extLst>
                    <a:ext uri="{9D8B030D-6E8A-4147-A177-3AD203B41FA5}">
                      <a16:colId xmlns:a16="http://schemas.microsoft.com/office/drawing/2014/main" val="1611599758"/>
                    </a:ext>
                  </a:extLst>
                </a:gridCol>
              </a:tblGrid>
              <a:tr h="377890">
                <a:tc gridSpan="3">
                  <a:txBody>
                    <a:bodyPr/>
                    <a:lstStyle/>
                    <a:p>
                      <a:pPr marL="0" marR="0">
                        <a:buNone/>
                      </a:pPr>
                      <a:r>
                        <a:rPr lang="en-US" sz="2000" b="1">
                          <a:solidFill>
                            <a:srgbClr val="FFFFFF"/>
                          </a:solidFill>
                          <a:effectLst/>
                          <a:latin typeface="Times New Roman" panose="02020603050405020304" pitchFamily="18" charset="0"/>
                          <a:ea typeface="DengXian" panose="02010600030101010101" pitchFamily="2" charset="-122"/>
                          <a:cs typeface="Times New Roman" panose="02020603050405020304" pitchFamily="18" charset="0"/>
                        </a:rPr>
                        <a:t>Core Concept: clones vs. aliases</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02074213"/>
                  </a:ext>
                </a:extLst>
              </a:tr>
              <a:tr h="377890">
                <a:tc>
                  <a:txBody>
                    <a:bodyPr/>
                    <a:lstStyle/>
                    <a:p>
                      <a:pPr marL="0" marR="0">
                        <a:buNone/>
                      </a:pPr>
                      <a:r>
                        <a:rPr lang="en-US" sz="2000">
                          <a:effectLst/>
                          <a:latin typeface="Times New Roman" panose="02020603050405020304" pitchFamily="18" charset="0"/>
                          <a:ea typeface="DengXian" panose="02010600030101010101" pitchFamily="2" charset="-122"/>
                          <a:cs typeface="Times New Roman" panose="02020603050405020304" pitchFamily="18" charset="0"/>
                        </a:rPr>
                        <a:t> </a:t>
                      </a:r>
                    </a:p>
                  </a:txBody>
                  <a:tcPr marL="68580" marR="68580" marT="0"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tc>
                  <a:txBody>
                    <a:bodyPr/>
                    <a:lstStyle/>
                    <a:p>
                      <a:pPr marL="0" marR="0">
                        <a:buNone/>
                      </a:pPr>
                      <a:r>
                        <a:rPr lang="en-US" sz="2000" b="1">
                          <a:effectLst/>
                          <a:latin typeface="Times New Roman" panose="02020603050405020304" pitchFamily="18" charset="0"/>
                          <a:ea typeface="DengXian" panose="02010600030101010101" pitchFamily="2" charset="-122"/>
                          <a:cs typeface="Times New Roman" panose="02020603050405020304" pitchFamily="18" charset="0"/>
                        </a:rPr>
                        <a:t>Clones</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tc>
                  <a:txBody>
                    <a:bodyPr/>
                    <a:lstStyle/>
                    <a:p>
                      <a:pPr marL="0" marR="0">
                        <a:buNone/>
                      </a:pPr>
                      <a:r>
                        <a:rPr lang="en-US" sz="2000" b="1">
                          <a:effectLst/>
                          <a:latin typeface="Times New Roman" panose="02020603050405020304" pitchFamily="18" charset="0"/>
                          <a:ea typeface="DengXian" panose="02010600030101010101" pitchFamily="2" charset="-122"/>
                          <a:cs typeface="Times New Roman" panose="02020603050405020304" pitchFamily="18" charset="0"/>
                        </a:rPr>
                        <a:t>Aliases</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extLst>
                  <a:ext uri="{0D108BD9-81ED-4DB2-BD59-A6C34878D82A}">
                    <a16:rowId xmlns:a16="http://schemas.microsoft.com/office/drawing/2014/main" val="2056751644"/>
                  </a:ext>
                </a:extLst>
              </a:tr>
              <a:tr h="377890">
                <a:tc>
                  <a:txBody>
                    <a:bodyPr/>
                    <a:lstStyle/>
                    <a:p>
                      <a:pPr marL="0" marR="0">
                        <a:buNone/>
                      </a:pPr>
                      <a:r>
                        <a:rPr lang="en-US" sz="2000" i="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What are they?</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tc>
                  <a:txBody>
                    <a:bodyPr/>
                    <a:lstStyle/>
                    <a:p>
                      <a:pPr marL="0" marR="0">
                        <a:buNone/>
                      </a:pPr>
                      <a:r>
                        <a:rPr lang="en-US" sz="2000">
                          <a:effectLst/>
                          <a:latin typeface="Times New Roman" panose="02020603050405020304" pitchFamily="18" charset="0"/>
                          <a:ea typeface="DengXian" panose="02010600030101010101" pitchFamily="2" charset="-122"/>
                          <a:cs typeface="Times New Roman" panose="02020603050405020304" pitchFamily="18" charset="0"/>
                        </a:rPr>
                        <a:t>copies of the original object</a:t>
                      </a:r>
                    </a:p>
                  </a:txBody>
                  <a:tcPr marL="68580" marR="68580" marT="0"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tc>
                  <a:txBody>
                    <a:bodyPr/>
                    <a:lstStyle/>
                    <a:p>
                      <a:pPr marL="0" marR="0">
                        <a:buNone/>
                      </a:pPr>
                      <a:r>
                        <a:rPr lang="en-US" sz="2000">
                          <a:effectLst/>
                          <a:latin typeface="Times New Roman" panose="02020603050405020304" pitchFamily="18" charset="0"/>
                          <a:ea typeface="DengXian" panose="02010600030101010101" pitchFamily="2" charset="-122"/>
                          <a:cs typeface="Times New Roman" panose="02020603050405020304" pitchFamily="18" charset="0"/>
                        </a:rPr>
                        <a:t>references to the original object</a:t>
                      </a:r>
                    </a:p>
                  </a:txBody>
                  <a:tcPr marL="68580" marR="68580" marT="0"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extLst>
                  <a:ext uri="{0D108BD9-81ED-4DB2-BD59-A6C34878D82A}">
                    <a16:rowId xmlns:a16="http://schemas.microsoft.com/office/drawing/2014/main" val="1206824815"/>
                  </a:ext>
                </a:extLst>
              </a:tr>
              <a:tr h="755779">
                <a:tc>
                  <a:txBody>
                    <a:bodyPr/>
                    <a:lstStyle/>
                    <a:p>
                      <a:pPr marL="0" marR="0">
                        <a:buNone/>
                      </a:pPr>
                      <a:r>
                        <a:rPr lang="en-US" sz="2000" i="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Where are they found?</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tc>
                  <a:txBody>
                    <a:bodyPr/>
                    <a:lstStyle/>
                    <a:p>
                      <a:pPr marL="0" marR="0">
                        <a:buNone/>
                      </a:pPr>
                      <a:r>
                        <a:rPr lang="en-US" sz="2000">
                          <a:effectLst/>
                          <a:latin typeface="Times New Roman" panose="02020603050405020304" pitchFamily="18" charset="0"/>
                          <a:ea typeface="DengXian" panose="02010600030101010101" pitchFamily="2" charset="-122"/>
                          <a:cs typeface="Times New Roman" panose="02020603050405020304" pitchFamily="18" charset="0"/>
                        </a:rPr>
                        <a:t>new locations in the heap</a:t>
                      </a:r>
                    </a:p>
                  </a:txBody>
                  <a:tcPr marL="68580" marR="68580" marT="0"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tc>
                  <a:txBody>
                    <a:bodyPr/>
                    <a:lstStyle/>
                    <a:p>
                      <a:pPr marL="0" marR="0">
                        <a:buNone/>
                      </a:pPr>
                      <a:r>
                        <a:rPr lang="en-US" sz="2000">
                          <a:effectLst/>
                          <a:latin typeface="Times New Roman" panose="02020603050405020304" pitchFamily="18" charset="0"/>
                          <a:ea typeface="DengXian" panose="02010600030101010101" pitchFamily="2" charset="-122"/>
                          <a:cs typeface="Times New Roman" panose="02020603050405020304" pitchFamily="18" charset="0"/>
                        </a:rPr>
                        <a:t>same location as the original in the heap</a:t>
                      </a:r>
                    </a:p>
                  </a:txBody>
                  <a:tcPr marL="68580" marR="68580" marT="0"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extLst>
                  <a:ext uri="{0D108BD9-81ED-4DB2-BD59-A6C34878D82A}">
                    <a16:rowId xmlns:a16="http://schemas.microsoft.com/office/drawing/2014/main" val="1038369965"/>
                  </a:ext>
                </a:extLst>
              </a:tr>
              <a:tr h="755779">
                <a:tc>
                  <a:txBody>
                    <a:bodyPr/>
                    <a:lstStyle/>
                    <a:p>
                      <a:pPr marL="0" marR="0">
                        <a:buNone/>
                      </a:pPr>
                      <a:r>
                        <a:rPr lang="en-US" sz="2000" i="1">
                          <a:solidFill>
                            <a:srgbClr val="000000"/>
                          </a:solidFill>
                          <a:effectLst/>
                          <a:latin typeface="Times New Roman" panose="02020603050405020304" pitchFamily="18" charset="0"/>
                          <a:ea typeface="DengXian" panose="02010600030101010101" pitchFamily="2" charset="-122"/>
                          <a:cs typeface="Times New Roman" panose="02020603050405020304" pitchFamily="18" charset="0"/>
                        </a:rPr>
                        <a:t>What happens if you change their state?</a:t>
                      </a:r>
                      <a:endParaRPr lang="en-US" sz="2000">
                        <a:effectLst/>
                        <a:latin typeface="Times New Roman" panose="02020603050405020304" pitchFamily="18" charset="0"/>
                        <a:ea typeface="DengXian" panose="02010600030101010101" pitchFamily="2" charset="-122"/>
                        <a:cs typeface="Times New Roman" panose="02020603050405020304" pitchFamily="18" charset="0"/>
                      </a:endParaRPr>
                    </a:p>
                  </a:txBody>
                  <a:tcPr marL="68580" marR="68580" marT="0"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tc>
                  <a:txBody>
                    <a:bodyPr/>
                    <a:lstStyle/>
                    <a:p>
                      <a:pPr marL="0" marR="0">
                        <a:buNone/>
                      </a:pPr>
                      <a:r>
                        <a:rPr lang="en-US" sz="2000">
                          <a:effectLst/>
                          <a:latin typeface="Times New Roman" panose="02020603050405020304" pitchFamily="18" charset="0"/>
                          <a:ea typeface="DengXian" panose="02010600030101010101" pitchFamily="2" charset="-122"/>
                          <a:cs typeface="Times New Roman" panose="02020603050405020304" pitchFamily="18" charset="0"/>
                        </a:rPr>
                        <a:t>only the clone’s state changes; the original state remains the same</a:t>
                      </a:r>
                    </a:p>
                  </a:txBody>
                  <a:tcPr marL="68580" marR="68580" marT="0"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tc>
                  <a:txBody>
                    <a:bodyPr/>
                    <a:lstStyle/>
                    <a:p>
                      <a:pPr marL="0" marR="0">
                        <a:buNone/>
                      </a:pPr>
                      <a:r>
                        <a:rPr lang="en-US" sz="2000" dirty="0">
                          <a:effectLst/>
                          <a:latin typeface="Times New Roman" panose="02020603050405020304" pitchFamily="18" charset="0"/>
                          <a:ea typeface="DengXian" panose="02010600030101010101" pitchFamily="2" charset="-122"/>
                          <a:cs typeface="Times New Roman" panose="02020603050405020304" pitchFamily="18" charset="0"/>
                        </a:rPr>
                        <a:t>the original’s state also changes</a:t>
                      </a:r>
                    </a:p>
                  </a:txBody>
                  <a:tcPr marL="68580" marR="68580" marT="0" marB="0" anchor="ctr">
                    <a:lnL w="12700" cap="flat" cmpd="sng"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noFill/>
                  </a:tcPr>
                </a:tc>
                <a:extLst>
                  <a:ext uri="{0D108BD9-81ED-4DB2-BD59-A6C34878D82A}">
                    <a16:rowId xmlns:a16="http://schemas.microsoft.com/office/drawing/2014/main" val="3818873592"/>
                  </a:ext>
                </a:extLst>
              </a:tr>
            </a:tbl>
          </a:graphicData>
        </a:graphic>
      </p:graphicFrame>
    </p:spTree>
    <p:extLst>
      <p:ext uri="{BB962C8B-B14F-4D97-AF65-F5344CB8AC3E}">
        <p14:creationId xmlns:p14="http://schemas.microsoft.com/office/powerpoint/2010/main" val="7201552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2EFD6-F07E-42B4-28C7-A06FC21ADB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7DA36-DDB4-74CE-1836-66A4D2EA7595}"/>
              </a:ext>
            </a:extLst>
          </p:cNvPr>
          <p:cNvSpPr>
            <a:spLocks noGrp="1"/>
          </p:cNvSpPr>
          <p:nvPr>
            <p:ph type="title"/>
          </p:nvPr>
        </p:nvSpPr>
        <p:spPr/>
        <p:txBody>
          <a:bodyPr/>
          <a:lstStyle/>
          <a:p>
            <a:r>
              <a:rPr lang="en-US" dirty="0"/>
              <a:t>2.5 Tailored Instance Methods</a:t>
            </a:r>
          </a:p>
        </p:txBody>
      </p:sp>
      <p:sp>
        <p:nvSpPr>
          <p:cNvPr id="3" name="Content Placeholder 2">
            <a:extLst>
              <a:ext uri="{FF2B5EF4-FFF2-40B4-BE49-F238E27FC236}">
                <a16:creationId xmlns:a16="http://schemas.microsoft.com/office/drawing/2014/main" id="{95422EBC-24B1-7D45-3A11-71A886C118D0}"/>
              </a:ext>
            </a:extLst>
          </p:cNvPr>
          <p:cNvSpPr>
            <a:spLocks noGrp="1"/>
          </p:cNvSpPr>
          <p:nvPr>
            <p:ph idx="1"/>
          </p:nvPr>
        </p:nvSpPr>
        <p:spPr>
          <a:xfrm>
            <a:off x="838199" y="1825626"/>
            <a:ext cx="10441577" cy="4006940"/>
          </a:xfrm>
        </p:spPr>
        <p:txBody>
          <a:bodyPr>
            <a:normAutofit/>
          </a:bodyPr>
          <a:lstStyle/>
          <a:p>
            <a:r>
              <a:rPr lang="en-US" dirty="0"/>
              <a:t>Object is the ancestral class from which all other classes are descended</a:t>
            </a:r>
          </a:p>
          <a:p>
            <a:pPr lvl="1">
              <a:buFont typeface="Courier New" panose="02070309020205020404" pitchFamily="49" charset="0"/>
              <a:buChar char="o"/>
            </a:pPr>
            <a:r>
              <a:rPr lang="en-US" dirty="0"/>
              <a:t>classes receive certain “defaults” from the Object superclass. One of these “defaults” is the </a:t>
            </a:r>
            <a:r>
              <a:rPr lang="en-US" dirty="0" err="1"/>
              <a:t>toString</a:t>
            </a:r>
            <a:r>
              <a:rPr lang="en-US" dirty="0"/>
              <a:t>() method, which is set in Java to return the heap memory address of the object. </a:t>
            </a:r>
          </a:p>
          <a:p>
            <a:pPr lvl="1">
              <a:buFont typeface="Courier New" panose="02070309020205020404" pitchFamily="49" charset="0"/>
              <a:buChar char="o"/>
            </a:pPr>
            <a:r>
              <a:rPr lang="en-US" dirty="0"/>
              <a:t>if we want to change the behavior of an object’s </a:t>
            </a:r>
            <a:r>
              <a:rPr lang="en-US" dirty="0" err="1"/>
              <a:t>toString</a:t>
            </a:r>
            <a:r>
              <a:rPr lang="en-US" dirty="0"/>
              <a:t>() method, we must overrule the Object-defined default and write our own version. This is done with the special @Override annotation. </a:t>
            </a:r>
          </a:p>
          <a:p>
            <a:pPr lvl="1">
              <a:buFont typeface="Courier New" panose="02070309020205020404" pitchFamily="49" charset="0"/>
              <a:buChar char="o"/>
            </a:pPr>
            <a:endParaRPr lang="en-US" dirty="0"/>
          </a:p>
          <a:p>
            <a:endParaRPr lang="en-US" dirty="0"/>
          </a:p>
          <a:p>
            <a:endParaRPr lang="en-US" dirty="0"/>
          </a:p>
          <a:p>
            <a:endParaRPr lang="en-US" dirty="0"/>
          </a:p>
          <a:p>
            <a:pPr lvl="1"/>
            <a:endParaRPr lang="en-US" dirty="0"/>
          </a:p>
        </p:txBody>
      </p:sp>
      <p:pic>
        <p:nvPicPr>
          <p:cNvPr id="4" name="Picture 3">
            <a:extLst>
              <a:ext uri="{FF2B5EF4-FFF2-40B4-BE49-F238E27FC236}">
                <a16:creationId xmlns:a16="http://schemas.microsoft.com/office/drawing/2014/main" id="{2BC4A5B5-AE38-152D-E46F-B8754F490BB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18980493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D3E6F-07DA-4E5B-3A03-CC55597083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D81C93-AD31-3559-B353-934A52806F5B}"/>
              </a:ext>
            </a:extLst>
          </p:cNvPr>
          <p:cNvSpPr>
            <a:spLocks noGrp="1"/>
          </p:cNvSpPr>
          <p:nvPr>
            <p:ph type="title"/>
          </p:nvPr>
        </p:nvSpPr>
        <p:spPr/>
        <p:txBody>
          <a:bodyPr/>
          <a:lstStyle/>
          <a:p>
            <a:r>
              <a:rPr lang="en-US" dirty="0"/>
              <a:t>2.5 Tailored Instance Methods</a:t>
            </a:r>
          </a:p>
        </p:txBody>
      </p:sp>
      <p:sp>
        <p:nvSpPr>
          <p:cNvPr id="3" name="Content Placeholder 2">
            <a:extLst>
              <a:ext uri="{FF2B5EF4-FFF2-40B4-BE49-F238E27FC236}">
                <a16:creationId xmlns:a16="http://schemas.microsoft.com/office/drawing/2014/main" id="{D21144A2-3786-0ED7-ECA2-D35A33FCAC3E}"/>
              </a:ext>
            </a:extLst>
          </p:cNvPr>
          <p:cNvSpPr>
            <a:spLocks noGrp="1"/>
          </p:cNvSpPr>
          <p:nvPr>
            <p:ph idx="1"/>
          </p:nvPr>
        </p:nvSpPr>
        <p:spPr>
          <a:xfrm>
            <a:off x="838199" y="1825626"/>
            <a:ext cx="10441577" cy="4006940"/>
          </a:xfrm>
        </p:spPr>
        <p:txBody>
          <a:bodyPr>
            <a:normAutofit/>
          </a:bodyPr>
          <a:lstStyle/>
          <a:p>
            <a:r>
              <a:rPr lang="en-US" dirty="0"/>
              <a:t>Referential vs. Structural Equality</a:t>
            </a:r>
          </a:p>
          <a:p>
            <a:pPr lvl="1">
              <a:buFont typeface="Courier New" panose="02070309020205020404" pitchFamily="49" charset="0"/>
              <a:buChar char="o"/>
            </a:pPr>
            <a:r>
              <a:rPr lang="en-US" dirty="0"/>
              <a:t>The double equals == operator: for referential equality. Referential equality asks whether two entities live in the same memory location, i.e. for objects, within heap memory. </a:t>
            </a:r>
          </a:p>
          <a:p>
            <a:pPr lvl="1">
              <a:buFont typeface="Courier New" panose="02070309020205020404" pitchFamily="49" charset="0"/>
              <a:buChar char="o"/>
            </a:pPr>
            <a:r>
              <a:rPr lang="en-US" dirty="0"/>
              <a:t>the equals() method tests for structural equality. Structural equality asks whether two entities have the same values </a:t>
            </a:r>
          </a:p>
          <a:p>
            <a:pPr lvl="1">
              <a:buFont typeface="Courier New" panose="02070309020205020404" pitchFamily="49" charset="0"/>
              <a:buChar char="o"/>
            </a:pPr>
            <a:endParaRPr lang="en-US" dirty="0"/>
          </a:p>
          <a:p>
            <a:endParaRPr lang="en-US" dirty="0"/>
          </a:p>
          <a:p>
            <a:endParaRPr lang="en-US" dirty="0"/>
          </a:p>
          <a:p>
            <a:endParaRPr lang="en-US" dirty="0"/>
          </a:p>
          <a:p>
            <a:pPr lvl="1"/>
            <a:endParaRPr lang="en-US" dirty="0"/>
          </a:p>
        </p:txBody>
      </p:sp>
      <p:pic>
        <p:nvPicPr>
          <p:cNvPr id="4" name="Picture 3">
            <a:extLst>
              <a:ext uri="{FF2B5EF4-FFF2-40B4-BE49-F238E27FC236}">
                <a16:creationId xmlns:a16="http://schemas.microsoft.com/office/drawing/2014/main" id="{5913D557-1468-E874-A8C5-3B7274E602A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6064179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31474-0D4B-B5E6-AF3C-2725A753B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1454E1-DC4A-FE4F-7D9F-A97C2DF2EB34}"/>
              </a:ext>
            </a:extLst>
          </p:cNvPr>
          <p:cNvSpPr>
            <a:spLocks noGrp="1"/>
          </p:cNvSpPr>
          <p:nvPr>
            <p:ph type="title"/>
          </p:nvPr>
        </p:nvSpPr>
        <p:spPr/>
        <p:txBody>
          <a:bodyPr/>
          <a:lstStyle/>
          <a:p>
            <a:r>
              <a:rPr lang="en-US" dirty="0"/>
              <a:t>2.5 Tailored Instance Methods</a:t>
            </a:r>
          </a:p>
        </p:txBody>
      </p:sp>
      <p:sp>
        <p:nvSpPr>
          <p:cNvPr id="3" name="Content Placeholder 2">
            <a:extLst>
              <a:ext uri="{FF2B5EF4-FFF2-40B4-BE49-F238E27FC236}">
                <a16:creationId xmlns:a16="http://schemas.microsoft.com/office/drawing/2014/main" id="{2544D74B-12E9-86B3-A09A-6E9FF7A39083}"/>
              </a:ext>
            </a:extLst>
          </p:cNvPr>
          <p:cNvSpPr>
            <a:spLocks noGrp="1"/>
          </p:cNvSpPr>
          <p:nvPr>
            <p:ph idx="1"/>
          </p:nvPr>
        </p:nvSpPr>
        <p:spPr>
          <a:xfrm>
            <a:off x="838199" y="1825626"/>
            <a:ext cx="10441577" cy="512625"/>
          </a:xfrm>
        </p:spPr>
        <p:txBody>
          <a:bodyPr>
            <a:normAutofit/>
          </a:bodyPr>
          <a:lstStyle/>
          <a:p>
            <a:r>
              <a:rPr lang="en-US" dirty="0"/>
              <a:t>Referential vs. Structural Equality</a:t>
            </a:r>
          </a:p>
          <a:p>
            <a:pPr lvl="1">
              <a:buFont typeface="Courier New" panose="02070309020205020404" pitchFamily="49" charset="0"/>
              <a:buChar char="o"/>
            </a:pPr>
            <a:endParaRPr lang="en-US" dirty="0"/>
          </a:p>
          <a:p>
            <a:endParaRPr lang="en-US" dirty="0"/>
          </a:p>
          <a:p>
            <a:endParaRPr lang="en-US" dirty="0"/>
          </a:p>
          <a:p>
            <a:endParaRPr lang="en-US" dirty="0"/>
          </a:p>
          <a:p>
            <a:pPr lvl="1"/>
            <a:endParaRPr lang="en-US" dirty="0"/>
          </a:p>
        </p:txBody>
      </p:sp>
      <p:pic>
        <p:nvPicPr>
          <p:cNvPr id="4" name="Picture 3">
            <a:extLst>
              <a:ext uri="{FF2B5EF4-FFF2-40B4-BE49-F238E27FC236}">
                <a16:creationId xmlns:a16="http://schemas.microsoft.com/office/drawing/2014/main" id="{572E773A-340D-FC51-A670-AAE8CAF3888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8" name="TextBox 7">
            <a:extLst>
              <a:ext uri="{FF2B5EF4-FFF2-40B4-BE49-F238E27FC236}">
                <a16:creationId xmlns:a16="http://schemas.microsoft.com/office/drawing/2014/main" id="{893153C8-79A5-79AF-5D65-9000BC75441D}"/>
              </a:ext>
            </a:extLst>
          </p:cNvPr>
          <p:cNvSpPr txBox="1"/>
          <p:nvPr/>
        </p:nvSpPr>
        <p:spPr>
          <a:xfrm>
            <a:off x="8334647" y="2664725"/>
            <a:ext cx="2474867" cy="646331"/>
          </a:xfrm>
          <a:prstGeom prst="rect">
            <a:avLst/>
          </a:prstGeom>
          <a:noFill/>
          <a:ln>
            <a:solidFill>
              <a:schemeClr val="accent1"/>
            </a:solidFill>
          </a:ln>
        </p:spPr>
        <p:txBody>
          <a:bodyPr wrap="square">
            <a:spAutoFit/>
          </a:bodyPr>
          <a:lstStyle/>
          <a:p>
            <a:r>
              <a:rPr lang="en-US" dirty="0"/>
              <a:t>test1 and test2 are structurally equal</a:t>
            </a:r>
          </a:p>
        </p:txBody>
      </p:sp>
      <p:pic>
        <p:nvPicPr>
          <p:cNvPr id="9" name="Picture 8" descr="In JavaClassEx1_Person example, demo referential vs structural equality">
            <a:extLst>
              <a:ext uri="{FF2B5EF4-FFF2-40B4-BE49-F238E27FC236}">
                <a16:creationId xmlns:a16="http://schemas.microsoft.com/office/drawing/2014/main" id="{F36F76CE-0003-9DF0-398E-83908C861CA2}"/>
              </a:ext>
            </a:extLst>
          </p:cNvPr>
          <p:cNvPicPr>
            <a:picLocks noChangeAspect="1"/>
          </p:cNvPicPr>
          <p:nvPr/>
        </p:nvPicPr>
        <p:blipFill rotWithShape="1">
          <a:blip r:embed="rId3">
            <a:extLst>
              <a:ext uri="{28A0092B-C50C-407E-A947-70E740481C1C}">
                <a14:useLocalDpi xmlns:a14="http://schemas.microsoft.com/office/drawing/2010/main" val="0"/>
              </a:ext>
            </a:extLst>
          </a:blip>
          <a:srcRect t="6039" b="13067"/>
          <a:stretch/>
        </p:blipFill>
        <p:spPr bwMode="auto">
          <a:xfrm>
            <a:off x="727800" y="2338251"/>
            <a:ext cx="7392526" cy="3363686"/>
          </a:xfrm>
          <a:prstGeom prst="rect">
            <a:avLst/>
          </a:prstGeom>
          <a:ln>
            <a:noFill/>
          </a:ln>
          <a:extLst>
            <a:ext uri="{53640926-AAD7-44D8-BBD7-CCE9431645EC}">
              <a14:shadowObscured xmlns:a14="http://schemas.microsoft.com/office/drawing/2010/main"/>
            </a:ext>
          </a:extLst>
        </p:spPr>
      </p:pic>
      <p:sp>
        <p:nvSpPr>
          <p:cNvPr id="10" name="TextBox 9">
            <a:extLst>
              <a:ext uri="{FF2B5EF4-FFF2-40B4-BE49-F238E27FC236}">
                <a16:creationId xmlns:a16="http://schemas.microsoft.com/office/drawing/2014/main" id="{D0752932-1A59-61D7-F33C-89A56062A607}"/>
              </a:ext>
            </a:extLst>
          </p:cNvPr>
          <p:cNvSpPr txBox="1"/>
          <p:nvPr/>
        </p:nvSpPr>
        <p:spPr>
          <a:xfrm>
            <a:off x="8334646" y="3546945"/>
            <a:ext cx="2474867" cy="646331"/>
          </a:xfrm>
          <a:prstGeom prst="rect">
            <a:avLst/>
          </a:prstGeom>
          <a:noFill/>
          <a:ln>
            <a:solidFill>
              <a:schemeClr val="accent1"/>
            </a:solidFill>
          </a:ln>
        </p:spPr>
        <p:txBody>
          <a:bodyPr wrap="square">
            <a:spAutoFit/>
          </a:bodyPr>
          <a:lstStyle/>
          <a:p>
            <a:r>
              <a:rPr lang="en-US" dirty="0"/>
              <a:t>test1 and test3 are referentially equal</a:t>
            </a:r>
          </a:p>
        </p:txBody>
      </p:sp>
    </p:spTree>
    <p:extLst>
      <p:ext uri="{BB962C8B-B14F-4D97-AF65-F5344CB8AC3E}">
        <p14:creationId xmlns:p14="http://schemas.microsoft.com/office/powerpoint/2010/main" val="20967962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F83A5-6330-B263-03E6-A878346721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39A0AD-A64C-7155-367F-38EBADF9EBCD}"/>
              </a:ext>
            </a:extLst>
          </p:cNvPr>
          <p:cNvSpPr>
            <a:spLocks noGrp="1"/>
          </p:cNvSpPr>
          <p:nvPr>
            <p:ph type="title"/>
          </p:nvPr>
        </p:nvSpPr>
        <p:spPr/>
        <p:txBody>
          <a:bodyPr/>
          <a:lstStyle/>
          <a:p>
            <a:r>
              <a:rPr lang="en-US" dirty="0"/>
              <a:t>2.5 Tailored Instance Methods</a:t>
            </a:r>
          </a:p>
        </p:txBody>
      </p:sp>
      <p:sp>
        <p:nvSpPr>
          <p:cNvPr id="3" name="Content Placeholder 2">
            <a:extLst>
              <a:ext uri="{FF2B5EF4-FFF2-40B4-BE49-F238E27FC236}">
                <a16:creationId xmlns:a16="http://schemas.microsoft.com/office/drawing/2014/main" id="{D775E03B-7742-F9AC-0B09-918A09424E8C}"/>
              </a:ext>
            </a:extLst>
          </p:cNvPr>
          <p:cNvSpPr>
            <a:spLocks noGrp="1"/>
          </p:cNvSpPr>
          <p:nvPr>
            <p:ph idx="1"/>
          </p:nvPr>
        </p:nvSpPr>
        <p:spPr>
          <a:xfrm>
            <a:off x="838199" y="1825626"/>
            <a:ext cx="10441577" cy="4006940"/>
          </a:xfrm>
        </p:spPr>
        <p:txBody>
          <a:bodyPr>
            <a:normAutofit/>
          </a:bodyPr>
          <a:lstStyle/>
          <a:p>
            <a:r>
              <a:rPr lang="en-US" dirty="0"/>
              <a:t>.equals(Object o)</a:t>
            </a:r>
          </a:p>
          <a:p>
            <a:pPr lvl="1">
              <a:buFont typeface="Courier New" panose="02070309020205020404" pitchFamily="49" charset="0"/>
              <a:buChar char="o"/>
            </a:pPr>
            <a:r>
              <a:rPr lang="en-US" dirty="0"/>
              <a:t>Object superclass implements .equals() by checking only for referential equality </a:t>
            </a:r>
          </a:p>
          <a:p>
            <a:pPr lvl="1">
              <a:buFont typeface="Courier New" panose="02070309020205020404" pitchFamily="49" charset="0"/>
              <a:buChar char="o"/>
            </a:pPr>
            <a:r>
              <a:rPr lang="en-US" dirty="0"/>
              <a:t>the equals() method tests for structural equality. Structural equality asks whether two entities have the same values </a:t>
            </a:r>
          </a:p>
          <a:p>
            <a:pPr lvl="1">
              <a:buFont typeface="Courier New" panose="02070309020205020404" pitchFamily="49" charset="0"/>
              <a:buChar char="o"/>
            </a:pPr>
            <a:endParaRPr lang="en-US" dirty="0"/>
          </a:p>
          <a:p>
            <a:endParaRPr lang="en-US" dirty="0"/>
          </a:p>
          <a:p>
            <a:endParaRPr lang="en-US" dirty="0"/>
          </a:p>
          <a:p>
            <a:endParaRPr lang="en-US" dirty="0"/>
          </a:p>
          <a:p>
            <a:pPr lvl="1"/>
            <a:endParaRPr lang="en-US" dirty="0"/>
          </a:p>
        </p:txBody>
      </p:sp>
      <p:pic>
        <p:nvPicPr>
          <p:cNvPr id="4" name="Picture 3">
            <a:extLst>
              <a:ext uri="{FF2B5EF4-FFF2-40B4-BE49-F238E27FC236}">
                <a16:creationId xmlns:a16="http://schemas.microsoft.com/office/drawing/2014/main" id="{22407AFA-78A8-6006-340E-95CA5791DD4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Tree>
    <p:extLst>
      <p:ext uri="{BB962C8B-B14F-4D97-AF65-F5344CB8AC3E}">
        <p14:creationId xmlns:p14="http://schemas.microsoft.com/office/powerpoint/2010/main" val="40286968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832EE-4451-9731-78C9-DD72D21E83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EB66B7-B23A-BEC9-47F1-816F192B2F72}"/>
              </a:ext>
            </a:extLst>
          </p:cNvPr>
          <p:cNvSpPr>
            <a:spLocks noGrp="1"/>
          </p:cNvSpPr>
          <p:nvPr>
            <p:ph type="title"/>
          </p:nvPr>
        </p:nvSpPr>
        <p:spPr/>
        <p:txBody>
          <a:bodyPr/>
          <a:lstStyle/>
          <a:p>
            <a:r>
              <a:rPr lang="en-US" dirty="0"/>
              <a:t>2.5 Tailored Instance Methods</a:t>
            </a:r>
          </a:p>
        </p:txBody>
      </p:sp>
      <p:sp>
        <p:nvSpPr>
          <p:cNvPr id="3" name="Content Placeholder 2">
            <a:extLst>
              <a:ext uri="{FF2B5EF4-FFF2-40B4-BE49-F238E27FC236}">
                <a16:creationId xmlns:a16="http://schemas.microsoft.com/office/drawing/2014/main" id="{64F3AB9F-CE54-6AF6-B4DA-BD2B7D497260}"/>
              </a:ext>
            </a:extLst>
          </p:cNvPr>
          <p:cNvSpPr>
            <a:spLocks noGrp="1"/>
          </p:cNvSpPr>
          <p:nvPr>
            <p:ph idx="1"/>
          </p:nvPr>
        </p:nvSpPr>
        <p:spPr>
          <a:xfrm>
            <a:off x="838199" y="1825626"/>
            <a:ext cx="10441577" cy="566977"/>
          </a:xfrm>
        </p:spPr>
        <p:txBody>
          <a:bodyPr>
            <a:normAutofit/>
          </a:bodyPr>
          <a:lstStyle/>
          <a:p>
            <a:r>
              <a:rPr lang="en-US" dirty="0"/>
              <a:t>.equals(Object o)</a:t>
            </a:r>
          </a:p>
          <a:p>
            <a:pPr lvl="1">
              <a:buFont typeface="Courier New" panose="02070309020205020404" pitchFamily="49" charset="0"/>
              <a:buChar char="o"/>
            </a:pPr>
            <a:endParaRPr lang="en-US" dirty="0"/>
          </a:p>
          <a:p>
            <a:endParaRPr lang="en-US" dirty="0"/>
          </a:p>
          <a:p>
            <a:endParaRPr lang="en-US" dirty="0"/>
          </a:p>
          <a:p>
            <a:endParaRPr lang="en-US" dirty="0"/>
          </a:p>
          <a:p>
            <a:pPr lvl="1"/>
            <a:endParaRPr lang="en-US" dirty="0"/>
          </a:p>
        </p:txBody>
      </p:sp>
      <p:pic>
        <p:nvPicPr>
          <p:cNvPr id="4" name="Picture 3">
            <a:extLst>
              <a:ext uri="{FF2B5EF4-FFF2-40B4-BE49-F238E27FC236}">
                <a16:creationId xmlns:a16="http://schemas.microsoft.com/office/drawing/2014/main" id="{1F1D8236-344C-CDCC-7644-234379B5B59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4473" y="6028411"/>
            <a:ext cx="10583054" cy="566977"/>
          </a:xfrm>
          <a:prstGeom prst="rect">
            <a:avLst/>
          </a:prstGeom>
        </p:spPr>
      </p:pic>
      <p:sp>
        <p:nvSpPr>
          <p:cNvPr id="6" name="TextBox 5">
            <a:extLst>
              <a:ext uri="{FF2B5EF4-FFF2-40B4-BE49-F238E27FC236}">
                <a16:creationId xmlns:a16="http://schemas.microsoft.com/office/drawing/2014/main" id="{8D0C4E23-D70D-1573-41BE-AA3157E9073D}"/>
              </a:ext>
            </a:extLst>
          </p:cNvPr>
          <p:cNvSpPr txBox="1"/>
          <p:nvPr/>
        </p:nvSpPr>
        <p:spPr>
          <a:xfrm>
            <a:off x="4452801" y="1735891"/>
            <a:ext cx="6097088" cy="4247317"/>
          </a:xfrm>
          <a:prstGeom prst="rect">
            <a:avLst/>
          </a:prstGeom>
          <a:noFill/>
          <a:ln>
            <a:solidFill>
              <a:schemeClr val="accent1"/>
            </a:solidFill>
          </a:ln>
        </p:spPr>
        <p:txBody>
          <a:bodyPr wrap="square">
            <a:spAutoFit/>
          </a:bodyPr>
          <a:lstStyle/>
          <a:p>
            <a:r>
              <a:rPr lang="en-US" dirty="0"/>
              <a:t>@Override</a:t>
            </a:r>
          </a:p>
          <a:p>
            <a:r>
              <a:rPr lang="en-US" dirty="0"/>
              <a:t>public </a:t>
            </a:r>
            <a:r>
              <a:rPr lang="en-US" dirty="0" err="1"/>
              <a:t>boolean</a:t>
            </a:r>
            <a:r>
              <a:rPr lang="en-US" dirty="0"/>
              <a:t> equals(Object o) {</a:t>
            </a:r>
          </a:p>
          <a:p>
            <a:r>
              <a:rPr lang="en-US" dirty="0"/>
              <a:t>    if (o == null) {</a:t>
            </a:r>
          </a:p>
          <a:p>
            <a:r>
              <a:rPr lang="en-US" dirty="0"/>
              <a:t>        return false;</a:t>
            </a:r>
          </a:p>
          <a:p>
            <a:r>
              <a:rPr lang="en-US" dirty="0"/>
              <a:t>    }</a:t>
            </a:r>
          </a:p>
          <a:p>
            <a:r>
              <a:rPr lang="en-US" dirty="0"/>
              <a:t>    if (o </a:t>
            </a:r>
            <a:r>
              <a:rPr lang="en-US" dirty="0" err="1"/>
              <a:t>instanceof</a:t>
            </a:r>
            <a:r>
              <a:rPr lang="en-US" dirty="0"/>
              <a:t> Person) {</a:t>
            </a:r>
          </a:p>
          <a:p>
            <a:r>
              <a:rPr lang="en-US" dirty="0"/>
              <a:t>        Person other = (Person) o;</a:t>
            </a:r>
          </a:p>
          <a:p>
            <a:r>
              <a:rPr lang="en-US" dirty="0"/>
              <a:t>        return (</a:t>
            </a:r>
            <a:r>
              <a:rPr lang="en-US" dirty="0" err="1"/>
              <a:t>this.mName.equals</a:t>
            </a:r>
            <a:r>
              <a:rPr lang="en-US" dirty="0"/>
              <a:t>(</a:t>
            </a:r>
            <a:r>
              <a:rPr lang="en-US" dirty="0" err="1"/>
              <a:t>other.getName</a:t>
            </a:r>
            <a:r>
              <a:rPr lang="en-US" dirty="0"/>
              <a:t>()) &amp;&amp; </a:t>
            </a:r>
          </a:p>
          <a:p>
            <a:r>
              <a:rPr lang="en-US" dirty="0"/>
              <a:t>                </a:t>
            </a:r>
            <a:r>
              <a:rPr lang="en-US" dirty="0" err="1"/>
              <a:t>this.mAge</a:t>
            </a:r>
            <a:r>
              <a:rPr lang="en-US" dirty="0"/>
              <a:t> == </a:t>
            </a:r>
            <a:r>
              <a:rPr lang="en-US" dirty="0" err="1"/>
              <a:t>other.getAge</a:t>
            </a:r>
            <a:r>
              <a:rPr lang="en-US" dirty="0"/>
              <a:t>() &amp;&amp;</a:t>
            </a:r>
          </a:p>
          <a:p>
            <a:r>
              <a:rPr lang="en-US" dirty="0"/>
              <a:t>                </a:t>
            </a:r>
            <a:r>
              <a:rPr lang="en-US" dirty="0" err="1"/>
              <a:t>this.mWeight</a:t>
            </a:r>
            <a:r>
              <a:rPr lang="en-US" dirty="0"/>
              <a:t> == </a:t>
            </a:r>
            <a:r>
              <a:rPr lang="en-US" dirty="0" err="1"/>
              <a:t>other.getWeight</a:t>
            </a:r>
            <a:r>
              <a:rPr lang="en-US" dirty="0"/>
              <a:t>() &amp;&amp; </a:t>
            </a:r>
          </a:p>
          <a:p>
            <a:r>
              <a:rPr lang="en-US" dirty="0"/>
              <a:t>                </a:t>
            </a:r>
            <a:r>
              <a:rPr lang="en-US" dirty="0" err="1"/>
              <a:t>this.m_height</a:t>
            </a:r>
            <a:r>
              <a:rPr lang="en-US" dirty="0"/>
              <a:t> == </a:t>
            </a:r>
            <a:r>
              <a:rPr lang="en-US" dirty="0" err="1"/>
              <a:t>other.getHeight</a:t>
            </a:r>
            <a:r>
              <a:rPr lang="en-US" dirty="0"/>
              <a:t>());</a:t>
            </a:r>
          </a:p>
          <a:p>
            <a:r>
              <a:rPr lang="en-US" dirty="0"/>
              <a:t>}</a:t>
            </a:r>
          </a:p>
          <a:p>
            <a:r>
              <a:rPr lang="en-US" dirty="0"/>
              <a:t>return false;</a:t>
            </a:r>
          </a:p>
          <a:p>
            <a:r>
              <a:rPr lang="en-US" dirty="0"/>
              <a:t>}</a:t>
            </a:r>
          </a:p>
          <a:p>
            <a:endParaRPr lang="en-US" dirty="0"/>
          </a:p>
        </p:txBody>
      </p:sp>
    </p:spTree>
    <p:extLst>
      <p:ext uri="{BB962C8B-B14F-4D97-AF65-F5344CB8AC3E}">
        <p14:creationId xmlns:p14="http://schemas.microsoft.com/office/powerpoint/2010/main" val="1002422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2651</TotalTime>
  <Words>1710</Words>
  <Application>Microsoft Office PowerPoint</Application>
  <PresentationFormat>Widescreen</PresentationFormat>
  <Paragraphs>242</Paragraphs>
  <Slides>31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Aptos</vt:lpstr>
      <vt:lpstr>Aptos Display</vt:lpstr>
      <vt:lpstr>Arial</vt:lpstr>
      <vt:lpstr>Cambria Math</vt:lpstr>
      <vt:lpstr>Consolas</vt:lpstr>
      <vt:lpstr>Courier New</vt:lpstr>
      <vt:lpstr>Times New Roman</vt:lpstr>
      <vt:lpstr>Wingdings</vt:lpstr>
      <vt:lpstr>Office Theme</vt:lpstr>
      <vt:lpstr>PowerPoint Presentation</vt:lpstr>
      <vt:lpstr>Java OOP and Data Structures with Introduction to Secure Coding Dr. Ziping Liu  </vt:lpstr>
      <vt:lpstr>https://he.kendallhunt.com/product/java-oop-and-data-structures-introduction-secure-coding  </vt:lpstr>
      <vt:lpstr>Chapter Outlines</vt:lpstr>
      <vt:lpstr>2.1 What is a class?</vt:lpstr>
      <vt:lpstr>2.1 What is a class?</vt:lpstr>
      <vt:lpstr>2.1 What is a class?</vt:lpstr>
      <vt:lpstr>2.1 What is a class?</vt:lpstr>
      <vt:lpstr>2.1 What is a class?</vt:lpstr>
      <vt:lpstr>2.2 Constructors</vt:lpstr>
      <vt:lpstr>2.2 Constructors</vt:lpstr>
      <vt:lpstr>2.2 Constructors</vt:lpstr>
      <vt:lpstr>2.2 Constructors</vt:lpstr>
      <vt:lpstr>2.3 Providing accessor and mutator methods</vt:lpstr>
      <vt:lpstr>2.3 Providing accessor and mutator methods</vt:lpstr>
      <vt:lpstr>2.3 Providing accessor and mutator methods</vt:lpstr>
      <vt:lpstr>2.3 Providing accessor and mutator methods</vt:lpstr>
      <vt:lpstr>2.3 Providing accessor and mutator methods</vt:lpstr>
      <vt:lpstr>2.3 Providing accessor and mutator methods</vt:lpstr>
      <vt:lpstr>2.3 Providing accessor and mutator methods</vt:lpstr>
      <vt:lpstr>2.3 Providing accessor and mutator methods</vt:lpstr>
      <vt:lpstr>2.3 Providing accessor and mutator methods</vt:lpstr>
      <vt:lpstr>2.4 this—an Object Itself</vt:lpstr>
      <vt:lpstr>2.4 this—an Object Itself</vt:lpstr>
      <vt:lpstr>2.4 this—an Object Itself</vt:lpstr>
      <vt:lpstr>2.4 this—an Object Itself</vt:lpstr>
      <vt:lpstr>2.5 Tailored Instance Methods</vt:lpstr>
      <vt:lpstr>2.5 Tailored Instance Methods</vt:lpstr>
      <vt:lpstr>2.5 Tailored Instance Methods</vt:lpstr>
      <vt:lpstr>2.5 Tailored Instance Methods</vt:lpstr>
      <vt:lpstr>2.5 Tailored Instance Methods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Liu, Ziping</dc:creator>
  <cp:lastModifiedBy>Liu, Ziping</cp:lastModifiedBy>
  <cp:revision>183</cp:revision>
  <dcterms:created xsi:type="dcterms:W3CDTF">2025-01-08T14:48:28Z</dcterms:created>
  <dcterms:modified xsi:type="dcterms:W3CDTF">2026-09-06T19:58:55Z</dcterms:modified>
</cp:coreProperties>
</file>